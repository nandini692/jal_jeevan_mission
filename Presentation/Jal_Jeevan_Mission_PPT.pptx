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7E"/>
    <a:srgbClr val="125B7C"/>
    <a:srgbClr val="0069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70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22031353270218113"/>
          <c:y val="0"/>
          <c:w val="0.64365609076350572"/>
          <c:h val="0.86862745098039218"/>
        </c:manualLayout>
      </c:layout>
      <c:doughnutChart>
        <c:varyColors val="1"/>
        <c:ser>
          <c:idx val="0"/>
          <c:order val="0"/>
          <c:tx>
            <c:strRef>
              <c:f>Sheet1!$B$1</c:f>
              <c:strCache>
                <c:ptCount val="1"/>
                <c:pt idx="0">
                  <c:v>Source</c:v>
                </c:pt>
              </c:strCache>
            </c:strRef>
          </c:tx>
          <c:spPr>
            <a:solidFill>
              <a:schemeClr val="accent1"/>
            </a:solidFill>
            <a:ln w="9525" cap="flat">
              <a:solidFill>
                <a:srgbClr val="F9F9F9"/>
              </a:solidFill>
              <a:prstDash val="solid"/>
              <a:round/>
            </a:ln>
            <a:effectLst/>
          </c:spPr>
          <c:dPt>
            <c:idx val="0"/>
            <c:bubble3D val="0"/>
            <c:spPr>
              <a:solidFill>
                <a:srgbClr val="0B5E8C"/>
              </a:solidFill>
              <a:effectLst/>
            </c:spPr>
            <c:extLst>
              <c:ext xmlns:c16="http://schemas.microsoft.com/office/drawing/2014/chart" uri="{C3380CC4-5D6E-409C-BE32-E72D297353CC}">
                <c16:uniqueId val="{00000001-DA77-484A-95F8-889C793A5762}"/>
              </c:ext>
            </c:extLst>
          </c:dPt>
          <c:dPt>
            <c:idx val="1"/>
            <c:bubble3D val="0"/>
            <c:spPr>
              <a:solidFill>
                <a:srgbClr val="E8763C"/>
              </a:solidFill>
              <a:effectLst/>
            </c:spPr>
            <c:extLst>
              <c:ext xmlns:c16="http://schemas.microsoft.com/office/drawing/2014/chart" uri="{C3380CC4-5D6E-409C-BE32-E72D297353CC}">
                <c16:uniqueId val="{00000003-DA77-484A-95F8-889C793A5762}"/>
              </c:ext>
            </c:extLst>
          </c:dPt>
          <c:dLbls>
            <c:dLbl>
              <c:idx val="0"/>
              <c:numFmt formatCode="#,##0" sourceLinked="0"/>
              <c:spPr/>
              <c:txPr>
                <a:bodyPr/>
                <a:lstStyle/>
                <a:p>
                  <a:pPr>
                    <a:defRPr sz="13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A77-484A-95F8-889C793A5762}"/>
                </c:ext>
              </c:extLst>
            </c:dLbl>
            <c:dLbl>
              <c:idx val="1"/>
              <c:numFmt formatCode="#,##0" sourceLinked="0"/>
              <c:spPr/>
              <c:txPr>
                <a:bodyPr/>
                <a:lstStyle/>
                <a:p>
                  <a:pPr>
                    <a:defRPr sz="13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A77-484A-95F8-889C793A5762}"/>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Groundwater</c:v>
                </c:pt>
                <c:pt idx="1">
                  <c:v>Surface Water</c:v>
                </c:pt>
              </c:strCache>
            </c:strRef>
          </c:cat>
          <c:val>
            <c:numRef>
              <c:f>Sheet1!$B$2:$B$3</c:f>
              <c:numCache>
                <c:formatCode>General</c:formatCode>
                <c:ptCount val="2"/>
                <c:pt idx="0">
                  <c:v>97</c:v>
                </c:pt>
                <c:pt idx="1">
                  <c:v>98</c:v>
                </c:pt>
              </c:numCache>
            </c:numRef>
          </c:val>
          <c:extLst>
            <c:ext xmlns:c16="http://schemas.microsoft.com/office/drawing/2014/chart" uri="{C3380CC4-5D6E-409C-BE32-E72D297353CC}">
              <c16:uniqueId val="{00000004-DA77-484A-95F8-889C793A5762}"/>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legendEntry>
        <c:idx val="0"/>
        <c:txPr>
          <a:bodyPr/>
          <a:lstStyle/>
          <a:p>
            <a:pPr>
              <a:defRPr sz="1100" b="1">
                <a:solidFill>
                  <a:srgbClr val="1B2A4A"/>
                </a:solidFill>
              </a:defRPr>
            </a:pPr>
            <a:endParaRPr lang="en-US"/>
          </a:p>
        </c:txPr>
      </c:legendEntry>
      <c:legendEntry>
        <c:idx val="1"/>
        <c:txPr>
          <a:bodyPr/>
          <a:lstStyle/>
          <a:p>
            <a:pPr>
              <a:defRPr sz="1200" b="1">
                <a:solidFill>
                  <a:srgbClr val="1B2A4A"/>
                </a:solidFill>
              </a:defRPr>
            </a:pPr>
            <a:endParaRPr lang="en-US"/>
          </a:p>
        </c:txPr>
      </c:legendEntry>
      <c:layout>
        <c:manualLayout>
          <c:xMode val="edge"/>
          <c:yMode val="edge"/>
          <c:x val="0.17766320820801379"/>
          <c:y val="0.90296042837577239"/>
          <c:w val="0.64467358358397242"/>
          <c:h val="4.2501994236014619E-2"/>
        </c:manualLayout>
      </c:layout>
      <c:overlay val="0"/>
      <c:txPr>
        <a:bodyPr/>
        <a:lstStyle/>
        <a:p>
          <a:pPr>
            <a:defRPr sz="1100">
              <a:solidFill>
                <a:srgbClr val="1B2A4A"/>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7640413322034104"/>
          <c:y val="4.0204678362573097E-2"/>
          <c:w val="0.82359586677965901"/>
          <c:h val="0.91959064327485385"/>
        </c:manualLayout>
      </c:layout>
      <c:barChart>
        <c:barDir val="bar"/>
        <c:grouping val="clustered"/>
        <c:varyColors val="0"/>
        <c:ser>
          <c:idx val="0"/>
          <c:order val="0"/>
          <c:tx>
            <c:strRef>
              <c:f>Sheet1!$B$1</c:f>
              <c:strCache>
                <c:ptCount val="1"/>
                <c:pt idx="0">
                  <c:v>FHTC Provided</c:v>
                </c:pt>
              </c:strCache>
            </c:strRef>
          </c:tx>
          <c:spPr>
            <a:solidFill>
              <a:srgbClr val="0B5E8C"/>
            </a:solidFill>
            <a:effectLst/>
          </c:spPr>
          <c:invertIfNegative val="0"/>
          <c:dLbls>
            <c:numFmt formatCode="#,##0" sourceLinked="0"/>
            <c:spPr>
              <a:noFill/>
              <a:ln>
                <a:noFill/>
              </a:ln>
              <a:effectLst/>
            </c:spPr>
            <c:txPr>
              <a:bodyPr/>
              <a:lstStyle/>
              <a:p>
                <a:pPr>
                  <a:defRPr sz="1100" b="1"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Jabalpur</c:v>
                </c:pt>
                <c:pt idx="1">
                  <c:v>Indore</c:v>
                </c:pt>
                <c:pt idx="2">
                  <c:v>Gwalior</c:v>
                </c:pt>
                <c:pt idx="3">
                  <c:v>Ujjain</c:v>
                </c:pt>
                <c:pt idx="4">
                  <c:v>Bhopal</c:v>
                </c:pt>
                <c:pt idx="5">
                  <c:v>Chhindwara</c:v>
                </c:pt>
              </c:strCache>
            </c:strRef>
          </c:cat>
          <c:val>
            <c:numRef>
              <c:f>Sheet1!$B$2:$B$7</c:f>
              <c:numCache>
                <c:formatCode>General</c:formatCode>
                <c:ptCount val="6"/>
                <c:pt idx="0">
                  <c:v>908000</c:v>
                </c:pt>
                <c:pt idx="1">
                  <c:v>750000</c:v>
                </c:pt>
                <c:pt idx="2">
                  <c:v>748500</c:v>
                </c:pt>
                <c:pt idx="3">
                  <c:v>681500</c:v>
                </c:pt>
                <c:pt idx="4">
                  <c:v>679000</c:v>
                </c:pt>
                <c:pt idx="5">
                  <c:v>646000</c:v>
                </c:pt>
              </c:numCache>
            </c:numRef>
          </c:val>
          <c:extLst>
            <c:ext xmlns:c16="http://schemas.microsoft.com/office/drawing/2014/chart" uri="{C3380CC4-5D6E-409C-BE32-E72D297353CC}">
              <c16:uniqueId val="{00000000-8785-42B2-AC2E-91310DFA6A06}"/>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1" i="0" u="none" strike="noStrike">
                <a:solidFill>
                  <a:srgbClr val="1B2A4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crossAx val="2094734554"/>
        <c:crosses val="autoZero"/>
        <c:crossBetween val="between"/>
      </c:valAx>
      <c:spPr>
        <a:solidFill>
          <a:srgbClr val="F7FAFC"/>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FHTC Provided</c:v>
                </c:pt>
              </c:strCache>
            </c:strRef>
          </c:tx>
          <c:spPr>
            <a:ln w="38100" cap="flat">
              <a:solidFill>
                <a:srgbClr val="0B5E8C"/>
              </a:solidFill>
              <a:prstDash val="solid"/>
              <a:round/>
            </a:ln>
            <a:effectLst/>
          </c:spPr>
          <c:marker>
            <c:symbol val="circle"/>
            <c:size val="7"/>
            <c:spPr>
              <a:solidFill>
                <a:srgbClr val="0B5E8C"/>
              </a:solidFill>
              <a:ln w="9525" cap="flat">
                <a:solidFill>
                  <a:srgbClr val="0B5E8C"/>
                </a:solidFill>
                <a:prstDash val="solid"/>
                <a:round/>
              </a:ln>
              <a:effectLst/>
            </c:spPr>
          </c:marker>
          <c:dLbls>
            <c:numFmt formatCode="#,##0,&quot;K&quot;" sourceLinked="0"/>
            <c:spPr>
              <a:noFill/>
              <a:ln>
                <a:noFill/>
              </a:ln>
              <a:effectLst/>
            </c:spPr>
            <c:txPr>
              <a:bodyPr/>
              <a:lstStyle/>
              <a:p>
                <a:pPr>
                  <a:defRPr sz="950" b="0" i="0" u="none" strike="noStrike">
                    <a:solidFill>
                      <a:srgbClr val="1B2A4A"/>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2020</c:v>
                </c:pt>
                <c:pt idx="1">
                  <c:v>2021</c:v>
                </c:pt>
                <c:pt idx="2">
                  <c:v>2022</c:v>
                </c:pt>
                <c:pt idx="3">
                  <c:v>2023</c:v>
                </c:pt>
                <c:pt idx="4">
                  <c:v>2024</c:v>
                </c:pt>
                <c:pt idx="5">
                  <c:v>2025</c:v>
                </c:pt>
                <c:pt idx="6">
                  <c:v>2026</c:v>
                </c:pt>
              </c:strCache>
            </c:strRef>
          </c:cat>
          <c:val>
            <c:numRef>
              <c:f>Sheet1!$B$2:$B$8</c:f>
              <c:numCache>
                <c:formatCode>General</c:formatCode>
                <c:ptCount val="7"/>
                <c:pt idx="0">
                  <c:v>146000</c:v>
                </c:pt>
                <c:pt idx="1">
                  <c:v>630000</c:v>
                </c:pt>
                <c:pt idx="2">
                  <c:v>1074000</c:v>
                </c:pt>
                <c:pt idx="3">
                  <c:v>1599000</c:v>
                </c:pt>
                <c:pt idx="4">
                  <c:v>1286000</c:v>
                </c:pt>
                <c:pt idx="5">
                  <c:v>2183000</c:v>
                </c:pt>
                <c:pt idx="6">
                  <c:v>1025000</c:v>
                </c:pt>
              </c:numCache>
            </c:numRef>
          </c:val>
          <c:smooth val="0"/>
          <c:extLst>
            <c:ext xmlns:c16="http://schemas.microsoft.com/office/drawing/2014/chart" uri="{C3380CC4-5D6E-409C-BE32-E72D297353CC}">
              <c16:uniqueId val="{00000000-7566-4849-BAA3-ED53697B0003}"/>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1" i="0" u="none" strike="noStrike">
                <a:solidFill>
                  <a:srgbClr val="1B2A4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solidFill>
          <a:srgbClr val="F7FAFC"/>
        </a:solid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Coverage %</c:v>
                </c:pt>
              </c:strCache>
            </c:strRef>
          </c:tx>
          <c:spPr>
            <a:solidFill>
              <a:srgbClr val="0B5E8C"/>
            </a:solidFill>
            <a:effectLst/>
          </c:spPr>
          <c:invertIfNegative val="0"/>
          <c:dLbls>
            <c:numFmt formatCode="0.0&quot;%&quot;"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Indore</c:v>
                </c:pt>
                <c:pt idx="1">
                  <c:v>Jabalpur</c:v>
                </c:pt>
                <c:pt idx="2">
                  <c:v>Bhopal</c:v>
                </c:pt>
                <c:pt idx="3">
                  <c:v>Gwalior</c:v>
                </c:pt>
                <c:pt idx="4">
                  <c:v>Ujjain</c:v>
                </c:pt>
                <c:pt idx="5">
                  <c:v>Chhindwara</c:v>
                </c:pt>
              </c:strCache>
            </c:strRef>
          </c:cat>
          <c:val>
            <c:numRef>
              <c:f>Sheet1!$B$2:$B$7</c:f>
              <c:numCache>
                <c:formatCode>General</c:formatCode>
                <c:ptCount val="6"/>
                <c:pt idx="0">
                  <c:v>68.099999999999994</c:v>
                </c:pt>
                <c:pt idx="1">
                  <c:v>65.7</c:v>
                </c:pt>
                <c:pt idx="2">
                  <c:v>65.099999999999994</c:v>
                </c:pt>
                <c:pt idx="3">
                  <c:v>63.2</c:v>
                </c:pt>
                <c:pt idx="4">
                  <c:v>61.7</c:v>
                </c:pt>
                <c:pt idx="5">
                  <c:v>60.7</c:v>
                </c:pt>
              </c:numCache>
            </c:numRef>
          </c:val>
          <c:extLst>
            <c:ext xmlns:c16="http://schemas.microsoft.com/office/drawing/2014/chart" uri="{C3380CC4-5D6E-409C-BE32-E72D297353CC}">
              <c16:uniqueId val="{00000000-DA88-4193-BE17-0B323DFFEF75}"/>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crossAx val="2094734552"/>
        <c:crosses val="autoZero"/>
        <c:auto val="1"/>
        <c:lblAlgn val="ctr"/>
        <c:lblOffset val="100"/>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crossAx val="2094734554"/>
        <c:crosses val="autoZero"/>
        <c:crossBetween val="between"/>
      </c:valAx>
      <c:spPr>
        <a:solidFill>
          <a:srgbClr val="F7FAFC"/>
        </a:solidFill>
        <a:ln>
          <a:noFill/>
        </a:ln>
        <a:effectLst/>
      </c:spPr>
    </c:plotArea>
    <c:plotVisOnly val="1"/>
    <c:dispBlanksAs val="span"/>
    <c:showDLblsOverMax val="1"/>
  </c:chart>
  <c:spPr>
    <a:noFill/>
    <a:ln>
      <a:noFill/>
    </a:ln>
    <a:effectLst/>
  </c:spPr>
  <c:txPr>
    <a:bodyPr/>
    <a:lstStyle/>
    <a:p>
      <a:pPr>
        <a:defRPr sz="1200" b="1">
          <a:solidFill>
            <a:schemeClr val="bg1"/>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Coverage %</c:v>
                </c:pt>
              </c:strCache>
            </c:strRef>
          </c:tx>
          <c:spPr>
            <a:solidFill>
              <a:srgbClr val="E8763C"/>
            </a:solidFill>
            <a:effectLst/>
          </c:spPr>
          <c:invertIfNegative val="0"/>
          <c:dLbls>
            <c:numFmt formatCode="0.0&quot;%&quot;"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Burhanpur</c:v>
                </c:pt>
                <c:pt idx="1">
                  <c:v>Alirajpur</c:v>
                </c:pt>
                <c:pt idx="2">
                  <c:v>Khargone</c:v>
                </c:pt>
                <c:pt idx="3">
                  <c:v>Damoh</c:v>
                </c:pt>
                <c:pt idx="4">
                  <c:v>Mandsaur</c:v>
                </c:pt>
              </c:strCache>
            </c:strRef>
          </c:cat>
          <c:val>
            <c:numRef>
              <c:f>Sheet1!$B$2:$B$6</c:f>
              <c:numCache>
                <c:formatCode>General</c:formatCode>
                <c:ptCount val="5"/>
                <c:pt idx="0">
                  <c:v>40</c:v>
                </c:pt>
                <c:pt idx="1">
                  <c:v>40.299999999999997</c:v>
                </c:pt>
                <c:pt idx="2">
                  <c:v>40.299999999999997</c:v>
                </c:pt>
                <c:pt idx="3">
                  <c:v>40.5</c:v>
                </c:pt>
                <c:pt idx="4">
                  <c:v>40.5</c:v>
                </c:pt>
              </c:numCache>
            </c:numRef>
          </c:val>
          <c:extLst>
            <c:ext xmlns:c16="http://schemas.microsoft.com/office/drawing/2014/chart" uri="{C3380CC4-5D6E-409C-BE32-E72D297353CC}">
              <c16:uniqueId val="{00000000-8B5A-4039-BF03-9932CA90518C}"/>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crossAx val="2094734552"/>
        <c:crosses val="autoZero"/>
        <c:auto val="1"/>
        <c:lblAlgn val="ctr"/>
        <c:lblOffset val="100"/>
        <c:noMultiLvlLbl val="1"/>
      </c:catAx>
      <c:valAx>
        <c:axId val="2094734552"/>
        <c:scaling>
          <c:orientation val="minMax"/>
          <c:max val="80"/>
        </c:scaling>
        <c:delete val="1"/>
        <c:axPos val="b"/>
        <c:majorGridlines>
          <c:spPr>
            <a:ln w="12700" cap="flat">
              <a:solidFill>
                <a:srgbClr val="888888"/>
              </a:solidFill>
              <a:prstDash val="solid"/>
              <a:round/>
            </a:ln>
          </c:spPr>
        </c:majorGridlines>
        <c:numFmt formatCode="General" sourceLinked="0"/>
        <c:majorTickMark val="out"/>
        <c:minorTickMark val="none"/>
        <c:tickLblPos val="low"/>
        <c:crossAx val="2094734554"/>
        <c:crosses val="autoZero"/>
        <c:crossBetween val="between"/>
      </c:valAx>
      <c:spPr>
        <a:solidFill>
          <a:srgbClr val="F7FAFC"/>
        </a:solidFill>
        <a:ln>
          <a:noFill/>
        </a:ln>
        <a:effectLst/>
      </c:spPr>
    </c:plotArea>
    <c:plotVisOnly val="1"/>
    <c:dispBlanksAs val="span"/>
    <c:showDLblsOverMax val="1"/>
  </c:chart>
  <c:spPr>
    <a:noFill/>
    <a:ln>
      <a:noFill/>
    </a:ln>
    <a:effectLst/>
  </c:spPr>
  <c:txPr>
    <a:bodyPr/>
    <a:lstStyle/>
    <a:p>
      <a:pPr>
        <a:defRPr sz="1200" b="1">
          <a:solidFill>
            <a:schemeClr val="bg1"/>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1946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375771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5559309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947372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481875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76998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879338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2530644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489180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6291218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8787391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3761545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62546124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940193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0237107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5140133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2599966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64236493"/>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809343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5D7E">
            <a:alpha val="84000"/>
          </a:srgbClr>
        </a:solidFill>
        <a:effectLst/>
      </p:bgPr>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smtClean="0"/>
              <a:pPr/>
              <a:t>8/19/2026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47644773"/>
      </p:ext>
    </p:extLst>
  </p:cSld>
  <p:clrMap bg1="dk1" tx1="lt1" bg2="dk2" tx2="lt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 id="2147483865" r:id="rId6"/>
    <p:sldLayoutId id="2147483866" r:id="rId7"/>
    <p:sldLayoutId id="2147483867" r:id="rId8"/>
    <p:sldLayoutId id="2147483868" r:id="rId9"/>
    <p:sldLayoutId id="2147483869" r:id="rId10"/>
    <p:sldLayoutId id="2147483870" r:id="rId11"/>
    <p:sldLayoutId id="2147483871" r:id="rId12"/>
    <p:sldLayoutId id="2147483872" r:id="rId13"/>
    <p:sldLayoutId id="2147483873" r:id="rId14"/>
    <p:sldLayoutId id="2147483874" r:id="rId15"/>
    <p:sldLayoutId id="2147483875" r:id="rId16"/>
    <p:sldLayoutId id="2147483876" r:id="rId17"/>
    <p:sldLayoutId id="2147483877" r:id="rId18"/>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8.xml"/><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6.png"/><Relationship Id="rId4" Type="http://schemas.openxmlformats.org/officeDocument/2006/relationships/image" Target="../media/image7.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28.png"/><Relationship Id="rId11" Type="http://schemas.openxmlformats.org/officeDocument/2006/relationships/image" Target="../media/image9.png"/><Relationship Id="rId5" Type="http://schemas.openxmlformats.org/officeDocument/2006/relationships/image" Target="../media/image27.png"/><Relationship Id="rId10" Type="http://schemas.openxmlformats.org/officeDocument/2006/relationships/image" Target="../media/image6.png"/><Relationship Id="rId4" Type="http://schemas.openxmlformats.org/officeDocument/2006/relationships/image" Target="../media/image26.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chart" Target="../charts/chart5.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png"/><Relationship Id="rId7"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8.xml"/><Relationship Id="rId6" Type="http://schemas.openxmlformats.org/officeDocument/2006/relationships/image" Target="../media/image9.png"/><Relationship Id="rId5" Type="http://schemas.openxmlformats.org/officeDocument/2006/relationships/image" Target="../media/image33.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8.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8.xml"/><Relationship Id="rId6" Type="http://schemas.openxmlformats.org/officeDocument/2006/relationships/image" Target="../media/image37.png"/><Relationship Id="rId5" Type="http://schemas.openxmlformats.org/officeDocument/2006/relationships/image" Target="../media/image9.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778240" y="-2011680"/>
            <a:ext cx="6400800" cy="6400799"/>
          </a:xfrm>
          <a:prstGeom prst="ellipse">
            <a:avLst/>
          </a:prstGeom>
          <a:solidFill>
            <a:srgbClr val="005D7E">
              <a:alpha val="30000"/>
            </a:srgbClr>
          </a:solidFill>
          <a:ln/>
        </p:spPr>
      </p:sp>
      <p:sp>
        <p:nvSpPr>
          <p:cNvPr id="3" name="Shape 1"/>
          <p:cNvSpPr/>
          <p:nvPr/>
        </p:nvSpPr>
        <p:spPr>
          <a:xfrm>
            <a:off x="10241280" y="3291840"/>
            <a:ext cx="3840480" cy="3840480"/>
          </a:xfrm>
          <a:prstGeom prst="ellipse">
            <a:avLst/>
          </a:prstGeom>
          <a:solidFill>
            <a:srgbClr val="1C7293">
              <a:alpha val="32000"/>
            </a:srgbClr>
          </a:solidFill>
          <a:ln/>
        </p:spPr>
      </p:sp>
      <p:sp>
        <p:nvSpPr>
          <p:cNvPr id="4" name="Shape 2"/>
          <p:cNvSpPr/>
          <p:nvPr/>
        </p:nvSpPr>
        <p:spPr>
          <a:xfrm>
            <a:off x="-2194560" y="4206240"/>
            <a:ext cx="5029200" cy="5029200"/>
          </a:xfrm>
          <a:prstGeom prst="ellipse">
            <a:avLst/>
          </a:prstGeom>
          <a:solidFill>
            <a:srgbClr val="0B5E8C">
              <a:alpha val="22000"/>
            </a:srgbClr>
          </a:solidFill>
          <a:ln/>
        </p:spPr>
      </p:sp>
      <p:sp>
        <p:nvSpPr>
          <p:cNvPr id="5" name="Shape 3"/>
          <p:cNvSpPr/>
          <p:nvPr/>
        </p:nvSpPr>
        <p:spPr>
          <a:xfrm>
            <a:off x="443484" y="658368"/>
            <a:ext cx="809244" cy="832164"/>
          </a:xfrm>
          <a:prstGeom prst="ellipse">
            <a:avLst/>
          </a:prstGeom>
          <a:solidFill>
            <a:srgbClr val="24365C"/>
          </a:solidFill>
          <a:ln/>
        </p:spPr>
      </p:sp>
      <p:pic>
        <p:nvPicPr>
          <p:cNvPr id="6" name="Image 0" descr="icons/droplet_FFFFFF.png"/>
          <p:cNvPicPr>
            <a:picLocks noChangeAspect="1"/>
          </p:cNvPicPr>
          <p:nvPr/>
        </p:nvPicPr>
        <p:blipFill>
          <a:blip r:embed="rId3"/>
          <a:stretch>
            <a:fillRect/>
          </a:stretch>
        </p:blipFill>
        <p:spPr>
          <a:xfrm>
            <a:off x="662059" y="902089"/>
            <a:ext cx="372093" cy="372093"/>
          </a:xfrm>
          <a:prstGeom prst="rect">
            <a:avLst/>
          </a:prstGeom>
        </p:spPr>
      </p:pic>
      <p:sp>
        <p:nvSpPr>
          <p:cNvPr id="7" name="Text 4"/>
          <p:cNvSpPr/>
          <p:nvPr/>
        </p:nvSpPr>
        <p:spPr>
          <a:xfrm>
            <a:off x="1371600" y="713232"/>
            <a:ext cx="7315200" cy="457200"/>
          </a:xfrm>
          <a:prstGeom prst="rect">
            <a:avLst/>
          </a:prstGeom>
          <a:noFill/>
          <a:ln/>
        </p:spPr>
        <p:txBody>
          <a:bodyPr wrap="square" rtlCol="0" anchor="ctr"/>
          <a:lstStyle/>
          <a:p>
            <a:pPr marL="0" indent="0">
              <a:buNone/>
            </a:pPr>
            <a:r>
              <a:rPr lang="en-US" sz="1600" b="1" kern="0" spc="200" dirty="0">
                <a:solidFill>
                  <a:srgbClr val="9FC6E0"/>
                </a:solidFill>
                <a:latin typeface="Calibri" pitchFamily="34" charset="0"/>
                <a:ea typeface="Calibri" pitchFamily="34" charset="-122"/>
                <a:cs typeface="Calibri" pitchFamily="34" charset="-120"/>
              </a:rPr>
              <a:t>JAL JEEVAN MISSION  ·  PUBLIC INFRASTRUCTURE ANALYTICS</a:t>
            </a:r>
            <a:endParaRPr lang="en-US" sz="1600" b="1" dirty="0"/>
          </a:p>
        </p:txBody>
      </p:sp>
      <p:sp>
        <p:nvSpPr>
          <p:cNvPr id="8" name="Text 5"/>
          <p:cNvSpPr/>
          <p:nvPr/>
        </p:nvSpPr>
        <p:spPr>
          <a:xfrm>
            <a:off x="633222" y="1911126"/>
            <a:ext cx="9875520" cy="960120"/>
          </a:xfrm>
          <a:prstGeom prst="rect">
            <a:avLst/>
          </a:prstGeom>
          <a:noFill/>
          <a:ln/>
        </p:spPr>
        <p:txBody>
          <a:bodyPr wrap="square" rtlCol="0" anchor="ctr"/>
          <a:lstStyle/>
          <a:p>
            <a:pPr marL="0" indent="0">
              <a:buNone/>
            </a:pPr>
            <a:r>
              <a:rPr lang="en-US" sz="5400" b="1" i="1" dirty="0">
                <a:solidFill>
                  <a:srgbClr val="FFFFFF"/>
                </a:solidFill>
                <a:latin typeface="Cambria" pitchFamily="34" charset="0"/>
                <a:ea typeface="Cambria" pitchFamily="34" charset="-122"/>
                <a:cs typeface="Cambria" pitchFamily="34" charset="-120"/>
              </a:rPr>
              <a:t>Jal Jeevan Mission</a:t>
            </a:r>
            <a:endParaRPr lang="en-US" sz="5400" b="1" i="1" dirty="0"/>
          </a:p>
        </p:txBody>
      </p:sp>
      <p:sp>
        <p:nvSpPr>
          <p:cNvPr id="9" name="Text 6"/>
          <p:cNvSpPr/>
          <p:nvPr/>
        </p:nvSpPr>
        <p:spPr>
          <a:xfrm>
            <a:off x="685800" y="2862072"/>
            <a:ext cx="9875520" cy="685800"/>
          </a:xfrm>
          <a:prstGeom prst="rect">
            <a:avLst/>
          </a:prstGeom>
          <a:noFill/>
          <a:ln/>
        </p:spPr>
        <p:txBody>
          <a:bodyPr wrap="square" rtlCol="0" anchor="ctr"/>
          <a:lstStyle/>
          <a:p>
            <a:pPr marL="0" indent="0">
              <a:buNone/>
            </a:pPr>
            <a:r>
              <a:rPr lang="en-US" sz="2800" b="1" dirty="0">
                <a:solidFill>
                  <a:srgbClr val="BFD9EC"/>
                </a:solidFill>
                <a:latin typeface="Cambria" pitchFamily="34" charset="0"/>
                <a:ea typeface="Cambria" pitchFamily="34" charset="-122"/>
                <a:cs typeface="Cambria" pitchFamily="34" charset="-120"/>
              </a:rPr>
              <a:t>FHTC Coverage &amp; Performance Analysis</a:t>
            </a:r>
            <a:endParaRPr lang="en-US" sz="2800" b="1" dirty="0"/>
          </a:p>
        </p:txBody>
      </p:sp>
      <p:sp>
        <p:nvSpPr>
          <p:cNvPr id="10" name="Shape 7"/>
          <p:cNvSpPr/>
          <p:nvPr/>
        </p:nvSpPr>
        <p:spPr>
          <a:xfrm>
            <a:off x="713232" y="3685032"/>
            <a:ext cx="2194560" cy="0"/>
          </a:xfrm>
          <a:prstGeom prst="line">
            <a:avLst/>
          </a:prstGeom>
          <a:noFill/>
          <a:ln w="31750">
            <a:solidFill>
              <a:srgbClr val="E8763C"/>
            </a:solidFill>
            <a:prstDash val="solid"/>
          </a:ln>
        </p:spPr>
      </p:sp>
      <p:sp>
        <p:nvSpPr>
          <p:cNvPr id="11" name="Text 8"/>
          <p:cNvSpPr/>
          <p:nvPr/>
        </p:nvSpPr>
        <p:spPr>
          <a:xfrm>
            <a:off x="685800" y="3858768"/>
            <a:ext cx="7772400" cy="411480"/>
          </a:xfrm>
          <a:prstGeom prst="rect">
            <a:avLst/>
          </a:prstGeom>
          <a:noFill/>
          <a:ln/>
        </p:spPr>
        <p:txBody>
          <a:bodyPr wrap="square" rtlCol="0" anchor="ctr"/>
          <a:lstStyle/>
          <a:p>
            <a:pPr marL="0" indent="0">
              <a:buNone/>
            </a:pPr>
            <a:r>
              <a:rPr lang="en-US" b="1" i="1" dirty="0">
                <a:solidFill>
                  <a:srgbClr val="D7E6F0"/>
                </a:solidFill>
                <a:latin typeface="Calibri" pitchFamily="34" charset="0"/>
                <a:ea typeface="Calibri" pitchFamily="34" charset="-122"/>
                <a:cs typeface="Calibri" pitchFamily="34" charset="-120"/>
              </a:rPr>
              <a:t>Interactive Data Analytics Dashboard using Microsoft Excel</a:t>
            </a:r>
            <a:endParaRPr lang="en-US" b="1" dirty="0"/>
          </a:p>
        </p:txBody>
      </p:sp>
      <p:sp>
        <p:nvSpPr>
          <p:cNvPr id="12" name="Shape 9"/>
          <p:cNvSpPr/>
          <p:nvPr/>
        </p:nvSpPr>
        <p:spPr>
          <a:xfrm>
            <a:off x="244549" y="4663439"/>
            <a:ext cx="3044875" cy="637209"/>
          </a:xfrm>
          <a:prstGeom prst="roundRect">
            <a:avLst>
              <a:gd name="adj" fmla="val 50000"/>
            </a:avLst>
          </a:prstGeom>
          <a:solidFill>
            <a:srgbClr val="24365C"/>
          </a:solidFill>
          <a:ln w="12700">
            <a:solidFill>
              <a:srgbClr val="33507F"/>
            </a:solidFill>
            <a:prstDash val="solid"/>
          </a:ln>
        </p:spPr>
        <p:txBody>
          <a:bodyPr/>
          <a:lstStyle/>
          <a:p>
            <a:endParaRPr lang="en-IN" dirty="0"/>
          </a:p>
        </p:txBody>
      </p:sp>
      <p:pic>
        <p:nvPicPr>
          <p:cNvPr id="13" name="Image 1" descr="icons/users_FFFFFF.png"/>
          <p:cNvPicPr>
            <a:picLocks noChangeAspect="1"/>
          </p:cNvPicPr>
          <p:nvPr/>
        </p:nvPicPr>
        <p:blipFill>
          <a:blip r:embed="rId4"/>
          <a:stretch>
            <a:fillRect/>
          </a:stretch>
        </p:blipFill>
        <p:spPr>
          <a:xfrm>
            <a:off x="443484" y="4712348"/>
            <a:ext cx="462980" cy="462980"/>
          </a:xfrm>
          <a:prstGeom prst="rect">
            <a:avLst/>
          </a:prstGeom>
        </p:spPr>
      </p:pic>
      <p:sp>
        <p:nvSpPr>
          <p:cNvPr id="14" name="Text 10"/>
          <p:cNvSpPr/>
          <p:nvPr/>
        </p:nvSpPr>
        <p:spPr>
          <a:xfrm>
            <a:off x="998922" y="4715238"/>
            <a:ext cx="2146424" cy="457200"/>
          </a:xfrm>
          <a:prstGeom prst="rect">
            <a:avLst/>
          </a:prstGeom>
          <a:noFill/>
          <a:ln/>
        </p:spPr>
        <p:txBody>
          <a:bodyPr wrap="square" rtlCol="0" anchor="ctr"/>
          <a:lstStyle/>
          <a:p>
            <a:pPr marL="0" indent="0">
              <a:buNone/>
            </a:pPr>
            <a:r>
              <a:rPr lang="en-US" sz="2400" dirty="0">
                <a:solidFill>
                  <a:srgbClr val="FFFFFF"/>
                </a:solidFill>
                <a:latin typeface="Calibri" pitchFamily="34" charset="0"/>
                <a:cs typeface="Calibri" pitchFamily="34" charset="-120"/>
              </a:rPr>
              <a:t>NANDINI JAIN</a:t>
            </a:r>
            <a:endParaRPr lang="en-US" sz="2400" dirty="0"/>
          </a:p>
        </p:txBody>
      </p:sp>
      <p:sp>
        <p:nvSpPr>
          <p:cNvPr id="15" name="Shape 11"/>
          <p:cNvSpPr/>
          <p:nvPr/>
        </p:nvSpPr>
        <p:spPr>
          <a:xfrm>
            <a:off x="3454803" y="4690842"/>
            <a:ext cx="4455544" cy="600210"/>
          </a:xfrm>
          <a:prstGeom prst="roundRect">
            <a:avLst>
              <a:gd name="adj" fmla="val 50000"/>
            </a:avLst>
          </a:prstGeom>
          <a:solidFill>
            <a:srgbClr val="24365C"/>
          </a:solidFill>
          <a:ln w="12700">
            <a:solidFill>
              <a:srgbClr val="33507F"/>
            </a:solidFill>
            <a:prstDash val="solid"/>
          </a:ln>
        </p:spPr>
      </p:sp>
      <p:pic>
        <p:nvPicPr>
          <p:cNvPr id="16" name="Image 2" descr="icons/gaugeHigh_FFFFFF.png"/>
          <p:cNvPicPr>
            <a:picLocks noChangeAspect="1"/>
          </p:cNvPicPr>
          <p:nvPr/>
        </p:nvPicPr>
        <p:blipFill>
          <a:blip r:embed="rId5"/>
          <a:stretch>
            <a:fillRect/>
          </a:stretch>
        </p:blipFill>
        <p:spPr>
          <a:xfrm>
            <a:off x="3729899" y="4773092"/>
            <a:ext cx="435709" cy="435709"/>
          </a:xfrm>
          <a:prstGeom prst="rect">
            <a:avLst/>
          </a:prstGeom>
        </p:spPr>
      </p:pic>
      <p:sp>
        <p:nvSpPr>
          <p:cNvPr id="17" name="Text 12"/>
          <p:cNvSpPr/>
          <p:nvPr/>
        </p:nvSpPr>
        <p:spPr>
          <a:xfrm>
            <a:off x="4297681" y="4663440"/>
            <a:ext cx="3612666" cy="637208"/>
          </a:xfrm>
          <a:prstGeom prst="rect">
            <a:avLst/>
          </a:prstGeom>
          <a:noFill/>
          <a:ln/>
        </p:spPr>
        <p:txBody>
          <a:bodyPr wrap="square" rtlCol="0" anchor="ctr"/>
          <a:lstStyle/>
          <a:p>
            <a:pPr marL="0" indent="0">
              <a:buNone/>
            </a:pPr>
            <a:r>
              <a:rPr lang="en-US" sz="2800" dirty="0">
                <a:solidFill>
                  <a:srgbClr val="FFFFFF"/>
                </a:solidFill>
                <a:latin typeface="Calibri" pitchFamily="34" charset="0"/>
                <a:ea typeface="Calibri" pitchFamily="34" charset="-122"/>
                <a:cs typeface="Calibri" pitchFamily="34" charset="-120"/>
              </a:rPr>
              <a:t>Data Analyst Portfolio</a:t>
            </a:r>
            <a:endParaRPr lang="en-US" sz="2800" dirty="0"/>
          </a:p>
        </p:txBody>
      </p:sp>
      <p:sp>
        <p:nvSpPr>
          <p:cNvPr id="18" name="Shape 13"/>
          <p:cNvSpPr/>
          <p:nvPr/>
        </p:nvSpPr>
        <p:spPr>
          <a:xfrm>
            <a:off x="13717" y="5626431"/>
            <a:ext cx="1239011" cy="612648"/>
          </a:xfrm>
          <a:prstGeom prst="roundRect">
            <a:avLst>
              <a:gd name="adj" fmla="val 50000"/>
            </a:avLst>
          </a:prstGeom>
          <a:solidFill>
            <a:srgbClr val="24365C"/>
          </a:solidFill>
          <a:ln/>
        </p:spPr>
        <p:txBody>
          <a:bodyPr/>
          <a:lstStyle/>
          <a:p>
            <a:pPr algn="ctr"/>
            <a:r>
              <a:rPr lang="en-US" sz="2000" dirty="0">
                <a:solidFill>
                  <a:srgbClr val="9FC6E0"/>
                </a:solidFill>
                <a:latin typeface="Calibri" pitchFamily="34" charset="0"/>
                <a:ea typeface="Calibri" pitchFamily="34" charset="-122"/>
                <a:cs typeface="Calibri" pitchFamily="34" charset="-120"/>
              </a:rPr>
              <a:t>Excel</a:t>
            </a:r>
            <a:endParaRPr lang="en-IN" dirty="0"/>
          </a:p>
        </p:txBody>
      </p:sp>
      <p:sp>
        <p:nvSpPr>
          <p:cNvPr id="19" name="Text 14"/>
          <p:cNvSpPr/>
          <p:nvPr/>
        </p:nvSpPr>
        <p:spPr>
          <a:xfrm>
            <a:off x="685800" y="5532120"/>
            <a:ext cx="790956" cy="365760"/>
          </a:xfrm>
          <a:prstGeom prst="rect">
            <a:avLst/>
          </a:prstGeom>
          <a:noFill/>
          <a:ln/>
        </p:spPr>
        <p:txBody>
          <a:bodyPr wrap="square" rtlCol="0" anchor="ctr"/>
          <a:lstStyle/>
          <a:p>
            <a:pPr marL="0" indent="0" algn="ctr">
              <a:buNone/>
            </a:pPr>
            <a:endParaRPr lang="en-US" sz="1100" dirty="0"/>
          </a:p>
        </p:txBody>
      </p:sp>
      <p:sp>
        <p:nvSpPr>
          <p:cNvPr id="20" name="Shape 15"/>
          <p:cNvSpPr/>
          <p:nvPr/>
        </p:nvSpPr>
        <p:spPr>
          <a:xfrm>
            <a:off x="1371600" y="5626430"/>
            <a:ext cx="1990649" cy="637209"/>
          </a:xfrm>
          <a:prstGeom prst="roundRect">
            <a:avLst>
              <a:gd name="adj" fmla="val 50000"/>
            </a:avLst>
          </a:prstGeom>
          <a:solidFill>
            <a:srgbClr val="24365C"/>
          </a:solidFill>
          <a:ln/>
        </p:spPr>
      </p:sp>
      <p:sp>
        <p:nvSpPr>
          <p:cNvPr id="21" name="Text 16"/>
          <p:cNvSpPr/>
          <p:nvPr/>
        </p:nvSpPr>
        <p:spPr>
          <a:xfrm>
            <a:off x="1547493" y="5544558"/>
            <a:ext cx="1741932" cy="731520"/>
          </a:xfrm>
          <a:prstGeom prst="rect">
            <a:avLst/>
          </a:prstGeom>
          <a:noFill/>
          <a:ln/>
        </p:spPr>
        <p:txBody>
          <a:bodyPr wrap="square" rtlCol="0" anchor="ctr"/>
          <a:lstStyle/>
          <a:p>
            <a:pPr marL="0" indent="0" algn="ctr">
              <a:buNone/>
            </a:pPr>
            <a:r>
              <a:rPr lang="en-US" sz="2000" dirty="0">
                <a:solidFill>
                  <a:srgbClr val="9FC6E0"/>
                </a:solidFill>
                <a:latin typeface="Calibri" pitchFamily="34" charset="0"/>
                <a:ea typeface="Calibri" pitchFamily="34" charset="-122"/>
                <a:cs typeface="Calibri" pitchFamily="34" charset="-120"/>
              </a:rPr>
              <a:t>Data Analytics</a:t>
            </a:r>
            <a:endParaRPr lang="en-US" sz="2000" dirty="0"/>
          </a:p>
        </p:txBody>
      </p:sp>
      <p:sp>
        <p:nvSpPr>
          <p:cNvPr id="22" name="Shape 17"/>
          <p:cNvSpPr/>
          <p:nvPr/>
        </p:nvSpPr>
        <p:spPr>
          <a:xfrm>
            <a:off x="3467405" y="5647694"/>
            <a:ext cx="1556309" cy="637209"/>
          </a:xfrm>
          <a:prstGeom prst="roundRect">
            <a:avLst>
              <a:gd name="adj" fmla="val 50000"/>
            </a:avLst>
          </a:prstGeom>
          <a:solidFill>
            <a:srgbClr val="24365C"/>
          </a:solidFill>
          <a:ln/>
        </p:spPr>
        <p:txBody>
          <a:bodyPr/>
          <a:lstStyle/>
          <a:p>
            <a:endParaRPr lang="en-IN" dirty="0"/>
          </a:p>
        </p:txBody>
      </p:sp>
      <p:sp>
        <p:nvSpPr>
          <p:cNvPr id="23" name="Text 18"/>
          <p:cNvSpPr/>
          <p:nvPr/>
        </p:nvSpPr>
        <p:spPr>
          <a:xfrm>
            <a:off x="3521429" y="5579275"/>
            <a:ext cx="1471270" cy="637209"/>
          </a:xfrm>
          <a:prstGeom prst="rect">
            <a:avLst/>
          </a:prstGeom>
          <a:noFill/>
          <a:ln/>
        </p:spPr>
        <p:txBody>
          <a:bodyPr wrap="square" rtlCol="0" anchor="ctr"/>
          <a:lstStyle/>
          <a:p>
            <a:pPr marL="0" indent="0" algn="ctr">
              <a:buNone/>
            </a:pPr>
            <a:r>
              <a:rPr lang="en-US" sz="2000" dirty="0">
                <a:solidFill>
                  <a:srgbClr val="9FC6E0"/>
                </a:solidFill>
                <a:latin typeface="Calibri" pitchFamily="34" charset="0"/>
                <a:ea typeface="Calibri" pitchFamily="34" charset="-122"/>
                <a:cs typeface="Calibri" pitchFamily="34" charset="-120"/>
              </a:rPr>
              <a:t>Dashboard</a:t>
            </a:r>
            <a:endParaRPr lang="en-US" sz="2000" dirty="0"/>
          </a:p>
        </p:txBody>
      </p:sp>
      <p:sp>
        <p:nvSpPr>
          <p:cNvPr id="24" name="Shape 19"/>
          <p:cNvSpPr/>
          <p:nvPr/>
        </p:nvSpPr>
        <p:spPr>
          <a:xfrm>
            <a:off x="5107000" y="5671510"/>
            <a:ext cx="1759763" cy="600210"/>
          </a:xfrm>
          <a:prstGeom prst="roundRect">
            <a:avLst>
              <a:gd name="adj" fmla="val 50000"/>
            </a:avLst>
          </a:prstGeom>
          <a:solidFill>
            <a:srgbClr val="24365C"/>
          </a:solidFill>
          <a:ln/>
        </p:spPr>
        <p:txBody>
          <a:bodyPr/>
          <a:lstStyle/>
          <a:p>
            <a:endParaRPr lang="en-IN" dirty="0"/>
          </a:p>
        </p:txBody>
      </p:sp>
      <p:sp>
        <p:nvSpPr>
          <p:cNvPr id="25" name="Text 20"/>
          <p:cNvSpPr/>
          <p:nvPr/>
        </p:nvSpPr>
        <p:spPr>
          <a:xfrm>
            <a:off x="5107519" y="5760720"/>
            <a:ext cx="1638605" cy="384048"/>
          </a:xfrm>
          <a:prstGeom prst="rect">
            <a:avLst/>
          </a:prstGeom>
          <a:noFill/>
          <a:ln/>
        </p:spPr>
        <p:txBody>
          <a:bodyPr wrap="square" rtlCol="0" anchor="ctr"/>
          <a:lstStyle/>
          <a:p>
            <a:pPr marL="0" indent="0" algn="ctr">
              <a:buNone/>
            </a:pPr>
            <a:r>
              <a:rPr lang="en-US" sz="2000" dirty="0">
                <a:solidFill>
                  <a:srgbClr val="9FC6E0"/>
                </a:solidFill>
                <a:latin typeface="Calibri" pitchFamily="34" charset="0"/>
                <a:ea typeface="Calibri" pitchFamily="34" charset="-122"/>
                <a:cs typeface="Calibri" pitchFamily="34" charset="-120"/>
              </a:rPr>
              <a:t>Visualization</a:t>
            </a:r>
            <a:endParaRPr lang="en-US" sz="1100" dirty="0"/>
          </a:p>
        </p:txBody>
      </p:sp>
      <p:sp>
        <p:nvSpPr>
          <p:cNvPr id="26" name="Shape 21"/>
          <p:cNvSpPr/>
          <p:nvPr/>
        </p:nvSpPr>
        <p:spPr>
          <a:xfrm>
            <a:off x="7964371" y="3685031"/>
            <a:ext cx="4119958" cy="3109019"/>
          </a:xfrm>
          <a:prstGeom prst="roundRect">
            <a:avLst>
              <a:gd name="adj" fmla="val 4324"/>
            </a:avLst>
          </a:prstGeom>
          <a:solidFill>
            <a:srgbClr val="132241"/>
          </a:solidFill>
          <a:ln w="15875">
            <a:solidFill>
              <a:srgbClr val="2E4670"/>
            </a:solidFill>
            <a:prstDash val="solid"/>
          </a:ln>
          <a:effectLst>
            <a:outerShdw blurRad="152400" dist="50800" dir="5400000" algn="bl" rotWithShape="0">
              <a:srgbClr val="000000">
                <a:alpha val="35000"/>
              </a:srgbClr>
            </a:outerShdw>
          </a:effectLst>
        </p:spPr>
      </p:sp>
      <p:pic>
        <p:nvPicPr>
          <p:cNvPr id="27" name="Image 3" descr="Dashboard.png"/>
          <p:cNvPicPr>
            <a:picLocks noChangeAspect="1"/>
          </p:cNvPicPr>
          <p:nvPr/>
        </p:nvPicPr>
        <p:blipFill>
          <a:blip r:embed="rId6"/>
          <a:stretch>
            <a:fillRect/>
          </a:stretch>
        </p:blipFill>
        <p:spPr>
          <a:xfrm>
            <a:off x="8037195" y="3822192"/>
            <a:ext cx="3959299" cy="2221992"/>
          </a:xfrm>
          <a:prstGeom prst="rect">
            <a:avLst/>
          </a:prstGeom>
        </p:spPr>
      </p:pic>
      <p:sp>
        <p:nvSpPr>
          <p:cNvPr id="28" name="Text 22"/>
          <p:cNvSpPr/>
          <p:nvPr/>
        </p:nvSpPr>
        <p:spPr>
          <a:xfrm>
            <a:off x="8792489" y="6181343"/>
            <a:ext cx="2560320" cy="320040"/>
          </a:xfrm>
          <a:prstGeom prst="rect">
            <a:avLst/>
          </a:prstGeom>
          <a:noFill/>
          <a:ln/>
        </p:spPr>
        <p:txBody>
          <a:bodyPr wrap="square" rtlCol="0" anchor="ctr"/>
          <a:lstStyle/>
          <a:p>
            <a:pPr marL="0" indent="0" algn="ctr">
              <a:buNone/>
            </a:pPr>
            <a:r>
              <a:rPr lang="en-US" sz="1100" b="1" dirty="0">
                <a:solidFill>
                  <a:srgbClr val="9FC6E0"/>
                </a:solidFill>
                <a:latin typeface="Calibri" pitchFamily="34" charset="0"/>
                <a:ea typeface="Calibri" pitchFamily="34" charset="-122"/>
                <a:cs typeface="Calibri" pitchFamily="34" charset="-120"/>
              </a:rPr>
              <a:t>Excel Dashboard Preview</a:t>
            </a:r>
            <a:endParaRPr lang="en-US" sz="1100" b="1" dirty="0"/>
          </a:p>
        </p:txBody>
      </p:sp>
      <p:pic>
        <p:nvPicPr>
          <p:cNvPr id="30" name="Picture 29">
            <a:extLst>
              <a:ext uri="{FF2B5EF4-FFF2-40B4-BE49-F238E27FC236}">
                <a16:creationId xmlns:a16="http://schemas.microsoft.com/office/drawing/2014/main" id="{A1E8CC12-19BC-9EBF-3ADD-637982AE860C}"/>
              </a:ext>
            </a:extLst>
          </p:cNvPr>
          <p:cNvPicPr>
            <a:picLocks noChangeAspect="1"/>
          </p:cNvPicPr>
          <p:nvPr/>
        </p:nvPicPr>
        <p:blipFill>
          <a:blip r:embed="rId7"/>
          <a:stretch>
            <a:fillRect/>
          </a:stretch>
        </p:blipFill>
        <p:spPr>
          <a:xfrm>
            <a:off x="9202910" y="386868"/>
            <a:ext cx="1823053" cy="2046688"/>
          </a:xfrm>
          <a:prstGeom prst="rect">
            <a:avLst/>
          </a:prstGeom>
        </p:spPr>
      </p:pic>
    </p:spTree>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11480"/>
            <a:ext cx="8229600" cy="320040"/>
          </a:xfrm>
          <a:prstGeom prst="rect">
            <a:avLst/>
          </a:prstGeom>
          <a:noFill/>
          <a:ln/>
        </p:spPr>
        <p:txBody>
          <a:bodyPr wrap="square" rtlCol="0" anchor="ctr"/>
          <a:lstStyle/>
          <a:p>
            <a:pPr marL="0" indent="0">
              <a:buNone/>
            </a:pPr>
            <a:r>
              <a:rPr lang="en-US" b="1" kern="0" spc="200" dirty="0">
                <a:solidFill>
                  <a:srgbClr val="E8763C"/>
                </a:solidFill>
                <a:latin typeface="Calibri" pitchFamily="34" charset="0"/>
                <a:ea typeface="Calibri" pitchFamily="34" charset="-122"/>
                <a:cs typeface="Calibri" pitchFamily="34" charset="-120"/>
              </a:rPr>
              <a:t>GETTING ORIENTED</a:t>
            </a:r>
            <a:endParaRPr lang="en-US" dirty="0"/>
          </a:p>
        </p:txBody>
      </p:sp>
      <p:sp>
        <p:nvSpPr>
          <p:cNvPr id="3" name="Text 1"/>
          <p:cNvSpPr/>
          <p:nvPr/>
        </p:nvSpPr>
        <p:spPr>
          <a:xfrm>
            <a:off x="640080" y="713232"/>
            <a:ext cx="10607040" cy="822960"/>
          </a:xfrm>
          <a:prstGeom prst="rect">
            <a:avLst/>
          </a:prstGeom>
          <a:noFill/>
          <a:ln/>
        </p:spPr>
        <p:txBody>
          <a:bodyPr wrap="square" rtlCol="0" anchor="ctr"/>
          <a:lstStyle/>
          <a:p>
            <a:pPr marL="0" indent="0">
              <a:buNone/>
            </a:pPr>
            <a:r>
              <a:rPr lang="en-US" sz="3600" b="1" u="sng" dirty="0">
                <a:solidFill>
                  <a:srgbClr val="1B2A4A"/>
                </a:solidFill>
                <a:latin typeface="Cambria" pitchFamily="34" charset="0"/>
                <a:ea typeface="Cambria" pitchFamily="34" charset="-122"/>
                <a:cs typeface="Cambria" pitchFamily="34" charset="-120"/>
              </a:rPr>
              <a:t>Project Introduction</a:t>
            </a:r>
            <a:endParaRPr lang="en-US" sz="3600" u="sng" dirty="0"/>
          </a:p>
        </p:txBody>
      </p:sp>
      <p:sp>
        <p:nvSpPr>
          <p:cNvPr id="4" name="Text 2"/>
          <p:cNvSpPr/>
          <p:nvPr/>
        </p:nvSpPr>
        <p:spPr>
          <a:xfrm>
            <a:off x="640080" y="1554480"/>
            <a:ext cx="10607040" cy="987552"/>
          </a:xfrm>
          <a:prstGeom prst="rect">
            <a:avLst/>
          </a:prstGeom>
          <a:noFill/>
          <a:ln/>
        </p:spPr>
        <p:txBody>
          <a:bodyPr wrap="square" rtlCol="0" anchor="ctr"/>
          <a:lstStyle/>
          <a:p>
            <a:pPr marL="0" indent="0">
              <a:lnSpc>
                <a:spcPct val="130000"/>
              </a:lnSpc>
              <a:buNone/>
            </a:pPr>
            <a:r>
              <a:rPr lang="en-US" b="1" dirty="0">
                <a:solidFill>
                  <a:schemeClr val="bg2">
                    <a:lumMod val="20000"/>
                    <a:lumOff val="80000"/>
                  </a:schemeClr>
                </a:solidFill>
                <a:latin typeface="Calibri" pitchFamily="34" charset="0"/>
                <a:ea typeface="Calibri" pitchFamily="34" charset="-122"/>
                <a:cs typeface="Calibri" pitchFamily="34" charset="-120"/>
              </a:rPr>
              <a:t>The Jal Jeevan Mission focuses on improving access to Functional Household Tap Connections (FHTCs) in rural India. This project analyzes FHTC implementation data to understand where progress stands and where attention is still needed.</a:t>
            </a:r>
            <a:endParaRPr lang="en-US" b="1" dirty="0">
              <a:solidFill>
                <a:schemeClr val="bg2">
                  <a:lumMod val="20000"/>
                  <a:lumOff val="80000"/>
                </a:schemeClr>
              </a:solidFill>
            </a:endParaRPr>
          </a:p>
        </p:txBody>
      </p:sp>
      <p:grpSp>
        <p:nvGrpSpPr>
          <p:cNvPr id="34" name="Group 33">
            <a:extLst>
              <a:ext uri="{FF2B5EF4-FFF2-40B4-BE49-F238E27FC236}">
                <a16:creationId xmlns:a16="http://schemas.microsoft.com/office/drawing/2014/main" id="{B031901C-30CA-F469-D4FD-6B7CF9E163AE}"/>
              </a:ext>
            </a:extLst>
          </p:cNvPr>
          <p:cNvGrpSpPr/>
          <p:nvPr/>
        </p:nvGrpSpPr>
        <p:grpSpPr>
          <a:xfrm>
            <a:off x="141544" y="2760228"/>
            <a:ext cx="2160000" cy="2700000"/>
            <a:chOff x="640080" y="2788920"/>
            <a:chExt cx="2006194" cy="2514600"/>
          </a:xfrm>
        </p:grpSpPr>
        <p:sp>
          <p:nvSpPr>
            <p:cNvPr id="5" name="Shape 3"/>
            <p:cNvSpPr/>
            <p:nvPr/>
          </p:nvSpPr>
          <p:spPr>
            <a:xfrm>
              <a:off x="640080" y="2788920"/>
              <a:ext cx="2006194" cy="2514600"/>
            </a:xfrm>
            <a:prstGeom prst="roundRect">
              <a:avLst>
                <a:gd name="adj" fmla="val 4102"/>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6" name="Shape 4"/>
            <p:cNvSpPr/>
            <p:nvPr/>
          </p:nvSpPr>
          <p:spPr>
            <a:xfrm>
              <a:off x="1332281" y="3108960"/>
              <a:ext cx="621792" cy="621792"/>
            </a:xfrm>
            <a:prstGeom prst="ellipse">
              <a:avLst/>
            </a:prstGeom>
            <a:solidFill>
              <a:srgbClr val="EAF2F8"/>
            </a:solidFill>
            <a:ln/>
          </p:spPr>
        </p:sp>
        <p:pic>
          <p:nvPicPr>
            <p:cNvPr id="7" name="Image 0" descr="icons/gaugeHigh_0B5E8C.png"/>
            <p:cNvPicPr>
              <a:picLocks noChangeAspect="1"/>
            </p:cNvPicPr>
            <p:nvPr/>
          </p:nvPicPr>
          <p:blipFill>
            <a:blip r:embed="rId3"/>
            <a:stretch>
              <a:fillRect/>
            </a:stretch>
          </p:blipFill>
          <p:spPr>
            <a:xfrm>
              <a:off x="1478585" y="3255264"/>
              <a:ext cx="329184" cy="329184"/>
            </a:xfrm>
            <a:prstGeom prst="rect">
              <a:avLst/>
            </a:prstGeom>
          </p:spPr>
        </p:pic>
        <p:sp>
          <p:nvSpPr>
            <p:cNvPr id="8" name="Text 5"/>
            <p:cNvSpPr/>
            <p:nvPr/>
          </p:nvSpPr>
          <p:spPr>
            <a:xfrm>
              <a:off x="749808" y="3931920"/>
              <a:ext cx="1786738" cy="566928"/>
            </a:xfrm>
            <a:prstGeom prst="rect">
              <a:avLst/>
            </a:prstGeom>
            <a:noFill/>
            <a:ln/>
          </p:spPr>
          <p:txBody>
            <a:bodyPr wrap="square" rtlCol="0" anchor="t"/>
            <a:lstStyle/>
            <a:p>
              <a:pPr marL="0" indent="0" algn="ctr">
                <a:buNone/>
              </a:pPr>
              <a:r>
                <a:rPr lang="en-US" sz="1600" b="1" dirty="0">
                  <a:solidFill>
                    <a:srgbClr val="1B2A4A"/>
                  </a:solidFill>
                  <a:latin typeface="Cambria" pitchFamily="34" charset="0"/>
                  <a:ea typeface="Cambria" pitchFamily="34" charset="-122"/>
                  <a:cs typeface="Cambria" pitchFamily="34" charset="-120"/>
                </a:rPr>
                <a:t>Coverage</a:t>
              </a:r>
              <a:endParaRPr lang="en-US" sz="1250" dirty="0"/>
            </a:p>
          </p:txBody>
        </p:sp>
        <p:sp>
          <p:nvSpPr>
            <p:cNvPr id="9" name="Text 6"/>
            <p:cNvSpPr/>
            <p:nvPr/>
          </p:nvSpPr>
          <p:spPr>
            <a:xfrm>
              <a:off x="768096" y="4480560"/>
              <a:ext cx="1750162" cy="731520"/>
            </a:xfrm>
            <a:prstGeom prst="rect">
              <a:avLst/>
            </a:prstGeom>
            <a:noFill/>
            <a:ln/>
          </p:spPr>
          <p:txBody>
            <a:bodyPr wrap="square" rtlCol="0" anchor="ctr"/>
            <a:lstStyle/>
            <a:p>
              <a:pPr marL="0" indent="0" algn="ctr">
                <a:lnSpc>
                  <a:spcPct val="115000"/>
                </a:lnSpc>
                <a:buNone/>
              </a:pPr>
              <a:r>
                <a:rPr lang="en-US" sz="1050" b="1" dirty="0">
                  <a:solidFill>
                    <a:srgbClr val="5B6B79"/>
                  </a:solidFill>
                  <a:latin typeface="Calibri" pitchFamily="34" charset="0"/>
                  <a:ea typeface="Calibri" pitchFamily="34" charset="-122"/>
                  <a:cs typeface="Calibri" pitchFamily="34" charset="-120"/>
                </a:rPr>
                <a:t>Scale of FHTC implementation achieved</a:t>
              </a:r>
              <a:endParaRPr lang="en-US" sz="1050" b="1" dirty="0"/>
            </a:p>
          </p:txBody>
        </p:sp>
      </p:grpSp>
      <p:grpSp>
        <p:nvGrpSpPr>
          <p:cNvPr id="35" name="Group 34">
            <a:extLst>
              <a:ext uri="{FF2B5EF4-FFF2-40B4-BE49-F238E27FC236}">
                <a16:creationId xmlns:a16="http://schemas.microsoft.com/office/drawing/2014/main" id="{05E575F6-2E65-69FD-377C-3BF10859261B}"/>
              </a:ext>
            </a:extLst>
          </p:cNvPr>
          <p:cNvGrpSpPr/>
          <p:nvPr/>
        </p:nvGrpSpPr>
        <p:grpSpPr>
          <a:xfrm>
            <a:off x="2580156" y="2760228"/>
            <a:ext cx="2160000" cy="2700000"/>
            <a:chOff x="2865730" y="2788920"/>
            <a:chExt cx="2006194" cy="2514600"/>
          </a:xfrm>
        </p:grpSpPr>
        <p:sp>
          <p:nvSpPr>
            <p:cNvPr id="10" name="Shape 7"/>
            <p:cNvSpPr/>
            <p:nvPr/>
          </p:nvSpPr>
          <p:spPr>
            <a:xfrm>
              <a:off x="2865730" y="2788920"/>
              <a:ext cx="2006194" cy="2514600"/>
            </a:xfrm>
            <a:prstGeom prst="roundRect">
              <a:avLst>
                <a:gd name="adj" fmla="val 4102"/>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11" name="Shape 8"/>
            <p:cNvSpPr/>
            <p:nvPr/>
          </p:nvSpPr>
          <p:spPr>
            <a:xfrm>
              <a:off x="3557930" y="3108960"/>
              <a:ext cx="621792" cy="621792"/>
            </a:xfrm>
            <a:prstGeom prst="ellipse">
              <a:avLst/>
            </a:prstGeom>
            <a:solidFill>
              <a:srgbClr val="EAF2F8"/>
            </a:solidFill>
            <a:ln/>
          </p:spPr>
        </p:sp>
        <p:pic>
          <p:nvPicPr>
            <p:cNvPr id="12" name="Image 1" descr="icons/handHoldingDroplet_0B5E8C.png"/>
            <p:cNvPicPr>
              <a:picLocks noChangeAspect="1"/>
            </p:cNvPicPr>
            <p:nvPr/>
          </p:nvPicPr>
          <p:blipFill>
            <a:blip r:embed="rId4"/>
            <a:stretch>
              <a:fillRect/>
            </a:stretch>
          </p:blipFill>
          <p:spPr>
            <a:xfrm>
              <a:off x="3704234" y="3255264"/>
              <a:ext cx="329184" cy="329184"/>
            </a:xfrm>
            <a:prstGeom prst="rect">
              <a:avLst/>
            </a:prstGeom>
          </p:spPr>
        </p:pic>
        <p:sp>
          <p:nvSpPr>
            <p:cNvPr id="13" name="Text 9"/>
            <p:cNvSpPr/>
            <p:nvPr/>
          </p:nvSpPr>
          <p:spPr>
            <a:xfrm>
              <a:off x="2975458" y="3931920"/>
              <a:ext cx="1786738" cy="566928"/>
            </a:xfrm>
            <a:prstGeom prst="rect">
              <a:avLst/>
            </a:prstGeom>
            <a:noFill/>
            <a:ln/>
          </p:spPr>
          <p:txBody>
            <a:bodyPr wrap="square" rtlCol="0" anchor="t"/>
            <a:lstStyle/>
            <a:p>
              <a:pPr marL="0" indent="0" algn="ctr">
                <a:buNone/>
              </a:pPr>
              <a:r>
                <a:rPr lang="en-US" sz="1600" b="1" dirty="0">
                  <a:solidFill>
                    <a:srgbClr val="1B2A4A"/>
                  </a:solidFill>
                  <a:latin typeface="Cambria" pitchFamily="34" charset="0"/>
                  <a:ea typeface="Cambria" pitchFamily="34" charset="-122"/>
                  <a:cs typeface="Cambria" pitchFamily="34" charset="-120"/>
                </a:rPr>
                <a:t>FHTCs Provided</a:t>
              </a:r>
              <a:endParaRPr lang="en-US" sz="1600" dirty="0"/>
            </a:p>
          </p:txBody>
        </p:sp>
        <p:sp>
          <p:nvSpPr>
            <p:cNvPr id="14" name="Text 10"/>
            <p:cNvSpPr/>
            <p:nvPr/>
          </p:nvSpPr>
          <p:spPr>
            <a:xfrm>
              <a:off x="2993746" y="4480560"/>
              <a:ext cx="1750162" cy="731520"/>
            </a:xfrm>
            <a:prstGeom prst="rect">
              <a:avLst/>
            </a:prstGeom>
            <a:noFill/>
            <a:ln/>
          </p:spPr>
          <p:txBody>
            <a:bodyPr wrap="square" rtlCol="0" anchor="ctr"/>
            <a:lstStyle/>
            <a:p>
              <a:pPr marL="0" indent="0" algn="ctr">
                <a:lnSpc>
                  <a:spcPct val="115000"/>
                </a:lnSpc>
                <a:buNone/>
              </a:pPr>
              <a:r>
                <a:rPr lang="en-US" sz="1050" b="1" dirty="0">
                  <a:solidFill>
                    <a:srgbClr val="5B6B79"/>
                  </a:solidFill>
                  <a:latin typeface="Calibri" pitchFamily="34" charset="0"/>
                  <a:ea typeface="Calibri" pitchFamily="34" charset="-122"/>
                  <a:cs typeface="Calibri" pitchFamily="34" charset="-120"/>
                </a:rPr>
                <a:t>Volume of connections delivered</a:t>
              </a:r>
              <a:endParaRPr lang="en-US" sz="1050" b="1" dirty="0"/>
            </a:p>
          </p:txBody>
        </p:sp>
      </p:grpSp>
      <p:grpSp>
        <p:nvGrpSpPr>
          <p:cNvPr id="36" name="Group 35">
            <a:extLst>
              <a:ext uri="{FF2B5EF4-FFF2-40B4-BE49-F238E27FC236}">
                <a16:creationId xmlns:a16="http://schemas.microsoft.com/office/drawing/2014/main" id="{DDE87818-F80C-6667-5654-A5BD685F5A98}"/>
              </a:ext>
            </a:extLst>
          </p:cNvPr>
          <p:cNvGrpSpPr/>
          <p:nvPr/>
        </p:nvGrpSpPr>
        <p:grpSpPr>
          <a:xfrm>
            <a:off x="4980002" y="2759385"/>
            <a:ext cx="2160000" cy="2700000"/>
            <a:chOff x="5115949" y="2788920"/>
            <a:chExt cx="2006194" cy="2514600"/>
          </a:xfrm>
        </p:grpSpPr>
        <p:sp>
          <p:nvSpPr>
            <p:cNvPr id="15" name="Shape 11"/>
            <p:cNvSpPr/>
            <p:nvPr/>
          </p:nvSpPr>
          <p:spPr>
            <a:xfrm>
              <a:off x="5115949" y="2788920"/>
              <a:ext cx="2006194" cy="2514600"/>
            </a:xfrm>
            <a:prstGeom prst="roundRect">
              <a:avLst>
                <a:gd name="adj" fmla="val 4102"/>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16" name="Shape 12"/>
            <p:cNvSpPr/>
            <p:nvPr/>
          </p:nvSpPr>
          <p:spPr>
            <a:xfrm>
              <a:off x="5783580" y="3108960"/>
              <a:ext cx="621792" cy="621792"/>
            </a:xfrm>
            <a:prstGeom prst="ellipse">
              <a:avLst/>
            </a:prstGeom>
            <a:solidFill>
              <a:srgbClr val="EAF2F8"/>
            </a:solidFill>
            <a:ln/>
          </p:spPr>
        </p:sp>
        <p:pic>
          <p:nvPicPr>
            <p:cNvPr id="17" name="Image 2" descr="icons/mapLocation_0B5E8C.png"/>
            <p:cNvPicPr>
              <a:picLocks noChangeAspect="1"/>
            </p:cNvPicPr>
            <p:nvPr/>
          </p:nvPicPr>
          <p:blipFill>
            <a:blip r:embed="rId5"/>
            <a:stretch>
              <a:fillRect/>
            </a:stretch>
          </p:blipFill>
          <p:spPr>
            <a:xfrm>
              <a:off x="5929884" y="3255264"/>
              <a:ext cx="329184" cy="329184"/>
            </a:xfrm>
            <a:prstGeom prst="rect">
              <a:avLst/>
            </a:prstGeom>
          </p:spPr>
        </p:pic>
        <p:sp>
          <p:nvSpPr>
            <p:cNvPr id="18" name="Text 13"/>
            <p:cNvSpPr/>
            <p:nvPr/>
          </p:nvSpPr>
          <p:spPr>
            <a:xfrm>
              <a:off x="5201107" y="3931920"/>
              <a:ext cx="1786738" cy="566928"/>
            </a:xfrm>
            <a:prstGeom prst="rect">
              <a:avLst/>
            </a:prstGeom>
            <a:noFill/>
            <a:ln/>
          </p:spPr>
          <p:txBody>
            <a:bodyPr wrap="square" rtlCol="0" anchor="t"/>
            <a:lstStyle/>
            <a:p>
              <a:pPr marL="0" indent="0" algn="ctr">
                <a:buNone/>
              </a:pPr>
              <a:r>
                <a:rPr lang="en-US" sz="1600" b="1" dirty="0">
                  <a:solidFill>
                    <a:srgbClr val="1B2A4A"/>
                  </a:solidFill>
                  <a:latin typeface="Cambria" pitchFamily="34" charset="0"/>
                  <a:ea typeface="Cambria" pitchFamily="34" charset="-122"/>
                  <a:cs typeface="Cambria" pitchFamily="34" charset="-120"/>
                </a:rPr>
                <a:t>District Performance</a:t>
              </a:r>
              <a:endParaRPr lang="en-US" sz="1600" dirty="0"/>
            </a:p>
          </p:txBody>
        </p:sp>
        <p:sp>
          <p:nvSpPr>
            <p:cNvPr id="19" name="Text 14"/>
            <p:cNvSpPr/>
            <p:nvPr/>
          </p:nvSpPr>
          <p:spPr>
            <a:xfrm>
              <a:off x="5219395" y="4480560"/>
              <a:ext cx="1750162" cy="731520"/>
            </a:xfrm>
            <a:prstGeom prst="rect">
              <a:avLst/>
            </a:prstGeom>
            <a:noFill/>
            <a:ln/>
          </p:spPr>
          <p:txBody>
            <a:bodyPr wrap="square" rtlCol="0" anchor="ctr"/>
            <a:lstStyle/>
            <a:p>
              <a:pPr marL="0" indent="0" algn="ctr">
                <a:lnSpc>
                  <a:spcPct val="115000"/>
                </a:lnSpc>
                <a:buNone/>
              </a:pPr>
              <a:r>
                <a:rPr lang="en-US" sz="1050" b="1" dirty="0">
                  <a:solidFill>
                    <a:srgbClr val="5B6B79"/>
                  </a:solidFill>
                  <a:latin typeface="Calibri" pitchFamily="34" charset="0"/>
                  <a:ea typeface="Calibri" pitchFamily="34" charset="-122"/>
                  <a:cs typeface="Calibri" pitchFamily="34" charset="-120"/>
                </a:rPr>
                <a:t>How implementation compares across districts</a:t>
              </a:r>
              <a:endParaRPr lang="en-US" sz="1050" b="1" dirty="0"/>
            </a:p>
          </p:txBody>
        </p:sp>
      </p:grpSp>
      <p:grpSp>
        <p:nvGrpSpPr>
          <p:cNvPr id="37" name="Group 36">
            <a:extLst>
              <a:ext uri="{FF2B5EF4-FFF2-40B4-BE49-F238E27FC236}">
                <a16:creationId xmlns:a16="http://schemas.microsoft.com/office/drawing/2014/main" id="{ABE0E15F-70D8-57D2-A59C-058D24C13B31}"/>
              </a:ext>
            </a:extLst>
          </p:cNvPr>
          <p:cNvGrpSpPr/>
          <p:nvPr/>
        </p:nvGrpSpPr>
        <p:grpSpPr>
          <a:xfrm>
            <a:off x="7333704" y="2788920"/>
            <a:ext cx="2160000" cy="2700000"/>
            <a:chOff x="7317029" y="2788920"/>
            <a:chExt cx="2006194" cy="2514600"/>
          </a:xfrm>
        </p:grpSpPr>
        <p:sp>
          <p:nvSpPr>
            <p:cNvPr id="20" name="Shape 15"/>
            <p:cNvSpPr/>
            <p:nvPr/>
          </p:nvSpPr>
          <p:spPr>
            <a:xfrm>
              <a:off x="7317029" y="2788920"/>
              <a:ext cx="2006194" cy="2514600"/>
            </a:xfrm>
            <a:prstGeom prst="roundRect">
              <a:avLst>
                <a:gd name="adj" fmla="val 4102"/>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21" name="Shape 16"/>
            <p:cNvSpPr/>
            <p:nvPr/>
          </p:nvSpPr>
          <p:spPr>
            <a:xfrm>
              <a:off x="8009230" y="3108960"/>
              <a:ext cx="621792" cy="621792"/>
            </a:xfrm>
            <a:prstGeom prst="ellipse">
              <a:avLst/>
            </a:prstGeom>
            <a:solidFill>
              <a:srgbClr val="EAF2F8"/>
            </a:solidFill>
            <a:ln/>
          </p:spPr>
        </p:sp>
        <p:pic>
          <p:nvPicPr>
            <p:cNvPr id="22" name="Image 3" descr="icons/chartPie_0B5E8C.png"/>
            <p:cNvPicPr>
              <a:picLocks noChangeAspect="1"/>
            </p:cNvPicPr>
            <p:nvPr/>
          </p:nvPicPr>
          <p:blipFill>
            <a:blip r:embed="rId6"/>
            <a:stretch>
              <a:fillRect/>
            </a:stretch>
          </p:blipFill>
          <p:spPr>
            <a:xfrm>
              <a:off x="8155534" y="3255264"/>
              <a:ext cx="329184" cy="329184"/>
            </a:xfrm>
            <a:prstGeom prst="rect">
              <a:avLst/>
            </a:prstGeom>
          </p:spPr>
        </p:pic>
        <p:sp>
          <p:nvSpPr>
            <p:cNvPr id="23" name="Text 17"/>
            <p:cNvSpPr/>
            <p:nvPr/>
          </p:nvSpPr>
          <p:spPr>
            <a:xfrm>
              <a:off x="7426757" y="3931920"/>
              <a:ext cx="1786738" cy="566928"/>
            </a:xfrm>
            <a:prstGeom prst="rect">
              <a:avLst/>
            </a:prstGeom>
            <a:noFill/>
            <a:ln/>
          </p:spPr>
          <p:txBody>
            <a:bodyPr wrap="square" rtlCol="0" anchor="t"/>
            <a:lstStyle/>
            <a:p>
              <a:pPr marL="0" indent="0" algn="ctr">
                <a:buNone/>
              </a:pPr>
              <a:r>
                <a:rPr lang="en-US" sz="1600" b="1" dirty="0">
                  <a:solidFill>
                    <a:srgbClr val="1B2A4A"/>
                  </a:solidFill>
                  <a:latin typeface="Cambria" pitchFamily="34" charset="0"/>
                  <a:ea typeface="Cambria" pitchFamily="34" charset="-122"/>
                  <a:cs typeface="Cambria" pitchFamily="34" charset="-120"/>
                </a:rPr>
                <a:t>Water-Source Distribution</a:t>
              </a:r>
              <a:endParaRPr lang="en-US" sz="1600" dirty="0"/>
            </a:p>
          </p:txBody>
        </p:sp>
        <p:sp>
          <p:nvSpPr>
            <p:cNvPr id="24" name="Text 18"/>
            <p:cNvSpPr/>
            <p:nvPr/>
          </p:nvSpPr>
          <p:spPr>
            <a:xfrm>
              <a:off x="7445045" y="4480560"/>
              <a:ext cx="1750162" cy="731520"/>
            </a:xfrm>
            <a:prstGeom prst="rect">
              <a:avLst/>
            </a:prstGeom>
            <a:noFill/>
            <a:ln/>
          </p:spPr>
          <p:txBody>
            <a:bodyPr wrap="square" rtlCol="0" anchor="ctr"/>
            <a:lstStyle/>
            <a:p>
              <a:pPr marL="0" indent="0" algn="ctr">
                <a:lnSpc>
                  <a:spcPct val="115000"/>
                </a:lnSpc>
                <a:buNone/>
              </a:pPr>
              <a:r>
                <a:rPr lang="en-US" sz="1050" b="1" dirty="0">
                  <a:solidFill>
                    <a:srgbClr val="5B6B79"/>
                  </a:solidFill>
                  <a:latin typeface="Calibri" pitchFamily="34" charset="0"/>
                  <a:ea typeface="Calibri" pitchFamily="34" charset="-122"/>
                  <a:cs typeface="Calibri" pitchFamily="34" charset="-120"/>
                </a:rPr>
                <a:t>Groundwater vs. surface-water reliance</a:t>
              </a:r>
              <a:endParaRPr lang="en-US" sz="1050" b="1" dirty="0"/>
            </a:p>
          </p:txBody>
        </p:sp>
      </p:grpSp>
      <p:grpSp>
        <p:nvGrpSpPr>
          <p:cNvPr id="38" name="Group 37">
            <a:extLst>
              <a:ext uri="{FF2B5EF4-FFF2-40B4-BE49-F238E27FC236}">
                <a16:creationId xmlns:a16="http://schemas.microsoft.com/office/drawing/2014/main" id="{83E4877D-1BEE-99F9-722F-520283CD09AD}"/>
              </a:ext>
            </a:extLst>
          </p:cNvPr>
          <p:cNvGrpSpPr/>
          <p:nvPr/>
        </p:nvGrpSpPr>
        <p:grpSpPr>
          <a:xfrm>
            <a:off x="9713860" y="2788920"/>
            <a:ext cx="2160000" cy="2700000"/>
            <a:chOff x="9542678" y="2788920"/>
            <a:chExt cx="2006194" cy="2514600"/>
          </a:xfrm>
        </p:grpSpPr>
        <p:sp>
          <p:nvSpPr>
            <p:cNvPr id="25" name="Shape 19"/>
            <p:cNvSpPr/>
            <p:nvPr/>
          </p:nvSpPr>
          <p:spPr>
            <a:xfrm>
              <a:off x="9542678" y="2788920"/>
              <a:ext cx="2006194" cy="2514600"/>
            </a:xfrm>
            <a:prstGeom prst="roundRect">
              <a:avLst>
                <a:gd name="adj" fmla="val 4102"/>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26" name="Shape 20"/>
            <p:cNvSpPr/>
            <p:nvPr/>
          </p:nvSpPr>
          <p:spPr>
            <a:xfrm>
              <a:off x="10234879" y="3108960"/>
              <a:ext cx="621792" cy="621792"/>
            </a:xfrm>
            <a:prstGeom prst="ellipse">
              <a:avLst/>
            </a:prstGeom>
            <a:solidFill>
              <a:srgbClr val="EAF2F8"/>
            </a:solidFill>
            <a:ln/>
          </p:spPr>
        </p:sp>
        <p:pic>
          <p:nvPicPr>
            <p:cNvPr id="27" name="Image 4" descr="icons/chartLine_0B5E8C.png"/>
            <p:cNvPicPr>
              <a:picLocks noChangeAspect="1"/>
            </p:cNvPicPr>
            <p:nvPr/>
          </p:nvPicPr>
          <p:blipFill>
            <a:blip r:embed="rId7"/>
            <a:stretch>
              <a:fillRect/>
            </a:stretch>
          </p:blipFill>
          <p:spPr>
            <a:xfrm>
              <a:off x="10381183" y="3255264"/>
              <a:ext cx="329184" cy="329184"/>
            </a:xfrm>
            <a:prstGeom prst="rect">
              <a:avLst/>
            </a:prstGeom>
          </p:spPr>
        </p:pic>
        <p:sp>
          <p:nvSpPr>
            <p:cNvPr id="28" name="Text 21"/>
            <p:cNvSpPr/>
            <p:nvPr/>
          </p:nvSpPr>
          <p:spPr>
            <a:xfrm>
              <a:off x="9652406" y="3931920"/>
              <a:ext cx="1786738" cy="566928"/>
            </a:xfrm>
            <a:prstGeom prst="rect">
              <a:avLst/>
            </a:prstGeom>
            <a:noFill/>
            <a:ln/>
          </p:spPr>
          <p:txBody>
            <a:bodyPr wrap="square" rtlCol="0" anchor="t"/>
            <a:lstStyle/>
            <a:p>
              <a:pPr marL="0" indent="0" algn="ctr">
                <a:buNone/>
              </a:pPr>
              <a:r>
                <a:rPr lang="en-US" sz="1600" b="1" dirty="0">
                  <a:solidFill>
                    <a:srgbClr val="1B2A4A"/>
                  </a:solidFill>
                  <a:latin typeface="Cambria" pitchFamily="34" charset="0"/>
                  <a:ea typeface="Cambria" pitchFamily="34" charset="-122"/>
                  <a:cs typeface="Cambria" pitchFamily="34" charset="-120"/>
                </a:rPr>
                <a:t>Trends Over Time</a:t>
              </a:r>
              <a:endParaRPr lang="en-US" sz="1600" dirty="0"/>
            </a:p>
          </p:txBody>
        </p:sp>
        <p:sp>
          <p:nvSpPr>
            <p:cNvPr id="29" name="Text 22"/>
            <p:cNvSpPr/>
            <p:nvPr/>
          </p:nvSpPr>
          <p:spPr>
            <a:xfrm>
              <a:off x="9670694" y="4480560"/>
              <a:ext cx="1750162" cy="731520"/>
            </a:xfrm>
            <a:prstGeom prst="rect">
              <a:avLst/>
            </a:prstGeom>
            <a:noFill/>
            <a:ln/>
          </p:spPr>
          <p:txBody>
            <a:bodyPr wrap="square" rtlCol="0" anchor="ctr"/>
            <a:lstStyle/>
            <a:p>
              <a:pPr marL="0" indent="0" algn="ctr">
                <a:lnSpc>
                  <a:spcPct val="115000"/>
                </a:lnSpc>
                <a:buNone/>
              </a:pPr>
              <a:r>
                <a:rPr lang="en-US" sz="1050" b="1" dirty="0">
                  <a:solidFill>
                    <a:srgbClr val="5B6B79"/>
                  </a:solidFill>
                  <a:latin typeface="Calibri" pitchFamily="34" charset="0"/>
                  <a:ea typeface="Calibri" pitchFamily="34" charset="-122"/>
                  <a:cs typeface="Calibri" pitchFamily="34" charset="-120"/>
                </a:rPr>
                <a:t>How provision has moved year to year</a:t>
              </a:r>
              <a:endParaRPr lang="en-US" sz="1050" b="1" dirty="0"/>
            </a:p>
          </p:txBody>
        </p:sp>
      </p:grpSp>
      <p:sp>
        <p:nvSpPr>
          <p:cNvPr id="30" name="Shape 23"/>
          <p:cNvSpPr/>
          <p:nvPr/>
        </p:nvSpPr>
        <p:spPr>
          <a:xfrm>
            <a:off x="580857" y="5942537"/>
            <a:ext cx="10908792" cy="594360"/>
          </a:xfrm>
          <a:prstGeom prst="roundRect">
            <a:avLst>
              <a:gd name="adj" fmla="val 12308"/>
            </a:avLst>
          </a:prstGeom>
          <a:solidFill>
            <a:srgbClr val="1B2A4A"/>
          </a:solidFill>
          <a:ln/>
        </p:spPr>
      </p:sp>
      <p:sp>
        <p:nvSpPr>
          <p:cNvPr id="31" name="Text 24"/>
          <p:cNvSpPr/>
          <p:nvPr/>
        </p:nvSpPr>
        <p:spPr>
          <a:xfrm>
            <a:off x="820727" y="5920740"/>
            <a:ext cx="10515600" cy="594360"/>
          </a:xfrm>
          <a:prstGeom prst="rect">
            <a:avLst/>
          </a:prstGeom>
          <a:noFill/>
          <a:ln/>
        </p:spPr>
        <p:txBody>
          <a:bodyPr wrap="square" rtlCol="0" anchor="ctr"/>
          <a:lstStyle/>
          <a:p>
            <a:pPr marL="0" indent="0">
              <a:buNone/>
            </a:pPr>
            <a:r>
              <a:rPr lang="en-US" i="1" dirty="0">
                <a:solidFill>
                  <a:srgbClr val="D7E6F0"/>
                </a:solidFill>
                <a:latin typeface="Calibri" pitchFamily="34" charset="0"/>
                <a:ea typeface="Calibri" pitchFamily="34" charset="-122"/>
                <a:cs typeface="Calibri" pitchFamily="34" charset="-120"/>
              </a:rPr>
              <a:t>This analysis translates raw implementation records into a single interactive view of program progress.</a:t>
            </a:r>
            <a:endParaRPr lang="en-US" dirty="0"/>
          </a:p>
        </p:txBody>
      </p:sp>
      <p:sp>
        <p:nvSpPr>
          <p:cNvPr id="32" name="Text 25"/>
          <p:cNvSpPr/>
          <p:nvPr/>
        </p:nvSpPr>
        <p:spPr>
          <a:xfrm>
            <a:off x="11599540" y="6580225"/>
            <a:ext cx="548640" cy="157894"/>
          </a:xfrm>
          <a:prstGeom prst="rect">
            <a:avLst/>
          </a:prstGeom>
          <a:noFill/>
          <a:ln/>
        </p:spPr>
        <p:txBody>
          <a:bodyPr wrap="square" rtlCol="0" anchor="ctr"/>
          <a:lstStyle/>
          <a:p>
            <a:pPr marL="0" indent="0" algn="r">
              <a:buNone/>
            </a:pPr>
            <a:r>
              <a:rPr lang="en-US" sz="1200" b="1" dirty="0">
                <a:solidFill>
                  <a:schemeClr val="bg1"/>
                </a:solidFill>
                <a:latin typeface="Calibri" pitchFamily="34" charset="0"/>
                <a:ea typeface="Calibri" pitchFamily="34" charset="-122"/>
                <a:cs typeface="Calibri" pitchFamily="34" charset="-120"/>
              </a:rPr>
              <a:t>02</a:t>
            </a:r>
            <a:endParaRPr lang="en-US" sz="1100" b="1" dirty="0">
              <a:solidFill>
                <a:schemeClr val="bg1"/>
              </a:solidFill>
            </a:endParaRPr>
          </a:p>
        </p:txBody>
      </p:sp>
      <p:sp>
        <p:nvSpPr>
          <p:cNvPr id="33" name="Text 26"/>
          <p:cNvSpPr/>
          <p:nvPr/>
        </p:nvSpPr>
        <p:spPr>
          <a:xfrm>
            <a:off x="9313540" y="6537960"/>
            <a:ext cx="2560320" cy="274320"/>
          </a:xfrm>
          <a:prstGeom prst="rect">
            <a:avLst/>
          </a:prstGeom>
          <a:noFill/>
          <a:ln/>
        </p:spPr>
        <p:txBody>
          <a:bodyPr wrap="square" rtlCol="0" anchor="ctr"/>
          <a:lstStyle/>
          <a:p>
            <a:pPr marL="0" indent="0" algn="r">
              <a:buNone/>
            </a:pPr>
            <a:r>
              <a:rPr lang="en-US" sz="1050" b="1" kern="0" spc="150" dirty="0">
                <a:solidFill>
                  <a:schemeClr val="bg1"/>
                </a:solidFill>
                <a:latin typeface="Calibri" pitchFamily="34" charset="0"/>
                <a:ea typeface="Calibri" pitchFamily="34" charset="-122"/>
                <a:cs typeface="Calibri" pitchFamily="34" charset="-120"/>
              </a:rPr>
              <a:t>INTRODUCTION</a:t>
            </a:r>
            <a:endParaRPr lang="en-US" sz="9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11480"/>
            <a:ext cx="8229600" cy="320040"/>
          </a:xfrm>
          <a:prstGeom prst="rect">
            <a:avLst/>
          </a:prstGeom>
          <a:noFill/>
          <a:ln/>
        </p:spPr>
        <p:txBody>
          <a:bodyPr wrap="square" rtlCol="0" anchor="ctr"/>
          <a:lstStyle/>
          <a:p>
            <a:pPr marL="0" indent="0">
              <a:buNone/>
            </a:pPr>
            <a:r>
              <a:rPr lang="en-US" b="1" kern="0" spc="200" dirty="0">
                <a:solidFill>
                  <a:srgbClr val="E8763C"/>
                </a:solidFill>
                <a:latin typeface="Calibri" pitchFamily="34" charset="0"/>
                <a:ea typeface="Calibri" pitchFamily="34" charset="-122"/>
                <a:cs typeface="Calibri" pitchFamily="34" charset="-120"/>
              </a:rPr>
              <a:t>THE CHALLENGE</a:t>
            </a:r>
            <a:endParaRPr lang="en-US" dirty="0"/>
          </a:p>
        </p:txBody>
      </p:sp>
      <p:sp>
        <p:nvSpPr>
          <p:cNvPr id="3" name="Text 1"/>
          <p:cNvSpPr/>
          <p:nvPr/>
        </p:nvSpPr>
        <p:spPr>
          <a:xfrm>
            <a:off x="640080" y="722757"/>
            <a:ext cx="10607040" cy="822960"/>
          </a:xfrm>
          <a:prstGeom prst="rect">
            <a:avLst/>
          </a:prstGeom>
          <a:noFill/>
          <a:ln/>
        </p:spPr>
        <p:txBody>
          <a:bodyPr wrap="square" rtlCol="0" anchor="ctr"/>
          <a:lstStyle/>
          <a:p>
            <a:pPr marL="0" indent="0">
              <a:buNone/>
            </a:pPr>
            <a:r>
              <a:rPr lang="en-US" sz="3600" b="1" u="sng" dirty="0">
                <a:solidFill>
                  <a:srgbClr val="1B2A4A"/>
                </a:solidFill>
                <a:latin typeface="Cambria" pitchFamily="34" charset="0"/>
                <a:ea typeface="Cambria" pitchFamily="34" charset="-122"/>
                <a:cs typeface="Cambria" pitchFamily="34" charset="-120"/>
              </a:rPr>
              <a:t>Problem Statement</a:t>
            </a:r>
            <a:endParaRPr lang="en-US" sz="3600" u="sng" dirty="0"/>
          </a:p>
        </p:txBody>
      </p:sp>
      <p:sp>
        <p:nvSpPr>
          <p:cNvPr id="4" name="Text 2"/>
          <p:cNvSpPr/>
          <p:nvPr/>
        </p:nvSpPr>
        <p:spPr>
          <a:xfrm>
            <a:off x="640080" y="1453896"/>
            <a:ext cx="5806440" cy="1508760"/>
          </a:xfrm>
          <a:prstGeom prst="rect">
            <a:avLst/>
          </a:prstGeom>
          <a:noFill/>
          <a:ln/>
        </p:spPr>
        <p:txBody>
          <a:bodyPr wrap="square" rtlCol="0" anchor="ctr"/>
          <a:lstStyle/>
          <a:p>
            <a:pPr marL="0" indent="0">
              <a:lnSpc>
                <a:spcPct val="128000"/>
              </a:lnSpc>
              <a:buNone/>
            </a:pPr>
            <a:r>
              <a:rPr lang="en-US" dirty="0">
                <a:latin typeface="Calibri" pitchFamily="34" charset="0"/>
                <a:ea typeface="Calibri" pitchFamily="34" charset="-122"/>
                <a:cs typeface="Calibri" pitchFamily="34" charset="-120"/>
              </a:rPr>
              <a:t>The Jal Jeevan Mission aims to provide Functional Household Tap Connections to rural households. Monitoring implementation across districts requires an analytical view of coverage, performance, and water-source dependency.</a:t>
            </a:r>
            <a:endParaRPr lang="en-US" dirty="0"/>
          </a:p>
        </p:txBody>
      </p:sp>
      <p:sp>
        <p:nvSpPr>
          <p:cNvPr id="5" name="Text 3"/>
          <p:cNvSpPr/>
          <p:nvPr/>
        </p:nvSpPr>
        <p:spPr>
          <a:xfrm>
            <a:off x="640080" y="2971800"/>
            <a:ext cx="5486400" cy="274320"/>
          </a:xfrm>
          <a:prstGeom prst="rect">
            <a:avLst/>
          </a:prstGeom>
          <a:noFill/>
          <a:ln/>
        </p:spPr>
        <p:txBody>
          <a:bodyPr wrap="square" rtlCol="0" anchor="ctr"/>
          <a:lstStyle/>
          <a:p>
            <a:pPr marL="0" indent="0">
              <a:buNone/>
            </a:pPr>
            <a:r>
              <a:rPr lang="en-US" sz="1600" b="1" kern="0" spc="150" dirty="0">
                <a:solidFill>
                  <a:srgbClr val="E8763C"/>
                </a:solidFill>
                <a:latin typeface="Calibri" pitchFamily="34" charset="0"/>
                <a:ea typeface="Calibri" pitchFamily="34" charset="-122"/>
                <a:cs typeface="Calibri" pitchFamily="34" charset="-120"/>
              </a:rPr>
              <a:t>KEY QUESTIONS</a:t>
            </a:r>
            <a:endParaRPr lang="en-US" sz="1600" dirty="0"/>
          </a:p>
        </p:txBody>
      </p:sp>
      <p:sp>
        <p:nvSpPr>
          <p:cNvPr id="6" name="Shape 4"/>
          <p:cNvSpPr/>
          <p:nvPr/>
        </p:nvSpPr>
        <p:spPr>
          <a:xfrm>
            <a:off x="657957" y="3392424"/>
            <a:ext cx="83119" cy="82296"/>
          </a:xfrm>
          <a:prstGeom prst="ellipse">
            <a:avLst/>
          </a:prstGeom>
          <a:solidFill>
            <a:srgbClr val="0B5E8C"/>
          </a:solidFill>
          <a:ln/>
        </p:spPr>
      </p:sp>
      <p:sp>
        <p:nvSpPr>
          <p:cNvPr id="7" name="Text 5"/>
          <p:cNvSpPr/>
          <p:nvPr/>
        </p:nvSpPr>
        <p:spPr>
          <a:xfrm>
            <a:off x="868680" y="3255264"/>
            <a:ext cx="5577840" cy="384048"/>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How much FHTC coverage has been achieved?</a:t>
            </a:r>
            <a:endParaRPr lang="en-US" b="1" dirty="0"/>
          </a:p>
        </p:txBody>
      </p:sp>
      <p:sp>
        <p:nvSpPr>
          <p:cNvPr id="8" name="Shape 6"/>
          <p:cNvSpPr/>
          <p:nvPr/>
        </p:nvSpPr>
        <p:spPr>
          <a:xfrm>
            <a:off x="658368" y="3849624"/>
            <a:ext cx="82296" cy="82296"/>
          </a:xfrm>
          <a:prstGeom prst="ellipse">
            <a:avLst/>
          </a:prstGeom>
          <a:solidFill>
            <a:srgbClr val="0B5E8C"/>
          </a:solidFill>
          <a:ln/>
        </p:spPr>
      </p:sp>
      <p:sp>
        <p:nvSpPr>
          <p:cNvPr id="9" name="Text 7"/>
          <p:cNvSpPr/>
          <p:nvPr/>
        </p:nvSpPr>
        <p:spPr>
          <a:xfrm>
            <a:off x="868680" y="3712464"/>
            <a:ext cx="5577840" cy="384048"/>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Which districts are performing better or worse?</a:t>
            </a:r>
            <a:endParaRPr lang="en-US" b="1" dirty="0"/>
          </a:p>
        </p:txBody>
      </p:sp>
      <p:sp>
        <p:nvSpPr>
          <p:cNvPr id="10" name="Shape 8"/>
          <p:cNvSpPr/>
          <p:nvPr/>
        </p:nvSpPr>
        <p:spPr>
          <a:xfrm>
            <a:off x="658368" y="4306824"/>
            <a:ext cx="82296" cy="82296"/>
          </a:xfrm>
          <a:prstGeom prst="ellipse">
            <a:avLst/>
          </a:prstGeom>
          <a:solidFill>
            <a:srgbClr val="0B5E8C"/>
          </a:solidFill>
          <a:ln/>
        </p:spPr>
      </p:sp>
      <p:sp>
        <p:nvSpPr>
          <p:cNvPr id="11" name="Text 9"/>
          <p:cNvSpPr/>
          <p:nvPr/>
        </p:nvSpPr>
        <p:spPr>
          <a:xfrm>
            <a:off x="868680" y="4169664"/>
            <a:ext cx="5577840" cy="384048"/>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How has FHTC provision changed over time?</a:t>
            </a:r>
            <a:endParaRPr lang="en-US" b="1" dirty="0"/>
          </a:p>
        </p:txBody>
      </p:sp>
      <p:sp>
        <p:nvSpPr>
          <p:cNvPr id="12" name="Shape 10"/>
          <p:cNvSpPr/>
          <p:nvPr/>
        </p:nvSpPr>
        <p:spPr>
          <a:xfrm>
            <a:off x="658368" y="4764024"/>
            <a:ext cx="82296" cy="82296"/>
          </a:xfrm>
          <a:prstGeom prst="ellipse">
            <a:avLst/>
          </a:prstGeom>
          <a:solidFill>
            <a:srgbClr val="0B5E8C"/>
          </a:solidFill>
          <a:ln/>
        </p:spPr>
      </p:sp>
      <p:sp>
        <p:nvSpPr>
          <p:cNvPr id="13" name="Text 11"/>
          <p:cNvSpPr/>
          <p:nvPr/>
        </p:nvSpPr>
        <p:spPr>
          <a:xfrm>
            <a:off x="868680" y="4626864"/>
            <a:ext cx="5577840" cy="384048"/>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What is the distribution between groundwater and surface water?</a:t>
            </a:r>
            <a:endParaRPr lang="en-US" b="1" dirty="0"/>
          </a:p>
        </p:txBody>
      </p:sp>
      <p:sp>
        <p:nvSpPr>
          <p:cNvPr id="14" name="Shape 12"/>
          <p:cNvSpPr/>
          <p:nvPr/>
        </p:nvSpPr>
        <p:spPr>
          <a:xfrm>
            <a:off x="658368" y="5221224"/>
            <a:ext cx="82296" cy="82296"/>
          </a:xfrm>
          <a:prstGeom prst="ellipse">
            <a:avLst/>
          </a:prstGeom>
          <a:solidFill>
            <a:srgbClr val="0B5E8C"/>
          </a:solidFill>
          <a:ln/>
        </p:spPr>
      </p:sp>
      <p:sp>
        <p:nvSpPr>
          <p:cNvPr id="15" name="Text 13"/>
          <p:cNvSpPr/>
          <p:nvPr/>
        </p:nvSpPr>
        <p:spPr>
          <a:xfrm>
            <a:off x="868680" y="5084064"/>
            <a:ext cx="5577840" cy="384048"/>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Which districts may require additional attention?</a:t>
            </a:r>
            <a:endParaRPr lang="en-US" b="1" dirty="0"/>
          </a:p>
        </p:txBody>
      </p:sp>
      <p:sp>
        <p:nvSpPr>
          <p:cNvPr id="30" name="Text 25"/>
          <p:cNvSpPr/>
          <p:nvPr/>
        </p:nvSpPr>
        <p:spPr>
          <a:xfrm>
            <a:off x="7075155" y="4284144"/>
            <a:ext cx="3657600" cy="347472"/>
          </a:xfrm>
          <a:prstGeom prst="rect">
            <a:avLst/>
          </a:prstGeom>
          <a:noFill/>
          <a:ln/>
        </p:spPr>
        <p:txBody>
          <a:bodyPr wrap="square" rtlCol="0" anchor="ctr"/>
          <a:lstStyle/>
          <a:p>
            <a:pPr marL="0" indent="0">
              <a:buNone/>
            </a:pPr>
            <a:endParaRPr lang="en-US" sz="1080" dirty="0"/>
          </a:p>
        </p:txBody>
      </p:sp>
      <p:sp>
        <p:nvSpPr>
          <p:cNvPr id="33" name="Text 27"/>
          <p:cNvSpPr/>
          <p:nvPr/>
        </p:nvSpPr>
        <p:spPr>
          <a:xfrm>
            <a:off x="7498080" y="5463540"/>
            <a:ext cx="3657600" cy="347472"/>
          </a:xfrm>
          <a:prstGeom prst="rect">
            <a:avLst/>
          </a:prstGeom>
          <a:noFill/>
          <a:ln/>
        </p:spPr>
        <p:txBody>
          <a:bodyPr wrap="square" rtlCol="0" anchor="ctr"/>
          <a:lstStyle/>
          <a:p>
            <a:pPr marL="0" indent="0">
              <a:buNone/>
            </a:pPr>
            <a:endParaRPr lang="en-US" sz="1200" b="1" dirty="0"/>
          </a:p>
        </p:txBody>
      </p:sp>
      <p:sp>
        <p:nvSpPr>
          <p:cNvPr id="34" name="Text 28"/>
          <p:cNvSpPr/>
          <p:nvPr/>
        </p:nvSpPr>
        <p:spPr>
          <a:xfrm>
            <a:off x="11368735" y="6400800"/>
            <a:ext cx="548640" cy="274320"/>
          </a:xfrm>
          <a:prstGeom prst="rect">
            <a:avLst/>
          </a:prstGeom>
          <a:noFill/>
          <a:ln/>
        </p:spPr>
        <p:txBody>
          <a:bodyPr wrap="square" rtlCol="0" anchor="ctr"/>
          <a:lstStyle/>
          <a:p>
            <a:pPr marL="0" indent="0" algn="r">
              <a:buNone/>
            </a:pPr>
            <a:r>
              <a:rPr lang="en-US" sz="1000" b="1" dirty="0">
                <a:solidFill>
                  <a:schemeClr val="bg1"/>
                </a:solidFill>
                <a:latin typeface="Calibri" pitchFamily="34" charset="0"/>
                <a:ea typeface="Calibri" pitchFamily="34" charset="-122"/>
                <a:cs typeface="Calibri" pitchFamily="34" charset="-120"/>
              </a:rPr>
              <a:t>03</a:t>
            </a:r>
            <a:endParaRPr lang="en-US" sz="1000" b="1" dirty="0">
              <a:solidFill>
                <a:schemeClr val="bg1"/>
              </a:solidFill>
            </a:endParaRPr>
          </a:p>
        </p:txBody>
      </p:sp>
      <p:sp>
        <p:nvSpPr>
          <p:cNvPr id="35" name="Text 29"/>
          <p:cNvSpPr/>
          <p:nvPr/>
        </p:nvSpPr>
        <p:spPr>
          <a:xfrm>
            <a:off x="8899855" y="6400800"/>
            <a:ext cx="2560320" cy="274320"/>
          </a:xfrm>
          <a:prstGeom prst="rect">
            <a:avLst/>
          </a:prstGeom>
          <a:noFill/>
          <a:ln/>
        </p:spPr>
        <p:txBody>
          <a:bodyPr wrap="square" rtlCol="0" anchor="ctr"/>
          <a:lstStyle/>
          <a:p>
            <a:pPr marL="0" indent="0" algn="r">
              <a:buNone/>
            </a:pPr>
            <a:r>
              <a:rPr lang="en-US" sz="1000" b="1" kern="0" spc="150" dirty="0">
                <a:solidFill>
                  <a:schemeClr val="bg1"/>
                </a:solidFill>
                <a:latin typeface="Calibri" pitchFamily="34" charset="0"/>
                <a:ea typeface="Calibri" pitchFamily="34" charset="-122"/>
                <a:cs typeface="Calibri" pitchFamily="34" charset="-120"/>
              </a:rPr>
              <a:t>PROBLEM STATEMENT</a:t>
            </a:r>
            <a:endParaRPr lang="en-US" sz="1000" b="1" dirty="0">
              <a:solidFill>
                <a:schemeClr val="bg1"/>
              </a:solidFill>
            </a:endParaRPr>
          </a:p>
        </p:txBody>
      </p:sp>
      <p:grpSp>
        <p:nvGrpSpPr>
          <p:cNvPr id="59" name="Group 58">
            <a:extLst>
              <a:ext uri="{FF2B5EF4-FFF2-40B4-BE49-F238E27FC236}">
                <a16:creationId xmlns:a16="http://schemas.microsoft.com/office/drawing/2014/main" id="{09D276EA-6348-F674-FE72-829E54BFEF7A}"/>
              </a:ext>
            </a:extLst>
          </p:cNvPr>
          <p:cNvGrpSpPr/>
          <p:nvPr/>
        </p:nvGrpSpPr>
        <p:grpSpPr>
          <a:xfrm>
            <a:off x="6421485" y="114120"/>
            <a:ext cx="6503865" cy="6264000"/>
            <a:chOff x="2408729" y="-885862"/>
            <a:chExt cx="6503865" cy="6264000"/>
          </a:xfrm>
        </p:grpSpPr>
        <p:sp>
          <p:nvSpPr>
            <p:cNvPr id="16" name="Shape 14"/>
            <p:cNvSpPr/>
            <p:nvPr/>
          </p:nvSpPr>
          <p:spPr>
            <a:xfrm>
              <a:off x="2408729" y="-885862"/>
              <a:ext cx="5400000" cy="6264000"/>
            </a:xfrm>
            <a:prstGeom prst="roundRect">
              <a:avLst>
                <a:gd name="adj" fmla="val 2105"/>
              </a:avLst>
            </a:prstGeom>
            <a:solidFill>
              <a:srgbClr val="1B2A4A"/>
            </a:solidFill>
            <a:ln/>
            <a:effectLst>
              <a:outerShdw blurRad="177800" dist="63500" dir="5400000" algn="bl" rotWithShape="0">
                <a:srgbClr val="000000">
                  <a:alpha val="22000"/>
                </a:srgbClr>
              </a:outerShdw>
            </a:effectLst>
          </p:spPr>
          <p:txBody>
            <a:bodyPr/>
            <a:lstStyle/>
            <a:p>
              <a:endParaRPr lang="en-IN" dirty="0"/>
            </a:p>
          </p:txBody>
        </p:sp>
        <p:sp>
          <p:nvSpPr>
            <p:cNvPr id="45" name="Shape 24">
              <a:extLst>
                <a:ext uri="{FF2B5EF4-FFF2-40B4-BE49-F238E27FC236}">
                  <a16:creationId xmlns:a16="http://schemas.microsoft.com/office/drawing/2014/main" id="{C9EB625F-A249-41B1-34D8-DF26D1955DBE}"/>
                </a:ext>
              </a:extLst>
            </p:cNvPr>
            <p:cNvSpPr/>
            <p:nvPr/>
          </p:nvSpPr>
          <p:spPr>
            <a:xfrm>
              <a:off x="2714915" y="2564426"/>
              <a:ext cx="4787629" cy="501120"/>
            </a:xfrm>
            <a:prstGeom prst="roundRect">
              <a:avLst>
                <a:gd name="adj" fmla="val 15789"/>
              </a:avLst>
            </a:prstGeom>
            <a:solidFill>
              <a:srgbClr val="24365C"/>
            </a:solidFill>
            <a:ln/>
          </p:spPr>
        </p:sp>
        <p:grpSp>
          <p:nvGrpSpPr>
            <p:cNvPr id="58" name="Group 57">
              <a:extLst>
                <a:ext uri="{FF2B5EF4-FFF2-40B4-BE49-F238E27FC236}">
                  <a16:creationId xmlns:a16="http://schemas.microsoft.com/office/drawing/2014/main" id="{88103963-4941-CB12-A5F4-25D7B857DC5C}"/>
                </a:ext>
              </a:extLst>
            </p:cNvPr>
            <p:cNvGrpSpPr/>
            <p:nvPr/>
          </p:nvGrpSpPr>
          <p:grpSpPr>
            <a:xfrm>
              <a:off x="2635695" y="-632436"/>
              <a:ext cx="6276899" cy="5716724"/>
              <a:chOff x="2635695" y="-632436"/>
              <a:chExt cx="6276899" cy="5716724"/>
            </a:xfrm>
          </p:grpSpPr>
          <p:sp>
            <p:nvSpPr>
              <p:cNvPr id="17" name="Shape 15"/>
              <p:cNvSpPr/>
              <p:nvPr/>
            </p:nvSpPr>
            <p:spPr>
              <a:xfrm>
                <a:off x="2635695" y="-632436"/>
                <a:ext cx="727148" cy="725305"/>
              </a:xfrm>
              <a:prstGeom prst="ellipse">
                <a:avLst/>
              </a:prstGeom>
              <a:solidFill>
                <a:srgbClr val="27395F"/>
              </a:solidFill>
              <a:ln/>
            </p:spPr>
          </p:sp>
          <p:pic>
            <p:nvPicPr>
              <p:cNvPr id="18" name="Image 0" descr="icons/triangleExclamation_E8763C.png"/>
              <p:cNvPicPr>
                <a:picLocks noChangeAspect="1"/>
              </p:cNvPicPr>
              <p:nvPr/>
            </p:nvPicPr>
            <p:blipFill>
              <a:blip r:embed="rId3"/>
              <a:stretch>
                <a:fillRect/>
              </a:stretch>
            </p:blipFill>
            <p:spPr>
              <a:xfrm>
                <a:off x="2848959" y="-457164"/>
                <a:ext cx="300619" cy="356059"/>
              </a:xfrm>
              <a:prstGeom prst="rect">
                <a:avLst/>
              </a:prstGeom>
            </p:spPr>
          </p:pic>
          <p:sp>
            <p:nvSpPr>
              <p:cNvPr id="19" name="Text 16"/>
              <p:cNvSpPr/>
              <p:nvPr/>
            </p:nvSpPr>
            <p:spPr>
              <a:xfrm>
                <a:off x="3529852" y="-592874"/>
                <a:ext cx="4008247" cy="659368"/>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From Data → Decisions</a:t>
                </a:r>
                <a:endParaRPr lang="en-US" sz="1600" dirty="0"/>
              </a:p>
            </p:txBody>
          </p:sp>
          <p:sp>
            <p:nvSpPr>
              <p:cNvPr id="21" name="Text 18"/>
              <p:cNvSpPr/>
              <p:nvPr/>
            </p:nvSpPr>
            <p:spPr>
              <a:xfrm>
                <a:off x="2750471" y="462116"/>
                <a:ext cx="4787629" cy="369246"/>
              </a:xfrm>
              <a:prstGeom prst="rect">
                <a:avLst/>
              </a:prstGeom>
              <a:noFill/>
              <a:ln/>
            </p:spPr>
            <p:txBody>
              <a:bodyPr wrap="square" rtlCol="0" anchor="ctr"/>
              <a:lstStyle/>
              <a:p>
                <a:pPr marL="0" indent="0">
                  <a:buNone/>
                </a:pPr>
                <a:r>
                  <a:rPr lang="en-US" sz="1200" b="1" kern="0" spc="150" dirty="0">
                    <a:solidFill>
                      <a:srgbClr val="9FC6E0"/>
                    </a:solidFill>
                    <a:latin typeface="Calibri" pitchFamily="34" charset="0"/>
                    <a:ea typeface="Calibri" pitchFamily="34" charset="-122"/>
                    <a:cs typeface="Calibri" pitchFamily="34" charset="-120"/>
                  </a:rPr>
                  <a:t>ANALYTICAL NEED</a:t>
                </a:r>
                <a:endParaRPr lang="en-US" sz="1200" dirty="0"/>
              </a:p>
            </p:txBody>
          </p:sp>
          <p:sp>
            <p:nvSpPr>
              <p:cNvPr id="22" name="Text 19"/>
              <p:cNvSpPr/>
              <p:nvPr/>
            </p:nvSpPr>
            <p:spPr>
              <a:xfrm>
                <a:off x="2750471" y="870924"/>
                <a:ext cx="4843299" cy="1648421"/>
              </a:xfrm>
              <a:prstGeom prst="rect">
                <a:avLst/>
              </a:prstGeom>
              <a:noFill/>
              <a:ln/>
            </p:spPr>
            <p:txBody>
              <a:bodyPr wrap="square" rtlCol="0" anchor="ctr"/>
              <a:lstStyle/>
              <a:p>
                <a:pPr marL="0" indent="0">
                  <a:lnSpc>
                    <a:spcPct val="128000"/>
                  </a:lnSpc>
                  <a:buNone/>
                </a:pPr>
                <a:r>
                  <a:rPr lang="en-US" sz="1600" i="1" dirty="0">
                    <a:solidFill>
                      <a:srgbClr val="FFFFFF"/>
                    </a:solidFill>
                    <a:latin typeface="Cambria" pitchFamily="34" charset="0"/>
                    <a:ea typeface="Cambria" pitchFamily="34" charset="-122"/>
                    <a:cs typeface="Cambria" pitchFamily="34" charset="-120"/>
                  </a:rPr>
                  <a:t>An interactive analytical dashboard can help convert implementation data into actionable insights for monitoring, comparison, and decision-making.</a:t>
                </a:r>
                <a:endParaRPr lang="en-US" sz="1600" dirty="0"/>
              </a:p>
            </p:txBody>
          </p:sp>
          <p:sp>
            <p:nvSpPr>
              <p:cNvPr id="27" name="Text 23"/>
              <p:cNvSpPr/>
              <p:nvPr/>
            </p:nvSpPr>
            <p:spPr>
              <a:xfrm>
                <a:off x="2917481" y="3330368"/>
                <a:ext cx="4453608" cy="501120"/>
              </a:xfrm>
              <a:prstGeom prst="rect">
                <a:avLst/>
              </a:prstGeom>
              <a:noFill/>
              <a:ln/>
            </p:spPr>
            <p:txBody>
              <a:bodyPr wrap="square" rtlCol="0" anchor="ctr"/>
              <a:lstStyle/>
              <a:p>
                <a:pPr marL="0" indent="0">
                  <a:buNone/>
                </a:pPr>
                <a:endParaRPr lang="en-US" sz="1200" b="1" dirty="0"/>
              </a:p>
            </p:txBody>
          </p:sp>
          <p:sp>
            <p:nvSpPr>
              <p:cNvPr id="29" name="Shape 24"/>
              <p:cNvSpPr/>
              <p:nvPr/>
            </p:nvSpPr>
            <p:spPr>
              <a:xfrm>
                <a:off x="2750471" y="3901197"/>
                <a:ext cx="4787629" cy="501120"/>
              </a:xfrm>
              <a:prstGeom prst="roundRect">
                <a:avLst>
                  <a:gd name="adj" fmla="val 15789"/>
                </a:avLst>
              </a:prstGeom>
              <a:solidFill>
                <a:srgbClr val="24365C"/>
              </a:solidFill>
              <a:ln/>
            </p:spPr>
          </p:sp>
          <p:sp>
            <p:nvSpPr>
              <p:cNvPr id="32" name="Shape 26"/>
              <p:cNvSpPr/>
              <p:nvPr/>
            </p:nvSpPr>
            <p:spPr>
              <a:xfrm>
                <a:off x="2750471" y="4583168"/>
                <a:ext cx="4787629" cy="501120"/>
              </a:xfrm>
              <a:prstGeom prst="roundRect">
                <a:avLst>
                  <a:gd name="adj" fmla="val 15789"/>
                </a:avLst>
              </a:prstGeom>
              <a:solidFill>
                <a:srgbClr val="24365C"/>
              </a:solidFill>
              <a:ln/>
            </p:spPr>
          </p:sp>
          <p:sp>
            <p:nvSpPr>
              <p:cNvPr id="24" name="Text 21"/>
              <p:cNvSpPr/>
              <p:nvPr/>
            </p:nvSpPr>
            <p:spPr>
              <a:xfrm>
                <a:off x="2760028" y="2152010"/>
                <a:ext cx="4453608" cy="549351"/>
              </a:xfrm>
              <a:prstGeom prst="rect">
                <a:avLst/>
              </a:prstGeom>
              <a:noFill/>
              <a:ln/>
            </p:spPr>
            <p:txBody>
              <a:bodyPr wrap="square" rtlCol="0" anchor="ctr"/>
              <a:lstStyle/>
              <a:p>
                <a:pPr marL="0" indent="0">
                  <a:buNone/>
                </a:pPr>
                <a:endParaRPr lang="en-US" sz="1200" b="1" dirty="0"/>
              </a:p>
            </p:txBody>
          </p:sp>
          <p:grpSp>
            <p:nvGrpSpPr>
              <p:cNvPr id="55" name="Group 54">
                <a:extLst>
                  <a:ext uri="{FF2B5EF4-FFF2-40B4-BE49-F238E27FC236}">
                    <a16:creationId xmlns:a16="http://schemas.microsoft.com/office/drawing/2014/main" id="{591F8D24-6012-EA0C-317D-6641C090418B}"/>
                  </a:ext>
                </a:extLst>
              </p:cNvPr>
              <p:cNvGrpSpPr/>
              <p:nvPr/>
            </p:nvGrpSpPr>
            <p:grpSpPr>
              <a:xfrm>
                <a:off x="2724472" y="2638668"/>
                <a:ext cx="6188122" cy="2342526"/>
                <a:chOff x="2734029" y="2638668"/>
                <a:chExt cx="6188122" cy="2342526"/>
              </a:xfrm>
            </p:grpSpPr>
            <p:sp>
              <p:nvSpPr>
                <p:cNvPr id="38" name="TextBox 37">
                  <a:extLst>
                    <a:ext uri="{FF2B5EF4-FFF2-40B4-BE49-F238E27FC236}">
                      <a16:creationId xmlns:a16="http://schemas.microsoft.com/office/drawing/2014/main" id="{2453771F-372D-75A4-86EC-8B1DD1979EB6}"/>
                    </a:ext>
                  </a:extLst>
                </p:cNvPr>
                <p:cNvSpPr txBox="1"/>
                <p:nvPr/>
              </p:nvSpPr>
              <p:spPr>
                <a:xfrm>
                  <a:off x="2765756" y="3946136"/>
                  <a:ext cx="6105524" cy="369332"/>
                </a:xfrm>
                <a:prstGeom prst="rect">
                  <a:avLst/>
                </a:prstGeom>
                <a:noFill/>
              </p:spPr>
              <p:txBody>
                <a:bodyPr wrap="square">
                  <a:spAutoFit/>
                </a:bodyPr>
                <a:lstStyle/>
                <a:p>
                  <a:pPr marL="0" indent="0">
                    <a:buNone/>
                  </a:pPr>
                  <a:r>
                    <a:rPr lang="en-US" sz="1800" dirty="0">
                      <a:solidFill>
                        <a:srgbClr val="FFFFFF"/>
                      </a:solidFill>
                      <a:latin typeface="Calibri" pitchFamily="34" charset="0"/>
                      <a:ea typeface="Calibri" pitchFamily="34" charset="-122"/>
                      <a:cs typeface="Calibri" pitchFamily="34" charset="-120"/>
                    </a:rPr>
                    <a:t>Interactive Dashboard</a:t>
                  </a:r>
                  <a:endParaRPr lang="en-US" sz="1800" dirty="0"/>
                </a:p>
              </p:txBody>
            </p:sp>
            <p:sp>
              <p:nvSpPr>
                <p:cNvPr id="40" name="TextBox 39">
                  <a:extLst>
                    <a:ext uri="{FF2B5EF4-FFF2-40B4-BE49-F238E27FC236}">
                      <a16:creationId xmlns:a16="http://schemas.microsoft.com/office/drawing/2014/main" id="{59793D95-2B0C-023F-C1D9-19EB815B0B49}"/>
                    </a:ext>
                  </a:extLst>
                </p:cNvPr>
                <p:cNvSpPr txBox="1"/>
                <p:nvPr/>
              </p:nvSpPr>
              <p:spPr>
                <a:xfrm>
                  <a:off x="2816627" y="4611862"/>
                  <a:ext cx="6105524" cy="369332"/>
                </a:xfrm>
                <a:prstGeom prst="rect">
                  <a:avLst/>
                </a:prstGeom>
                <a:noFill/>
              </p:spPr>
              <p:txBody>
                <a:bodyPr wrap="square">
                  <a:spAutoFit/>
                </a:bodyPr>
                <a:lstStyle/>
                <a:p>
                  <a:pPr marL="0" indent="0">
                    <a:buNone/>
                  </a:pPr>
                  <a:r>
                    <a:rPr lang="en-US" sz="1800" b="1" dirty="0">
                      <a:solidFill>
                        <a:srgbClr val="FFFFFF"/>
                      </a:solidFill>
                      <a:latin typeface="Calibri" pitchFamily="34" charset="0"/>
                      <a:ea typeface="Calibri" pitchFamily="34" charset="-122"/>
                      <a:cs typeface="Calibri" pitchFamily="34" charset="-120"/>
                    </a:rPr>
                    <a:t>Actionable Insight</a:t>
                  </a:r>
                  <a:endParaRPr lang="en-US" sz="1800" b="1" dirty="0"/>
                </a:p>
              </p:txBody>
            </p:sp>
            <p:sp>
              <p:nvSpPr>
                <p:cNvPr id="44" name="Shape 24">
                  <a:extLst>
                    <a:ext uri="{FF2B5EF4-FFF2-40B4-BE49-F238E27FC236}">
                      <a16:creationId xmlns:a16="http://schemas.microsoft.com/office/drawing/2014/main" id="{F3A88983-E6F2-9DCB-1189-3146DB657768}"/>
                    </a:ext>
                  </a:extLst>
                </p:cNvPr>
                <p:cNvSpPr/>
                <p:nvPr/>
              </p:nvSpPr>
              <p:spPr>
                <a:xfrm>
                  <a:off x="2734029" y="3222773"/>
                  <a:ext cx="4787629" cy="501120"/>
                </a:xfrm>
                <a:prstGeom prst="roundRect">
                  <a:avLst>
                    <a:gd name="adj" fmla="val 15789"/>
                  </a:avLst>
                </a:prstGeom>
                <a:solidFill>
                  <a:srgbClr val="24365C"/>
                </a:solidFill>
                <a:ln/>
              </p:spPr>
            </p:sp>
            <p:sp>
              <p:nvSpPr>
                <p:cNvPr id="43" name="TextBox 42">
                  <a:extLst>
                    <a:ext uri="{FF2B5EF4-FFF2-40B4-BE49-F238E27FC236}">
                      <a16:creationId xmlns:a16="http://schemas.microsoft.com/office/drawing/2014/main" id="{688022CF-3267-45E5-66CF-CFE362D83A75}"/>
                    </a:ext>
                  </a:extLst>
                </p:cNvPr>
                <p:cNvSpPr txBox="1"/>
                <p:nvPr/>
              </p:nvSpPr>
              <p:spPr>
                <a:xfrm>
                  <a:off x="2807070" y="3279871"/>
                  <a:ext cx="6105524" cy="369332"/>
                </a:xfrm>
                <a:prstGeom prst="rect">
                  <a:avLst/>
                </a:prstGeom>
                <a:noFill/>
              </p:spPr>
              <p:txBody>
                <a:bodyPr wrap="square">
                  <a:spAutoFit/>
                </a:bodyPr>
                <a:lstStyle/>
                <a:p>
                  <a:pPr marL="0" indent="0" algn="just">
                    <a:buNone/>
                  </a:pPr>
                  <a:r>
                    <a:rPr lang="en-US" sz="1800" b="1" dirty="0">
                      <a:solidFill>
                        <a:srgbClr val="FFFFFF"/>
                      </a:solidFill>
                      <a:latin typeface="Calibri" pitchFamily="34" charset="0"/>
                      <a:ea typeface="Calibri" pitchFamily="34" charset="-122"/>
                      <a:cs typeface="Calibri" pitchFamily="34" charset="-120"/>
                    </a:rPr>
                    <a:t>Structured Analysis</a:t>
                  </a:r>
                  <a:endParaRPr lang="en-US" sz="1800" b="1" dirty="0"/>
                </a:p>
              </p:txBody>
            </p:sp>
            <p:sp>
              <p:nvSpPr>
                <p:cNvPr id="47" name="TextBox 46">
                  <a:extLst>
                    <a:ext uri="{FF2B5EF4-FFF2-40B4-BE49-F238E27FC236}">
                      <a16:creationId xmlns:a16="http://schemas.microsoft.com/office/drawing/2014/main" id="{889068DC-DC03-9A33-AA73-889026CA04EC}"/>
                    </a:ext>
                  </a:extLst>
                </p:cNvPr>
                <p:cNvSpPr txBox="1"/>
                <p:nvPr/>
              </p:nvSpPr>
              <p:spPr>
                <a:xfrm>
                  <a:off x="2734029" y="2638668"/>
                  <a:ext cx="6105524" cy="369332"/>
                </a:xfrm>
                <a:prstGeom prst="rect">
                  <a:avLst/>
                </a:prstGeom>
                <a:noFill/>
              </p:spPr>
              <p:txBody>
                <a:bodyPr wrap="square">
                  <a:spAutoFit/>
                </a:bodyPr>
                <a:lstStyle/>
                <a:p>
                  <a:pPr marL="0" indent="0">
                    <a:buNone/>
                  </a:pPr>
                  <a:r>
                    <a:rPr lang="en-US" sz="1800" b="1" dirty="0">
                      <a:solidFill>
                        <a:srgbClr val="FFFFFF"/>
                      </a:solidFill>
                      <a:latin typeface="Calibri" pitchFamily="34" charset="0"/>
                      <a:ea typeface="Calibri" pitchFamily="34" charset="-122"/>
                      <a:cs typeface="Calibri" pitchFamily="34" charset="-120"/>
                    </a:rPr>
                    <a:t>Raw Implementation Data</a:t>
                  </a:r>
                  <a:endParaRPr lang="en-US" sz="1800" b="1" dirty="0"/>
                </a:p>
              </p:txBody>
            </p:sp>
            <p:pic>
              <p:nvPicPr>
                <p:cNvPr id="49" name="Picture 48">
                  <a:extLst>
                    <a:ext uri="{FF2B5EF4-FFF2-40B4-BE49-F238E27FC236}">
                      <a16:creationId xmlns:a16="http://schemas.microsoft.com/office/drawing/2014/main" id="{8EDBD191-8E88-893F-4F71-1BCA3EF054FA}"/>
                    </a:ext>
                  </a:extLst>
                </p:cNvPr>
                <p:cNvPicPr>
                  <a:picLocks noChangeAspect="1"/>
                </p:cNvPicPr>
                <p:nvPr/>
              </p:nvPicPr>
              <p:blipFill>
                <a:blip r:embed="rId4"/>
                <a:stretch>
                  <a:fillRect/>
                </a:stretch>
              </p:blipFill>
              <p:spPr>
                <a:xfrm>
                  <a:off x="4778127" y="3065098"/>
                  <a:ext cx="134124" cy="140220"/>
                </a:xfrm>
                <a:prstGeom prst="rect">
                  <a:avLst/>
                </a:prstGeom>
              </p:spPr>
            </p:pic>
            <p:pic>
              <p:nvPicPr>
                <p:cNvPr id="51" name="Image 2" descr="icons/arrowDown_9FC6E0.png"/>
                <p:cNvPicPr>
                  <a:picLocks noChangeAspect="1"/>
                </p:cNvPicPr>
                <p:nvPr/>
              </p:nvPicPr>
              <p:blipFill>
                <a:blip r:embed="rId5"/>
                <a:stretch>
                  <a:fillRect/>
                </a:stretch>
              </p:blipFill>
              <p:spPr>
                <a:xfrm>
                  <a:off x="4754880" y="4410759"/>
                  <a:ext cx="137160" cy="137160"/>
                </a:xfrm>
                <a:prstGeom prst="rect">
                  <a:avLst/>
                </a:prstGeom>
              </p:spPr>
            </p:pic>
            <p:pic>
              <p:nvPicPr>
                <p:cNvPr id="52" name="Image 2" descr="icons/arrowDown_9FC6E0.png">
                  <a:extLst>
                    <a:ext uri="{FF2B5EF4-FFF2-40B4-BE49-F238E27FC236}">
                      <a16:creationId xmlns:a16="http://schemas.microsoft.com/office/drawing/2014/main" id="{571E7224-B198-9551-4FF8-427FBCB22478}"/>
                    </a:ext>
                  </a:extLst>
                </p:cNvPr>
                <p:cNvPicPr>
                  <a:picLocks noChangeAspect="1"/>
                </p:cNvPicPr>
                <p:nvPr/>
              </p:nvPicPr>
              <p:blipFill>
                <a:blip r:embed="rId5"/>
                <a:stretch>
                  <a:fillRect/>
                </a:stretch>
              </p:blipFill>
              <p:spPr>
                <a:xfrm>
                  <a:off x="4754558" y="3762306"/>
                  <a:ext cx="137160" cy="137160"/>
                </a:xfrm>
                <a:prstGeom prst="rect">
                  <a:avLst/>
                </a:prstGeom>
              </p:spPr>
            </p:pic>
          </p:gr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11480"/>
            <a:ext cx="8229600" cy="320040"/>
          </a:xfrm>
          <a:prstGeom prst="rect">
            <a:avLst/>
          </a:prstGeom>
          <a:noFill/>
          <a:ln/>
        </p:spPr>
        <p:txBody>
          <a:bodyPr wrap="square" rtlCol="0" anchor="ctr"/>
          <a:lstStyle/>
          <a:p>
            <a:pPr marL="0" indent="0">
              <a:buNone/>
            </a:pPr>
            <a:r>
              <a:rPr lang="en-US" sz="2000" b="1" kern="0" spc="200" dirty="0">
                <a:solidFill>
                  <a:srgbClr val="E8763C"/>
                </a:solidFill>
                <a:latin typeface="Calibri" pitchFamily="34" charset="0"/>
                <a:ea typeface="Calibri" pitchFamily="34" charset="-122"/>
                <a:cs typeface="Calibri" pitchFamily="34" charset="-120"/>
              </a:rPr>
              <a:t>ROADMAP</a:t>
            </a:r>
            <a:endParaRPr lang="en-US" sz="2000" b="1" dirty="0"/>
          </a:p>
        </p:txBody>
      </p:sp>
      <p:sp>
        <p:nvSpPr>
          <p:cNvPr id="3" name="Text 1"/>
          <p:cNvSpPr/>
          <p:nvPr/>
        </p:nvSpPr>
        <p:spPr>
          <a:xfrm>
            <a:off x="640080" y="713232"/>
            <a:ext cx="10607040" cy="822960"/>
          </a:xfrm>
          <a:prstGeom prst="rect">
            <a:avLst/>
          </a:prstGeom>
          <a:noFill/>
          <a:ln/>
        </p:spPr>
        <p:txBody>
          <a:bodyPr wrap="square" rtlCol="0" anchor="ctr"/>
          <a:lstStyle/>
          <a:p>
            <a:pPr marL="0" indent="0">
              <a:buNone/>
            </a:pPr>
            <a:r>
              <a:rPr lang="en-US" sz="3600" b="1" u="sng" dirty="0">
                <a:solidFill>
                  <a:srgbClr val="1B2A4A"/>
                </a:solidFill>
                <a:latin typeface="Cambria" pitchFamily="34" charset="0"/>
                <a:ea typeface="Cambria" pitchFamily="34" charset="-122"/>
                <a:cs typeface="Cambria" pitchFamily="34" charset="-120"/>
              </a:rPr>
              <a:t>Project Objectives</a:t>
            </a:r>
            <a:endParaRPr lang="en-US" sz="3600" u="sng" dirty="0"/>
          </a:p>
        </p:txBody>
      </p:sp>
      <p:sp>
        <p:nvSpPr>
          <p:cNvPr id="6" name="Shape 4"/>
          <p:cNvSpPr/>
          <p:nvPr/>
        </p:nvSpPr>
        <p:spPr>
          <a:xfrm>
            <a:off x="2596896" y="1856232"/>
            <a:ext cx="457200" cy="457200"/>
          </a:xfrm>
          <a:prstGeom prst="ellipse">
            <a:avLst/>
          </a:prstGeom>
          <a:solidFill>
            <a:srgbClr val="EAF2F8"/>
          </a:solidFill>
          <a:ln/>
        </p:spPr>
      </p:sp>
      <p:grpSp>
        <p:nvGrpSpPr>
          <p:cNvPr id="46" name="Group 45">
            <a:extLst>
              <a:ext uri="{FF2B5EF4-FFF2-40B4-BE49-F238E27FC236}">
                <a16:creationId xmlns:a16="http://schemas.microsoft.com/office/drawing/2014/main" id="{69397C1D-6A32-0B5F-2E07-70FF2DD28F03}"/>
              </a:ext>
            </a:extLst>
          </p:cNvPr>
          <p:cNvGrpSpPr/>
          <p:nvPr/>
        </p:nvGrpSpPr>
        <p:grpSpPr>
          <a:xfrm>
            <a:off x="640080" y="1691640"/>
            <a:ext cx="2615184" cy="1874520"/>
            <a:chOff x="640080" y="1691640"/>
            <a:chExt cx="2615184" cy="1874520"/>
          </a:xfrm>
        </p:grpSpPr>
        <p:sp>
          <p:nvSpPr>
            <p:cNvPr id="4" name="Shape 2"/>
            <p:cNvSpPr/>
            <p:nvPr/>
          </p:nvSpPr>
          <p:spPr>
            <a:xfrm>
              <a:off x="640080" y="1691640"/>
              <a:ext cx="2615184" cy="1874520"/>
            </a:xfrm>
            <a:prstGeom prst="roundRect">
              <a:avLst>
                <a:gd name="adj" fmla="val 4390"/>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5" name="Text 3"/>
            <p:cNvSpPr/>
            <p:nvPr/>
          </p:nvSpPr>
          <p:spPr>
            <a:xfrm>
              <a:off x="804672" y="1801368"/>
              <a:ext cx="1097280" cy="502920"/>
            </a:xfrm>
            <a:prstGeom prst="rect">
              <a:avLst/>
            </a:prstGeom>
            <a:noFill/>
            <a:ln/>
          </p:spPr>
          <p:txBody>
            <a:bodyPr wrap="square" rtlCol="0" anchor="ctr"/>
            <a:lstStyle/>
            <a:p>
              <a:pPr marL="0" indent="0">
                <a:buNone/>
              </a:pPr>
              <a:r>
                <a:rPr lang="en-US" sz="2600" b="1" dirty="0">
                  <a:solidFill>
                    <a:schemeClr val="bg1"/>
                  </a:solidFill>
                  <a:latin typeface="Cambria" pitchFamily="34" charset="0"/>
                  <a:ea typeface="Cambria" pitchFamily="34" charset="-122"/>
                  <a:cs typeface="Cambria" pitchFamily="34" charset="-120"/>
                </a:rPr>
                <a:t>01</a:t>
              </a:r>
              <a:endParaRPr lang="en-US" sz="2600" dirty="0">
                <a:solidFill>
                  <a:schemeClr val="bg1"/>
                </a:solidFill>
              </a:endParaRPr>
            </a:p>
          </p:txBody>
        </p:sp>
        <p:pic>
          <p:nvPicPr>
            <p:cNvPr id="7" name="Image 0" descr="icons/gaugeHigh_0B5E8C.png"/>
            <p:cNvPicPr>
              <a:picLocks noChangeAspect="1"/>
            </p:cNvPicPr>
            <p:nvPr/>
          </p:nvPicPr>
          <p:blipFill>
            <a:blip r:embed="rId3"/>
            <a:stretch>
              <a:fillRect/>
            </a:stretch>
          </p:blipFill>
          <p:spPr>
            <a:xfrm>
              <a:off x="2624328" y="1906524"/>
              <a:ext cx="347472" cy="347472"/>
            </a:xfrm>
            <a:prstGeom prst="rect">
              <a:avLst/>
            </a:prstGeom>
          </p:spPr>
        </p:pic>
        <p:sp>
          <p:nvSpPr>
            <p:cNvPr id="8" name="Text 5"/>
            <p:cNvSpPr/>
            <p:nvPr/>
          </p:nvSpPr>
          <p:spPr>
            <a:xfrm>
              <a:off x="804672" y="2468880"/>
              <a:ext cx="2286000" cy="960120"/>
            </a:xfrm>
            <a:prstGeom prst="rect">
              <a:avLst/>
            </a:prstGeom>
            <a:noFill/>
            <a:ln/>
          </p:spPr>
          <p:txBody>
            <a:bodyPr wrap="square" rtlCol="0" anchor="ctr"/>
            <a:lstStyle/>
            <a:p>
              <a:pPr marL="0" indent="0">
                <a:lnSpc>
                  <a:spcPct val="122000"/>
                </a:lnSpc>
                <a:buNone/>
              </a:pPr>
              <a:r>
                <a:rPr lang="en-US" sz="1600" b="1" dirty="0">
                  <a:solidFill>
                    <a:srgbClr val="1B2A4A"/>
                  </a:solidFill>
                  <a:latin typeface="Calibri" pitchFamily="34" charset="0"/>
                  <a:ea typeface="Calibri" pitchFamily="34" charset="-122"/>
                  <a:cs typeface="Calibri" pitchFamily="34" charset="-120"/>
                </a:rPr>
                <a:t>Measure FHTC coverage</a:t>
              </a:r>
              <a:endParaRPr lang="en-US" sz="1600" b="1" dirty="0"/>
            </a:p>
          </p:txBody>
        </p:sp>
      </p:grpSp>
      <p:sp>
        <p:nvSpPr>
          <p:cNvPr id="9" name="Shape 6"/>
          <p:cNvSpPr/>
          <p:nvPr/>
        </p:nvSpPr>
        <p:spPr>
          <a:xfrm>
            <a:off x="3474720" y="1668780"/>
            <a:ext cx="2615184" cy="1874520"/>
          </a:xfrm>
          <a:prstGeom prst="roundRect">
            <a:avLst>
              <a:gd name="adj" fmla="val 4390"/>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10" name="Text 7"/>
          <p:cNvSpPr/>
          <p:nvPr/>
        </p:nvSpPr>
        <p:spPr>
          <a:xfrm>
            <a:off x="3621024" y="1801368"/>
            <a:ext cx="1097280" cy="502920"/>
          </a:xfrm>
          <a:prstGeom prst="rect">
            <a:avLst/>
          </a:prstGeom>
          <a:noFill/>
          <a:ln/>
        </p:spPr>
        <p:txBody>
          <a:bodyPr wrap="square" rtlCol="0" anchor="ctr"/>
          <a:lstStyle/>
          <a:p>
            <a:pPr marL="0" indent="0">
              <a:buNone/>
            </a:pPr>
            <a:r>
              <a:rPr lang="en-US" sz="2600" b="1" dirty="0">
                <a:solidFill>
                  <a:schemeClr val="bg1"/>
                </a:solidFill>
                <a:latin typeface="Cambria" pitchFamily="34" charset="0"/>
                <a:ea typeface="Cambria" pitchFamily="34" charset="-122"/>
                <a:cs typeface="Cambria" pitchFamily="34" charset="-120"/>
              </a:rPr>
              <a:t>02</a:t>
            </a:r>
            <a:endParaRPr lang="en-US" sz="2600" dirty="0">
              <a:solidFill>
                <a:schemeClr val="bg1"/>
              </a:solidFill>
            </a:endParaRPr>
          </a:p>
        </p:txBody>
      </p:sp>
      <p:sp>
        <p:nvSpPr>
          <p:cNvPr id="11" name="Shape 8"/>
          <p:cNvSpPr/>
          <p:nvPr/>
        </p:nvSpPr>
        <p:spPr>
          <a:xfrm>
            <a:off x="5413248" y="1856232"/>
            <a:ext cx="457200" cy="457200"/>
          </a:xfrm>
          <a:prstGeom prst="ellipse">
            <a:avLst/>
          </a:prstGeom>
          <a:solidFill>
            <a:srgbClr val="EAF2F8"/>
          </a:solidFill>
          <a:ln/>
        </p:spPr>
      </p:sp>
      <p:pic>
        <p:nvPicPr>
          <p:cNvPr id="12" name="Image 1" descr="icons/handHoldingDroplet_0B5E8C.png"/>
          <p:cNvPicPr>
            <a:picLocks noChangeAspect="1"/>
          </p:cNvPicPr>
          <p:nvPr/>
        </p:nvPicPr>
        <p:blipFill>
          <a:blip r:embed="rId4"/>
          <a:stretch>
            <a:fillRect/>
          </a:stretch>
        </p:blipFill>
        <p:spPr>
          <a:xfrm>
            <a:off x="5458968" y="1875663"/>
            <a:ext cx="347472" cy="347472"/>
          </a:xfrm>
          <a:prstGeom prst="rect">
            <a:avLst/>
          </a:prstGeom>
        </p:spPr>
      </p:pic>
      <p:sp>
        <p:nvSpPr>
          <p:cNvPr id="13" name="Text 9"/>
          <p:cNvSpPr/>
          <p:nvPr/>
        </p:nvSpPr>
        <p:spPr>
          <a:xfrm>
            <a:off x="3621024" y="2468880"/>
            <a:ext cx="2286000" cy="960120"/>
          </a:xfrm>
          <a:prstGeom prst="rect">
            <a:avLst/>
          </a:prstGeom>
          <a:noFill/>
          <a:ln/>
        </p:spPr>
        <p:txBody>
          <a:bodyPr wrap="square" rtlCol="0" anchor="ctr"/>
          <a:lstStyle/>
          <a:p>
            <a:pPr marL="0" indent="0">
              <a:lnSpc>
                <a:spcPct val="122000"/>
              </a:lnSpc>
              <a:buNone/>
            </a:pPr>
            <a:r>
              <a:rPr lang="en-US" sz="1600" b="1" dirty="0">
                <a:solidFill>
                  <a:srgbClr val="1B2A4A"/>
                </a:solidFill>
                <a:latin typeface="Calibri" pitchFamily="34" charset="0"/>
                <a:ea typeface="Calibri" pitchFamily="34" charset="-122"/>
                <a:cs typeface="Calibri" pitchFamily="34" charset="-120"/>
              </a:rPr>
              <a:t>Analyze FHTCs provided</a:t>
            </a:r>
            <a:endParaRPr lang="en-US" sz="1600" b="1" dirty="0"/>
          </a:p>
        </p:txBody>
      </p:sp>
      <p:sp>
        <p:nvSpPr>
          <p:cNvPr id="14" name="Shape 10"/>
          <p:cNvSpPr/>
          <p:nvPr/>
        </p:nvSpPr>
        <p:spPr>
          <a:xfrm>
            <a:off x="6272784" y="1691640"/>
            <a:ext cx="2615184" cy="1874520"/>
          </a:xfrm>
          <a:prstGeom prst="roundRect">
            <a:avLst>
              <a:gd name="adj" fmla="val 4390"/>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15" name="Text 11"/>
          <p:cNvSpPr/>
          <p:nvPr/>
        </p:nvSpPr>
        <p:spPr>
          <a:xfrm>
            <a:off x="6437376" y="1801368"/>
            <a:ext cx="1097280" cy="502920"/>
          </a:xfrm>
          <a:prstGeom prst="rect">
            <a:avLst/>
          </a:prstGeom>
          <a:noFill/>
          <a:ln/>
        </p:spPr>
        <p:txBody>
          <a:bodyPr wrap="square" rtlCol="0" anchor="ctr"/>
          <a:lstStyle/>
          <a:p>
            <a:pPr marL="0" indent="0">
              <a:buNone/>
            </a:pPr>
            <a:r>
              <a:rPr lang="en-US" sz="2600" b="1" dirty="0">
                <a:solidFill>
                  <a:schemeClr val="bg1"/>
                </a:solidFill>
                <a:latin typeface="Cambria" pitchFamily="34" charset="0"/>
                <a:ea typeface="Cambria" pitchFamily="34" charset="-122"/>
                <a:cs typeface="Cambria" pitchFamily="34" charset="-120"/>
              </a:rPr>
              <a:t>03</a:t>
            </a:r>
            <a:endParaRPr lang="en-US" sz="2600" dirty="0">
              <a:solidFill>
                <a:schemeClr val="bg1"/>
              </a:solidFill>
            </a:endParaRPr>
          </a:p>
        </p:txBody>
      </p:sp>
      <p:sp>
        <p:nvSpPr>
          <p:cNvPr id="16" name="Shape 12"/>
          <p:cNvSpPr/>
          <p:nvPr/>
        </p:nvSpPr>
        <p:spPr>
          <a:xfrm>
            <a:off x="8183880" y="1856232"/>
            <a:ext cx="594360" cy="502920"/>
          </a:xfrm>
          <a:prstGeom prst="ellipse">
            <a:avLst/>
          </a:prstGeom>
          <a:solidFill>
            <a:srgbClr val="EAF2F8"/>
          </a:solidFill>
          <a:ln/>
        </p:spPr>
      </p:sp>
      <p:pic>
        <p:nvPicPr>
          <p:cNvPr id="17" name="Image 2" descr="icons/mapLocation_0B5E8C.png"/>
          <p:cNvPicPr>
            <a:picLocks noChangeAspect="1"/>
          </p:cNvPicPr>
          <p:nvPr/>
        </p:nvPicPr>
        <p:blipFill>
          <a:blip r:embed="rId5"/>
          <a:stretch>
            <a:fillRect/>
          </a:stretch>
        </p:blipFill>
        <p:spPr>
          <a:xfrm>
            <a:off x="8311896" y="1892808"/>
            <a:ext cx="347472" cy="347472"/>
          </a:xfrm>
          <a:prstGeom prst="rect">
            <a:avLst/>
          </a:prstGeom>
        </p:spPr>
      </p:pic>
      <p:sp>
        <p:nvSpPr>
          <p:cNvPr id="18" name="Text 13"/>
          <p:cNvSpPr/>
          <p:nvPr/>
        </p:nvSpPr>
        <p:spPr>
          <a:xfrm>
            <a:off x="6437376" y="2468880"/>
            <a:ext cx="2286000" cy="960120"/>
          </a:xfrm>
          <a:prstGeom prst="rect">
            <a:avLst/>
          </a:prstGeom>
          <a:noFill/>
          <a:ln/>
        </p:spPr>
        <p:txBody>
          <a:bodyPr wrap="square" rtlCol="0" anchor="ctr"/>
          <a:lstStyle/>
          <a:p>
            <a:pPr marL="0" indent="0">
              <a:lnSpc>
                <a:spcPct val="122000"/>
              </a:lnSpc>
              <a:buNone/>
            </a:pPr>
            <a:r>
              <a:rPr lang="en-US" sz="1600" b="1" dirty="0">
                <a:solidFill>
                  <a:srgbClr val="1B2A4A"/>
                </a:solidFill>
                <a:latin typeface="Calibri" pitchFamily="34" charset="0"/>
                <a:ea typeface="Calibri" pitchFamily="34" charset="-122"/>
                <a:cs typeface="Calibri" pitchFamily="34" charset="-120"/>
              </a:rPr>
              <a:t>Compare district performance</a:t>
            </a:r>
            <a:endParaRPr lang="en-US" sz="1600" b="1" dirty="0"/>
          </a:p>
        </p:txBody>
      </p:sp>
      <p:sp>
        <p:nvSpPr>
          <p:cNvPr id="19" name="Shape 14"/>
          <p:cNvSpPr/>
          <p:nvPr/>
        </p:nvSpPr>
        <p:spPr>
          <a:xfrm>
            <a:off x="9107424" y="1700784"/>
            <a:ext cx="2615184" cy="1874520"/>
          </a:xfrm>
          <a:prstGeom prst="roundRect">
            <a:avLst>
              <a:gd name="adj" fmla="val 4390"/>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20" name="Text 15"/>
          <p:cNvSpPr/>
          <p:nvPr/>
        </p:nvSpPr>
        <p:spPr>
          <a:xfrm>
            <a:off x="9253728" y="1801368"/>
            <a:ext cx="1097280" cy="502920"/>
          </a:xfrm>
          <a:prstGeom prst="rect">
            <a:avLst/>
          </a:prstGeom>
          <a:noFill/>
          <a:ln/>
        </p:spPr>
        <p:txBody>
          <a:bodyPr wrap="square" rtlCol="0" anchor="ctr"/>
          <a:lstStyle/>
          <a:p>
            <a:pPr marL="0" indent="0">
              <a:buNone/>
            </a:pPr>
            <a:r>
              <a:rPr lang="en-US" sz="2600" b="1" dirty="0">
                <a:solidFill>
                  <a:schemeClr val="bg1"/>
                </a:solidFill>
                <a:latin typeface="Cambria" pitchFamily="34" charset="0"/>
                <a:ea typeface="Cambria" pitchFamily="34" charset="-122"/>
                <a:cs typeface="Cambria" pitchFamily="34" charset="-120"/>
              </a:rPr>
              <a:t>04</a:t>
            </a:r>
            <a:endParaRPr lang="en-US" sz="2600" dirty="0">
              <a:solidFill>
                <a:schemeClr val="bg1"/>
              </a:solidFill>
            </a:endParaRPr>
          </a:p>
        </p:txBody>
      </p:sp>
      <p:sp>
        <p:nvSpPr>
          <p:cNvPr id="21" name="Shape 16"/>
          <p:cNvSpPr/>
          <p:nvPr/>
        </p:nvSpPr>
        <p:spPr>
          <a:xfrm>
            <a:off x="11045952" y="1856232"/>
            <a:ext cx="457200" cy="457200"/>
          </a:xfrm>
          <a:prstGeom prst="ellipse">
            <a:avLst/>
          </a:prstGeom>
          <a:solidFill>
            <a:srgbClr val="EAF2F8"/>
          </a:solidFill>
          <a:ln/>
        </p:spPr>
      </p:sp>
      <p:pic>
        <p:nvPicPr>
          <p:cNvPr id="22" name="Image 3" descr="icons/chartPie_0B5E8C.png"/>
          <p:cNvPicPr>
            <a:picLocks noChangeAspect="1"/>
          </p:cNvPicPr>
          <p:nvPr/>
        </p:nvPicPr>
        <p:blipFill>
          <a:blip r:embed="rId6"/>
          <a:stretch>
            <a:fillRect/>
          </a:stretch>
        </p:blipFill>
        <p:spPr>
          <a:xfrm>
            <a:off x="11077956" y="1869948"/>
            <a:ext cx="393192" cy="393192"/>
          </a:xfrm>
          <a:prstGeom prst="rect">
            <a:avLst/>
          </a:prstGeom>
        </p:spPr>
      </p:pic>
      <p:sp>
        <p:nvSpPr>
          <p:cNvPr id="23" name="Text 17"/>
          <p:cNvSpPr/>
          <p:nvPr/>
        </p:nvSpPr>
        <p:spPr>
          <a:xfrm>
            <a:off x="9253728" y="2468880"/>
            <a:ext cx="2286000" cy="960120"/>
          </a:xfrm>
          <a:prstGeom prst="rect">
            <a:avLst/>
          </a:prstGeom>
          <a:noFill/>
          <a:ln/>
        </p:spPr>
        <p:txBody>
          <a:bodyPr wrap="square" rtlCol="0" anchor="ctr"/>
          <a:lstStyle/>
          <a:p>
            <a:pPr marL="0" indent="0">
              <a:lnSpc>
                <a:spcPct val="122000"/>
              </a:lnSpc>
              <a:buNone/>
            </a:pPr>
            <a:r>
              <a:rPr lang="en-US" sz="1600" b="1" dirty="0">
                <a:solidFill>
                  <a:srgbClr val="1B2A4A"/>
                </a:solidFill>
                <a:latin typeface="Calibri" pitchFamily="34" charset="0"/>
                <a:ea typeface="Calibri" pitchFamily="34" charset="-122"/>
                <a:cs typeface="Calibri" pitchFamily="34" charset="-120"/>
              </a:rPr>
              <a:t>Analyze groundwater vs. surface water</a:t>
            </a:r>
            <a:endParaRPr lang="en-US" sz="1600" b="1" dirty="0"/>
          </a:p>
        </p:txBody>
      </p:sp>
      <p:sp>
        <p:nvSpPr>
          <p:cNvPr id="24" name="Shape 18"/>
          <p:cNvSpPr/>
          <p:nvPr/>
        </p:nvSpPr>
        <p:spPr>
          <a:xfrm>
            <a:off x="640080" y="3822192"/>
            <a:ext cx="2615184" cy="1874520"/>
          </a:xfrm>
          <a:prstGeom prst="roundRect">
            <a:avLst>
              <a:gd name="adj" fmla="val 4390"/>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25" name="Text 19"/>
          <p:cNvSpPr/>
          <p:nvPr/>
        </p:nvSpPr>
        <p:spPr>
          <a:xfrm>
            <a:off x="804672" y="3931920"/>
            <a:ext cx="1097280" cy="502920"/>
          </a:xfrm>
          <a:prstGeom prst="rect">
            <a:avLst/>
          </a:prstGeom>
          <a:noFill/>
          <a:ln/>
        </p:spPr>
        <p:txBody>
          <a:bodyPr wrap="square" rtlCol="0" anchor="ctr"/>
          <a:lstStyle/>
          <a:p>
            <a:pPr marL="0" indent="0">
              <a:buNone/>
            </a:pPr>
            <a:r>
              <a:rPr lang="en-US" sz="2600" b="1" dirty="0">
                <a:solidFill>
                  <a:schemeClr val="bg1"/>
                </a:solidFill>
                <a:latin typeface="Cambria" pitchFamily="34" charset="0"/>
                <a:ea typeface="Cambria" pitchFamily="34" charset="-122"/>
                <a:cs typeface="Cambria" pitchFamily="34" charset="-120"/>
              </a:rPr>
              <a:t>05</a:t>
            </a:r>
            <a:endParaRPr lang="en-US" sz="2600" dirty="0">
              <a:solidFill>
                <a:schemeClr val="bg1"/>
              </a:solidFill>
            </a:endParaRPr>
          </a:p>
        </p:txBody>
      </p:sp>
      <p:sp>
        <p:nvSpPr>
          <p:cNvPr id="26" name="Shape 20"/>
          <p:cNvSpPr/>
          <p:nvPr/>
        </p:nvSpPr>
        <p:spPr>
          <a:xfrm>
            <a:off x="2596896" y="3931920"/>
            <a:ext cx="640080" cy="530352"/>
          </a:xfrm>
          <a:prstGeom prst="ellipse">
            <a:avLst/>
          </a:prstGeom>
          <a:solidFill>
            <a:srgbClr val="EAF2F8"/>
          </a:solidFill>
          <a:ln/>
        </p:spPr>
      </p:sp>
      <p:pic>
        <p:nvPicPr>
          <p:cNvPr id="27" name="Image 4" descr="icons/chartLine_0B5E8C.png"/>
          <p:cNvPicPr>
            <a:picLocks noChangeAspect="1"/>
          </p:cNvPicPr>
          <p:nvPr/>
        </p:nvPicPr>
        <p:blipFill>
          <a:blip r:embed="rId7"/>
          <a:stretch>
            <a:fillRect/>
          </a:stretch>
        </p:blipFill>
        <p:spPr>
          <a:xfrm>
            <a:off x="2754630" y="4011930"/>
            <a:ext cx="370332" cy="370332"/>
          </a:xfrm>
          <a:prstGeom prst="rect">
            <a:avLst/>
          </a:prstGeom>
        </p:spPr>
      </p:pic>
      <p:sp>
        <p:nvSpPr>
          <p:cNvPr id="28" name="Text 21"/>
          <p:cNvSpPr/>
          <p:nvPr/>
        </p:nvSpPr>
        <p:spPr>
          <a:xfrm>
            <a:off x="804672" y="4599432"/>
            <a:ext cx="2286000" cy="960120"/>
          </a:xfrm>
          <a:prstGeom prst="rect">
            <a:avLst/>
          </a:prstGeom>
          <a:noFill/>
          <a:ln/>
        </p:spPr>
        <p:txBody>
          <a:bodyPr wrap="square" rtlCol="0" anchor="ctr"/>
          <a:lstStyle/>
          <a:p>
            <a:pPr marL="0" indent="0">
              <a:lnSpc>
                <a:spcPct val="122000"/>
              </a:lnSpc>
              <a:buNone/>
            </a:pPr>
            <a:r>
              <a:rPr lang="en-US" sz="1600" b="1" dirty="0">
                <a:solidFill>
                  <a:srgbClr val="1B2A4A"/>
                </a:solidFill>
                <a:latin typeface="Calibri" pitchFamily="34" charset="0"/>
                <a:ea typeface="Calibri" pitchFamily="34" charset="-122"/>
                <a:cs typeface="Calibri" pitchFamily="34" charset="-120"/>
              </a:rPr>
              <a:t>Track FHTC trends over time</a:t>
            </a:r>
            <a:endParaRPr lang="en-US" sz="1600" b="1" dirty="0"/>
          </a:p>
        </p:txBody>
      </p:sp>
      <p:sp>
        <p:nvSpPr>
          <p:cNvPr id="29" name="Shape 22"/>
          <p:cNvSpPr/>
          <p:nvPr/>
        </p:nvSpPr>
        <p:spPr>
          <a:xfrm>
            <a:off x="3447288" y="3842766"/>
            <a:ext cx="2615184" cy="1874520"/>
          </a:xfrm>
          <a:prstGeom prst="roundRect">
            <a:avLst>
              <a:gd name="adj" fmla="val 4390"/>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30" name="Text 23"/>
          <p:cNvSpPr/>
          <p:nvPr/>
        </p:nvSpPr>
        <p:spPr>
          <a:xfrm>
            <a:off x="3621024" y="3931920"/>
            <a:ext cx="1097280" cy="502920"/>
          </a:xfrm>
          <a:prstGeom prst="rect">
            <a:avLst/>
          </a:prstGeom>
          <a:noFill/>
          <a:ln/>
        </p:spPr>
        <p:txBody>
          <a:bodyPr wrap="square" rtlCol="0" anchor="ctr"/>
          <a:lstStyle/>
          <a:p>
            <a:pPr marL="0" indent="0">
              <a:buNone/>
            </a:pPr>
            <a:r>
              <a:rPr lang="en-US" sz="2600" b="1" dirty="0">
                <a:solidFill>
                  <a:schemeClr val="bg1"/>
                </a:solidFill>
                <a:latin typeface="Cambria" pitchFamily="34" charset="0"/>
                <a:ea typeface="Cambria" pitchFamily="34" charset="-122"/>
                <a:cs typeface="Cambria" pitchFamily="34" charset="-120"/>
              </a:rPr>
              <a:t>06</a:t>
            </a:r>
            <a:endParaRPr lang="en-US" sz="2600" dirty="0">
              <a:solidFill>
                <a:schemeClr val="bg1"/>
              </a:solidFill>
            </a:endParaRPr>
          </a:p>
        </p:txBody>
      </p:sp>
      <p:sp>
        <p:nvSpPr>
          <p:cNvPr id="31" name="Shape 24"/>
          <p:cNvSpPr/>
          <p:nvPr/>
        </p:nvSpPr>
        <p:spPr>
          <a:xfrm>
            <a:off x="5413248" y="3986784"/>
            <a:ext cx="457200" cy="457200"/>
          </a:xfrm>
          <a:prstGeom prst="ellipse">
            <a:avLst/>
          </a:prstGeom>
          <a:solidFill>
            <a:srgbClr val="EAF2F8"/>
          </a:solidFill>
          <a:ln/>
        </p:spPr>
      </p:sp>
      <p:pic>
        <p:nvPicPr>
          <p:cNvPr id="32" name="Image 5" descr="icons/bullseye_0B5E8C.png"/>
          <p:cNvPicPr>
            <a:picLocks noChangeAspect="1"/>
          </p:cNvPicPr>
          <p:nvPr/>
        </p:nvPicPr>
        <p:blipFill>
          <a:blip r:embed="rId8"/>
          <a:stretch>
            <a:fillRect/>
          </a:stretch>
        </p:blipFill>
        <p:spPr>
          <a:xfrm>
            <a:off x="5454396" y="4063973"/>
            <a:ext cx="347472" cy="347472"/>
          </a:xfrm>
          <a:prstGeom prst="rect">
            <a:avLst/>
          </a:prstGeom>
        </p:spPr>
      </p:pic>
      <p:sp>
        <p:nvSpPr>
          <p:cNvPr id="33" name="Text 25"/>
          <p:cNvSpPr/>
          <p:nvPr/>
        </p:nvSpPr>
        <p:spPr>
          <a:xfrm>
            <a:off x="3621024" y="4599432"/>
            <a:ext cx="2286000" cy="960120"/>
          </a:xfrm>
          <a:prstGeom prst="rect">
            <a:avLst/>
          </a:prstGeom>
          <a:noFill/>
          <a:ln/>
        </p:spPr>
        <p:txBody>
          <a:bodyPr wrap="square" rtlCol="0" anchor="ctr"/>
          <a:lstStyle/>
          <a:p>
            <a:pPr marL="0" indent="0">
              <a:lnSpc>
                <a:spcPct val="122000"/>
              </a:lnSpc>
              <a:buNone/>
            </a:pPr>
            <a:r>
              <a:rPr lang="en-US" sz="1600" b="1" dirty="0">
                <a:solidFill>
                  <a:srgbClr val="1B2A4A"/>
                </a:solidFill>
                <a:latin typeface="Calibri" pitchFamily="34" charset="0"/>
                <a:ea typeface="Calibri" pitchFamily="34" charset="-122"/>
                <a:cs typeface="Calibri" pitchFamily="34" charset="-120"/>
              </a:rPr>
              <a:t>Identify performance gaps</a:t>
            </a:r>
            <a:endParaRPr lang="en-US" sz="1600" b="1" dirty="0"/>
          </a:p>
        </p:txBody>
      </p:sp>
      <p:sp>
        <p:nvSpPr>
          <p:cNvPr id="34" name="Shape 26"/>
          <p:cNvSpPr/>
          <p:nvPr/>
        </p:nvSpPr>
        <p:spPr>
          <a:xfrm>
            <a:off x="6272784" y="3822192"/>
            <a:ext cx="2615184" cy="1874520"/>
          </a:xfrm>
          <a:prstGeom prst="roundRect">
            <a:avLst>
              <a:gd name="adj" fmla="val 4390"/>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35" name="Text 27"/>
          <p:cNvSpPr/>
          <p:nvPr/>
        </p:nvSpPr>
        <p:spPr>
          <a:xfrm>
            <a:off x="6437376" y="3931920"/>
            <a:ext cx="1097280" cy="502920"/>
          </a:xfrm>
          <a:prstGeom prst="rect">
            <a:avLst/>
          </a:prstGeom>
          <a:noFill/>
          <a:ln/>
        </p:spPr>
        <p:txBody>
          <a:bodyPr wrap="square" rtlCol="0" anchor="ctr"/>
          <a:lstStyle/>
          <a:p>
            <a:pPr marL="0" indent="0">
              <a:buNone/>
            </a:pPr>
            <a:r>
              <a:rPr lang="en-US" sz="2600" b="1" dirty="0">
                <a:solidFill>
                  <a:schemeClr val="bg1"/>
                </a:solidFill>
                <a:latin typeface="Cambria" pitchFamily="34" charset="0"/>
                <a:ea typeface="Cambria" pitchFamily="34" charset="-122"/>
                <a:cs typeface="Cambria" pitchFamily="34" charset="-120"/>
              </a:rPr>
              <a:t>07</a:t>
            </a:r>
            <a:endParaRPr lang="en-US" sz="2600" dirty="0">
              <a:solidFill>
                <a:schemeClr val="bg1"/>
              </a:solidFill>
            </a:endParaRPr>
          </a:p>
        </p:txBody>
      </p:sp>
      <p:sp>
        <p:nvSpPr>
          <p:cNvPr id="36" name="Shape 28"/>
          <p:cNvSpPr/>
          <p:nvPr/>
        </p:nvSpPr>
        <p:spPr>
          <a:xfrm>
            <a:off x="8229600" y="3986784"/>
            <a:ext cx="457200" cy="457200"/>
          </a:xfrm>
          <a:prstGeom prst="ellipse">
            <a:avLst/>
          </a:prstGeom>
          <a:solidFill>
            <a:srgbClr val="EAF2F8"/>
          </a:solidFill>
          <a:ln/>
        </p:spPr>
      </p:sp>
      <p:pic>
        <p:nvPicPr>
          <p:cNvPr id="37" name="Image 6" descr="icons/filter_0B5E8C.png"/>
          <p:cNvPicPr>
            <a:picLocks noChangeAspect="1"/>
          </p:cNvPicPr>
          <p:nvPr/>
        </p:nvPicPr>
        <p:blipFill>
          <a:blip r:embed="rId9"/>
          <a:stretch>
            <a:fillRect/>
          </a:stretch>
        </p:blipFill>
        <p:spPr>
          <a:xfrm>
            <a:off x="8302371" y="4087368"/>
            <a:ext cx="347472" cy="347472"/>
          </a:xfrm>
          <a:prstGeom prst="rect">
            <a:avLst/>
          </a:prstGeom>
        </p:spPr>
      </p:pic>
      <p:sp>
        <p:nvSpPr>
          <p:cNvPr id="38" name="Text 29"/>
          <p:cNvSpPr/>
          <p:nvPr/>
        </p:nvSpPr>
        <p:spPr>
          <a:xfrm>
            <a:off x="6437376" y="4599432"/>
            <a:ext cx="2286000" cy="960120"/>
          </a:xfrm>
          <a:prstGeom prst="rect">
            <a:avLst/>
          </a:prstGeom>
          <a:noFill/>
          <a:ln/>
        </p:spPr>
        <p:txBody>
          <a:bodyPr wrap="square" rtlCol="0" anchor="ctr"/>
          <a:lstStyle/>
          <a:p>
            <a:pPr marL="0" indent="0">
              <a:lnSpc>
                <a:spcPct val="122000"/>
              </a:lnSpc>
              <a:buNone/>
            </a:pPr>
            <a:r>
              <a:rPr lang="en-US" sz="1600" b="1" dirty="0">
                <a:solidFill>
                  <a:srgbClr val="1B2A4A"/>
                </a:solidFill>
                <a:latin typeface="Calibri" pitchFamily="34" charset="0"/>
                <a:ea typeface="Calibri" pitchFamily="34" charset="-122"/>
                <a:cs typeface="Calibri" pitchFamily="34" charset="-120"/>
              </a:rPr>
              <a:t>Build an interactive Excel dashboard</a:t>
            </a:r>
            <a:endParaRPr lang="en-US" sz="1600" b="1" dirty="0"/>
          </a:p>
        </p:txBody>
      </p:sp>
      <p:sp>
        <p:nvSpPr>
          <p:cNvPr id="39" name="Shape 30"/>
          <p:cNvSpPr/>
          <p:nvPr/>
        </p:nvSpPr>
        <p:spPr>
          <a:xfrm>
            <a:off x="9089136" y="3831717"/>
            <a:ext cx="2615184" cy="1874520"/>
          </a:xfrm>
          <a:prstGeom prst="roundRect">
            <a:avLst>
              <a:gd name="adj" fmla="val 4390"/>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40" name="Text 31"/>
          <p:cNvSpPr/>
          <p:nvPr/>
        </p:nvSpPr>
        <p:spPr>
          <a:xfrm>
            <a:off x="9253728" y="3931920"/>
            <a:ext cx="1097280" cy="502920"/>
          </a:xfrm>
          <a:prstGeom prst="rect">
            <a:avLst/>
          </a:prstGeom>
          <a:noFill/>
          <a:ln/>
        </p:spPr>
        <p:txBody>
          <a:bodyPr wrap="square" rtlCol="0" anchor="ctr"/>
          <a:lstStyle/>
          <a:p>
            <a:pPr marL="0" indent="0">
              <a:buNone/>
            </a:pPr>
            <a:r>
              <a:rPr lang="en-US" sz="2600" b="1" dirty="0">
                <a:solidFill>
                  <a:schemeClr val="bg1"/>
                </a:solidFill>
                <a:latin typeface="Cambria" pitchFamily="34" charset="0"/>
                <a:ea typeface="Cambria" pitchFamily="34" charset="-122"/>
                <a:cs typeface="Cambria" pitchFamily="34" charset="-120"/>
              </a:rPr>
              <a:t>08</a:t>
            </a:r>
            <a:endParaRPr lang="en-US" sz="2600" dirty="0">
              <a:solidFill>
                <a:schemeClr val="bg1"/>
              </a:solidFill>
            </a:endParaRPr>
          </a:p>
        </p:txBody>
      </p:sp>
      <p:sp>
        <p:nvSpPr>
          <p:cNvPr id="41" name="Shape 32"/>
          <p:cNvSpPr/>
          <p:nvPr/>
        </p:nvSpPr>
        <p:spPr>
          <a:xfrm>
            <a:off x="11045952" y="3931920"/>
            <a:ext cx="505968" cy="512064"/>
          </a:xfrm>
          <a:prstGeom prst="ellipse">
            <a:avLst/>
          </a:prstGeom>
          <a:solidFill>
            <a:srgbClr val="EAF2F8"/>
          </a:solidFill>
          <a:ln/>
        </p:spPr>
      </p:sp>
      <p:pic>
        <p:nvPicPr>
          <p:cNvPr id="42" name="Image 7" descr="icons/lightbulb_0B5E8C.png"/>
          <p:cNvPicPr>
            <a:picLocks noChangeAspect="1"/>
          </p:cNvPicPr>
          <p:nvPr/>
        </p:nvPicPr>
        <p:blipFill>
          <a:blip r:embed="rId10"/>
          <a:stretch>
            <a:fillRect/>
          </a:stretch>
        </p:blipFill>
        <p:spPr>
          <a:xfrm>
            <a:off x="11085233" y="3973906"/>
            <a:ext cx="378638" cy="378638"/>
          </a:xfrm>
          <a:prstGeom prst="rect">
            <a:avLst/>
          </a:prstGeom>
        </p:spPr>
      </p:pic>
      <p:sp>
        <p:nvSpPr>
          <p:cNvPr id="43" name="Text 33"/>
          <p:cNvSpPr/>
          <p:nvPr/>
        </p:nvSpPr>
        <p:spPr>
          <a:xfrm>
            <a:off x="9253728" y="4599432"/>
            <a:ext cx="2286000" cy="960120"/>
          </a:xfrm>
          <a:prstGeom prst="rect">
            <a:avLst/>
          </a:prstGeom>
          <a:noFill/>
          <a:ln/>
        </p:spPr>
        <p:txBody>
          <a:bodyPr wrap="square" rtlCol="0" anchor="ctr"/>
          <a:lstStyle/>
          <a:p>
            <a:pPr marL="0" indent="0">
              <a:lnSpc>
                <a:spcPct val="122000"/>
              </a:lnSpc>
              <a:buNone/>
            </a:pPr>
            <a:r>
              <a:rPr lang="en-US" sz="1600" b="1" dirty="0">
                <a:solidFill>
                  <a:srgbClr val="1B2A4A"/>
                </a:solidFill>
                <a:latin typeface="Calibri" pitchFamily="34" charset="0"/>
                <a:ea typeface="Calibri" pitchFamily="34" charset="-122"/>
                <a:cs typeface="Calibri" pitchFamily="34" charset="-120"/>
              </a:rPr>
              <a:t>Generate data-driven recommendations</a:t>
            </a:r>
            <a:endParaRPr lang="en-US" sz="1600" b="1" dirty="0"/>
          </a:p>
        </p:txBody>
      </p:sp>
      <p:sp>
        <p:nvSpPr>
          <p:cNvPr id="44" name="Text 34"/>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04</a:t>
            </a:r>
            <a:endParaRPr lang="en-US" sz="1000" dirty="0">
              <a:solidFill>
                <a:schemeClr val="bg1"/>
              </a:solidFill>
            </a:endParaRPr>
          </a:p>
        </p:txBody>
      </p:sp>
      <p:sp>
        <p:nvSpPr>
          <p:cNvPr id="45" name="Text 35"/>
          <p:cNvSpPr/>
          <p:nvPr/>
        </p:nvSpPr>
        <p:spPr>
          <a:xfrm>
            <a:off x="8899855" y="6400800"/>
            <a:ext cx="2560320" cy="274320"/>
          </a:xfrm>
          <a:prstGeom prst="rect">
            <a:avLst/>
          </a:prstGeom>
          <a:noFill/>
          <a:ln/>
        </p:spPr>
        <p:txBody>
          <a:bodyPr wrap="square" rtlCol="0" anchor="ctr"/>
          <a:lstStyle/>
          <a:p>
            <a:pPr marL="0" indent="0" algn="r">
              <a:buNone/>
            </a:pPr>
            <a:r>
              <a:rPr lang="en-US" sz="900" b="1" kern="0" spc="150" dirty="0">
                <a:solidFill>
                  <a:schemeClr val="bg1"/>
                </a:solidFill>
                <a:latin typeface="Calibri" pitchFamily="34" charset="0"/>
                <a:ea typeface="Calibri" pitchFamily="34" charset="-122"/>
                <a:cs typeface="Calibri" pitchFamily="34" charset="-120"/>
              </a:rPr>
              <a:t>OBJECTIVES</a:t>
            </a:r>
            <a:endParaRPr lang="en-US" sz="9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11480"/>
            <a:ext cx="8229600" cy="320040"/>
          </a:xfrm>
          <a:prstGeom prst="rect">
            <a:avLst/>
          </a:prstGeom>
          <a:noFill/>
          <a:ln/>
        </p:spPr>
        <p:txBody>
          <a:bodyPr wrap="square" rtlCol="0" anchor="ctr"/>
          <a:lstStyle/>
          <a:p>
            <a:pPr marL="0" indent="0">
              <a:buNone/>
            </a:pPr>
            <a:r>
              <a:rPr lang="en-US" sz="1600" b="1" kern="0" spc="200" dirty="0">
                <a:solidFill>
                  <a:srgbClr val="E8763C"/>
                </a:solidFill>
                <a:latin typeface="Calibri" pitchFamily="34" charset="0"/>
                <a:ea typeface="Calibri" pitchFamily="34" charset="-122"/>
                <a:cs typeface="Calibri" pitchFamily="34" charset="-120"/>
              </a:rPr>
              <a:t>BEHIND THE SCENES</a:t>
            </a:r>
            <a:endParaRPr lang="en-US" sz="1600" b="1" dirty="0"/>
          </a:p>
        </p:txBody>
      </p:sp>
      <p:sp>
        <p:nvSpPr>
          <p:cNvPr id="3" name="Text 1"/>
          <p:cNvSpPr/>
          <p:nvPr/>
        </p:nvSpPr>
        <p:spPr>
          <a:xfrm>
            <a:off x="640080" y="713232"/>
            <a:ext cx="10607040" cy="822960"/>
          </a:xfrm>
          <a:prstGeom prst="rect">
            <a:avLst/>
          </a:prstGeom>
          <a:noFill/>
          <a:ln/>
        </p:spPr>
        <p:txBody>
          <a:bodyPr wrap="square" rtlCol="0" anchor="ctr"/>
          <a:lstStyle/>
          <a:p>
            <a:pPr marL="0" indent="0">
              <a:buNone/>
            </a:pPr>
            <a:r>
              <a:rPr lang="en-US" sz="3600" b="1" u="sng" dirty="0">
                <a:solidFill>
                  <a:srgbClr val="1B2A4A"/>
                </a:solidFill>
                <a:latin typeface="Cambria" pitchFamily="34" charset="0"/>
                <a:ea typeface="Cambria" pitchFamily="34" charset="-122"/>
                <a:cs typeface="Cambria" pitchFamily="34" charset="-120"/>
              </a:rPr>
              <a:t>Data Cleaning &amp; Preparation</a:t>
            </a:r>
            <a:endParaRPr lang="en-US" sz="3600" u="sng" dirty="0"/>
          </a:p>
        </p:txBody>
      </p:sp>
      <p:sp>
        <p:nvSpPr>
          <p:cNvPr id="4" name="Shape 2"/>
          <p:cNvSpPr/>
          <p:nvPr/>
        </p:nvSpPr>
        <p:spPr>
          <a:xfrm>
            <a:off x="640080" y="1783080"/>
            <a:ext cx="1284079" cy="1600200"/>
          </a:xfrm>
          <a:prstGeom prst="roundRect">
            <a:avLst>
              <a:gd name="adj" fmla="val 5697"/>
            </a:avLst>
          </a:prstGeom>
          <a:solidFill>
            <a:srgbClr val="FFFFFF"/>
          </a:solidFill>
          <a:ln w="15875">
            <a:solidFill>
              <a:srgbClr val="D9E3EC"/>
            </a:solidFill>
            <a:prstDash val="solid"/>
          </a:ln>
          <a:effectLst>
            <a:outerShdw blurRad="76200" dist="25400" dir="5400000" algn="bl" rotWithShape="0">
              <a:srgbClr val="1B2A4A">
                <a:alpha val="10000"/>
              </a:srgbClr>
            </a:outerShdw>
          </a:effectLst>
        </p:spPr>
      </p:sp>
      <p:sp>
        <p:nvSpPr>
          <p:cNvPr id="5" name="Shape 3"/>
          <p:cNvSpPr/>
          <p:nvPr/>
        </p:nvSpPr>
        <p:spPr>
          <a:xfrm>
            <a:off x="1035231" y="1965960"/>
            <a:ext cx="493776" cy="493776"/>
          </a:xfrm>
          <a:prstGeom prst="ellipse">
            <a:avLst/>
          </a:prstGeom>
          <a:solidFill>
            <a:srgbClr val="EAF2F8"/>
          </a:solidFill>
          <a:ln/>
        </p:spPr>
      </p:sp>
      <p:pic>
        <p:nvPicPr>
          <p:cNvPr id="6" name="Image 0" descr="icons/database_0B5E8C.png"/>
          <p:cNvPicPr>
            <a:picLocks noChangeAspect="1"/>
          </p:cNvPicPr>
          <p:nvPr/>
        </p:nvPicPr>
        <p:blipFill>
          <a:blip r:embed="rId3"/>
          <a:stretch>
            <a:fillRect/>
          </a:stretch>
        </p:blipFill>
        <p:spPr>
          <a:xfrm>
            <a:off x="1080951" y="1993392"/>
            <a:ext cx="402336" cy="402336"/>
          </a:xfrm>
          <a:prstGeom prst="rect">
            <a:avLst/>
          </a:prstGeom>
        </p:spPr>
      </p:pic>
      <p:sp>
        <p:nvSpPr>
          <p:cNvPr id="7" name="Text 4"/>
          <p:cNvSpPr/>
          <p:nvPr/>
        </p:nvSpPr>
        <p:spPr>
          <a:xfrm>
            <a:off x="694944" y="2606040"/>
            <a:ext cx="1174351" cy="685800"/>
          </a:xfrm>
          <a:prstGeom prst="rect">
            <a:avLst/>
          </a:prstGeom>
          <a:noFill/>
          <a:ln/>
        </p:spPr>
        <p:txBody>
          <a:bodyPr wrap="square" rtlCol="0" anchor="t"/>
          <a:lstStyle/>
          <a:p>
            <a:pPr marL="0" indent="0" algn="ctr">
              <a:lnSpc>
                <a:spcPct val="110000"/>
              </a:lnSpc>
              <a:buNone/>
            </a:pPr>
            <a:r>
              <a:rPr lang="en-US" sz="1400" b="1" dirty="0">
                <a:solidFill>
                  <a:srgbClr val="1B2A4A"/>
                </a:solidFill>
                <a:latin typeface="Calibri" pitchFamily="34" charset="0"/>
                <a:ea typeface="Calibri" pitchFamily="34" charset="-122"/>
                <a:cs typeface="Calibri" pitchFamily="34" charset="-120"/>
              </a:rPr>
              <a:t>Raw Data</a:t>
            </a:r>
            <a:endParaRPr lang="en-US" sz="1400" dirty="0"/>
          </a:p>
        </p:txBody>
      </p:sp>
      <p:pic>
        <p:nvPicPr>
          <p:cNvPr id="8" name="Image 1" descr="icons/arrowRight_5B6B79.png"/>
          <p:cNvPicPr>
            <a:picLocks noChangeAspect="1"/>
          </p:cNvPicPr>
          <p:nvPr/>
        </p:nvPicPr>
        <p:blipFill>
          <a:blip r:embed="rId4"/>
          <a:stretch>
            <a:fillRect/>
          </a:stretch>
        </p:blipFill>
        <p:spPr>
          <a:xfrm>
            <a:off x="2020171" y="2468880"/>
            <a:ext cx="128016" cy="128016"/>
          </a:xfrm>
          <a:prstGeom prst="rect">
            <a:avLst/>
          </a:prstGeom>
        </p:spPr>
      </p:pic>
      <p:sp>
        <p:nvSpPr>
          <p:cNvPr id="9" name="Shape 5"/>
          <p:cNvSpPr/>
          <p:nvPr/>
        </p:nvSpPr>
        <p:spPr>
          <a:xfrm>
            <a:off x="2244199" y="1769364"/>
            <a:ext cx="1284079" cy="1600200"/>
          </a:xfrm>
          <a:prstGeom prst="roundRect">
            <a:avLst>
              <a:gd name="adj" fmla="val 5697"/>
            </a:avLst>
          </a:prstGeom>
          <a:solidFill>
            <a:srgbClr val="FFFFFF"/>
          </a:solidFill>
          <a:ln w="15875">
            <a:solidFill>
              <a:srgbClr val="D9E3EC"/>
            </a:solidFill>
            <a:prstDash val="solid"/>
          </a:ln>
          <a:effectLst>
            <a:outerShdw blurRad="76200" dist="25400" dir="5400000" algn="bl" rotWithShape="0">
              <a:srgbClr val="1B2A4A">
                <a:alpha val="10000"/>
              </a:srgbClr>
            </a:outerShdw>
          </a:effectLst>
        </p:spPr>
      </p:sp>
      <p:sp>
        <p:nvSpPr>
          <p:cNvPr id="10" name="Shape 6"/>
          <p:cNvSpPr/>
          <p:nvPr/>
        </p:nvSpPr>
        <p:spPr>
          <a:xfrm>
            <a:off x="2639350" y="1965960"/>
            <a:ext cx="493776" cy="493776"/>
          </a:xfrm>
          <a:prstGeom prst="ellipse">
            <a:avLst/>
          </a:prstGeom>
          <a:solidFill>
            <a:srgbClr val="EAF2F8"/>
          </a:solidFill>
          <a:ln/>
        </p:spPr>
      </p:sp>
      <p:pic>
        <p:nvPicPr>
          <p:cNvPr id="11" name="Image 2" descr="icons/search_0B5E8C.png"/>
          <p:cNvPicPr>
            <a:picLocks noChangeAspect="1"/>
          </p:cNvPicPr>
          <p:nvPr/>
        </p:nvPicPr>
        <p:blipFill>
          <a:blip r:embed="rId5"/>
          <a:stretch>
            <a:fillRect/>
          </a:stretch>
        </p:blipFill>
        <p:spPr>
          <a:xfrm>
            <a:off x="2698786" y="2000250"/>
            <a:ext cx="374904" cy="374904"/>
          </a:xfrm>
          <a:prstGeom prst="rect">
            <a:avLst/>
          </a:prstGeom>
        </p:spPr>
      </p:pic>
      <p:sp>
        <p:nvSpPr>
          <p:cNvPr id="12" name="Text 7"/>
          <p:cNvSpPr/>
          <p:nvPr/>
        </p:nvSpPr>
        <p:spPr>
          <a:xfrm>
            <a:off x="2299063" y="2606040"/>
            <a:ext cx="1174351" cy="685800"/>
          </a:xfrm>
          <a:prstGeom prst="rect">
            <a:avLst/>
          </a:prstGeom>
          <a:noFill/>
          <a:ln/>
        </p:spPr>
        <p:txBody>
          <a:bodyPr wrap="square" rtlCol="0" anchor="t"/>
          <a:lstStyle/>
          <a:p>
            <a:pPr marL="0" indent="0" algn="ctr">
              <a:lnSpc>
                <a:spcPct val="110000"/>
              </a:lnSpc>
              <a:buNone/>
            </a:pPr>
            <a:r>
              <a:rPr lang="en-US" sz="1400" b="1" dirty="0">
                <a:solidFill>
                  <a:srgbClr val="1B2A4A"/>
                </a:solidFill>
                <a:latin typeface="Calibri" pitchFamily="34" charset="0"/>
                <a:ea typeface="Calibri" pitchFamily="34" charset="-122"/>
                <a:cs typeface="Calibri" pitchFamily="34" charset="-120"/>
              </a:rPr>
              <a:t>Data Quality Check</a:t>
            </a:r>
            <a:endParaRPr lang="en-US" sz="1400" dirty="0"/>
          </a:p>
        </p:txBody>
      </p:sp>
      <p:pic>
        <p:nvPicPr>
          <p:cNvPr id="13" name="Image 3" descr="icons/arrowRight_5B6B79.png"/>
          <p:cNvPicPr>
            <a:picLocks noChangeAspect="1"/>
          </p:cNvPicPr>
          <p:nvPr/>
        </p:nvPicPr>
        <p:blipFill>
          <a:blip r:embed="rId4"/>
          <a:stretch>
            <a:fillRect/>
          </a:stretch>
        </p:blipFill>
        <p:spPr>
          <a:xfrm>
            <a:off x="3624290" y="2468880"/>
            <a:ext cx="128016" cy="128016"/>
          </a:xfrm>
          <a:prstGeom prst="rect">
            <a:avLst/>
          </a:prstGeom>
        </p:spPr>
      </p:pic>
      <p:sp>
        <p:nvSpPr>
          <p:cNvPr id="14" name="Shape 8"/>
          <p:cNvSpPr/>
          <p:nvPr/>
        </p:nvSpPr>
        <p:spPr>
          <a:xfrm>
            <a:off x="3848318" y="1783080"/>
            <a:ext cx="1284079" cy="1600200"/>
          </a:xfrm>
          <a:prstGeom prst="roundRect">
            <a:avLst>
              <a:gd name="adj" fmla="val 5697"/>
            </a:avLst>
          </a:prstGeom>
          <a:solidFill>
            <a:srgbClr val="FFFFFF"/>
          </a:solidFill>
          <a:ln w="15875">
            <a:solidFill>
              <a:srgbClr val="D9E3EC"/>
            </a:solidFill>
            <a:prstDash val="solid"/>
          </a:ln>
          <a:effectLst>
            <a:outerShdw blurRad="76200" dist="25400" dir="5400000" algn="bl" rotWithShape="0">
              <a:srgbClr val="1B2A4A">
                <a:alpha val="10000"/>
              </a:srgbClr>
            </a:outerShdw>
          </a:effectLst>
        </p:spPr>
      </p:sp>
      <p:sp>
        <p:nvSpPr>
          <p:cNvPr id="15" name="Shape 9"/>
          <p:cNvSpPr/>
          <p:nvPr/>
        </p:nvSpPr>
        <p:spPr>
          <a:xfrm>
            <a:off x="4243469" y="1965960"/>
            <a:ext cx="493776" cy="493776"/>
          </a:xfrm>
          <a:prstGeom prst="ellipse">
            <a:avLst/>
          </a:prstGeom>
          <a:solidFill>
            <a:srgbClr val="EAF2F8"/>
          </a:solidFill>
          <a:ln/>
        </p:spPr>
      </p:sp>
      <p:pic>
        <p:nvPicPr>
          <p:cNvPr id="16" name="Image 4" descr="icons/magnifyingGlassChart_0B5E8C.png"/>
          <p:cNvPicPr>
            <a:picLocks noChangeAspect="1"/>
          </p:cNvPicPr>
          <p:nvPr/>
        </p:nvPicPr>
        <p:blipFill>
          <a:blip r:embed="rId6"/>
          <a:stretch>
            <a:fillRect/>
          </a:stretch>
        </p:blipFill>
        <p:spPr>
          <a:xfrm>
            <a:off x="4307477" y="2027682"/>
            <a:ext cx="429768" cy="429768"/>
          </a:xfrm>
          <a:prstGeom prst="rect">
            <a:avLst/>
          </a:prstGeom>
        </p:spPr>
      </p:pic>
      <p:sp>
        <p:nvSpPr>
          <p:cNvPr id="17" name="Text 10"/>
          <p:cNvSpPr/>
          <p:nvPr/>
        </p:nvSpPr>
        <p:spPr>
          <a:xfrm>
            <a:off x="3903182" y="2606040"/>
            <a:ext cx="1174351" cy="685800"/>
          </a:xfrm>
          <a:prstGeom prst="rect">
            <a:avLst/>
          </a:prstGeom>
          <a:noFill/>
          <a:ln/>
        </p:spPr>
        <p:txBody>
          <a:bodyPr wrap="square" rtlCol="0" anchor="t"/>
          <a:lstStyle/>
          <a:p>
            <a:pPr marL="0" indent="0" algn="ctr">
              <a:lnSpc>
                <a:spcPct val="110000"/>
              </a:lnSpc>
              <a:buNone/>
            </a:pPr>
            <a:r>
              <a:rPr lang="en-US" sz="1400" b="1" dirty="0">
                <a:solidFill>
                  <a:srgbClr val="1B2A4A"/>
                </a:solidFill>
                <a:latin typeface="Calibri" pitchFamily="34" charset="0"/>
                <a:ea typeface="Calibri" pitchFamily="34" charset="-122"/>
                <a:cs typeface="Calibri" pitchFamily="34" charset="-120"/>
              </a:rPr>
              <a:t>Missing Value Check</a:t>
            </a:r>
            <a:endParaRPr lang="en-US" sz="1400" dirty="0"/>
          </a:p>
        </p:txBody>
      </p:sp>
      <p:pic>
        <p:nvPicPr>
          <p:cNvPr id="18" name="Image 5" descr="icons/arrowRight_5B6B79.png"/>
          <p:cNvPicPr>
            <a:picLocks noChangeAspect="1"/>
          </p:cNvPicPr>
          <p:nvPr/>
        </p:nvPicPr>
        <p:blipFill>
          <a:blip r:embed="rId4"/>
          <a:stretch>
            <a:fillRect/>
          </a:stretch>
        </p:blipFill>
        <p:spPr>
          <a:xfrm>
            <a:off x="5228409" y="2468880"/>
            <a:ext cx="128016" cy="128016"/>
          </a:xfrm>
          <a:prstGeom prst="rect">
            <a:avLst/>
          </a:prstGeom>
        </p:spPr>
      </p:pic>
      <p:sp>
        <p:nvSpPr>
          <p:cNvPr id="19" name="Shape 11"/>
          <p:cNvSpPr/>
          <p:nvPr/>
        </p:nvSpPr>
        <p:spPr>
          <a:xfrm>
            <a:off x="5470071" y="1764792"/>
            <a:ext cx="1284079" cy="1600200"/>
          </a:xfrm>
          <a:prstGeom prst="roundRect">
            <a:avLst>
              <a:gd name="adj" fmla="val 5697"/>
            </a:avLst>
          </a:prstGeom>
          <a:solidFill>
            <a:srgbClr val="FFFFFF"/>
          </a:solidFill>
          <a:ln w="15875">
            <a:solidFill>
              <a:srgbClr val="D9E3EC"/>
            </a:solidFill>
            <a:prstDash val="solid"/>
          </a:ln>
          <a:effectLst>
            <a:outerShdw blurRad="76200" dist="25400" dir="5400000" algn="bl" rotWithShape="0">
              <a:srgbClr val="1B2A4A">
                <a:alpha val="10000"/>
              </a:srgbClr>
            </a:outerShdw>
          </a:effectLst>
        </p:spPr>
      </p:sp>
      <p:sp>
        <p:nvSpPr>
          <p:cNvPr id="20" name="Shape 12"/>
          <p:cNvSpPr/>
          <p:nvPr/>
        </p:nvSpPr>
        <p:spPr>
          <a:xfrm>
            <a:off x="5847588" y="1965960"/>
            <a:ext cx="493776" cy="493776"/>
          </a:xfrm>
          <a:prstGeom prst="ellipse">
            <a:avLst/>
          </a:prstGeom>
          <a:solidFill>
            <a:srgbClr val="EAF2F8"/>
          </a:solidFill>
          <a:ln/>
        </p:spPr>
      </p:sp>
      <p:pic>
        <p:nvPicPr>
          <p:cNvPr id="21" name="Image 6" descr="icons/layers_0B5E8C.png"/>
          <p:cNvPicPr>
            <a:picLocks noChangeAspect="1"/>
          </p:cNvPicPr>
          <p:nvPr/>
        </p:nvPicPr>
        <p:blipFill>
          <a:blip r:embed="rId7"/>
          <a:stretch>
            <a:fillRect/>
          </a:stretch>
        </p:blipFill>
        <p:spPr>
          <a:xfrm>
            <a:off x="5890587" y="2039112"/>
            <a:ext cx="374904" cy="374904"/>
          </a:xfrm>
          <a:prstGeom prst="rect">
            <a:avLst/>
          </a:prstGeom>
        </p:spPr>
      </p:pic>
      <p:sp>
        <p:nvSpPr>
          <p:cNvPr id="22" name="Text 13"/>
          <p:cNvSpPr/>
          <p:nvPr/>
        </p:nvSpPr>
        <p:spPr>
          <a:xfrm>
            <a:off x="5507301" y="2606040"/>
            <a:ext cx="1174351" cy="685800"/>
          </a:xfrm>
          <a:prstGeom prst="rect">
            <a:avLst/>
          </a:prstGeom>
          <a:noFill/>
          <a:ln/>
        </p:spPr>
        <p:txBody>
          <a:bodyPr wrap="square" rtlCol="0" anchor="t"/>
          <a:lstStyle/>
          <a:p>
            <a:pPr marL="0" indent="0" algn="ctr">
              <a:lnSpc>
                <a:spcPct val="110000"/>
              </a:lnSpc>
              <a:buNone/>
            </a:pPr>
            <a:r>
              <a:rPr lang="en-US" sz="1400" b="1" dirty="0">
                <a:solidFill>
                  <a:srgbClr val="1B2A4A"/>
                </a:solidFill>
                <a:latin typeface="Calibri" pitchFamily="34" charset="0"/>
                <a:ea typeface="Calibri" pitchFamily="34" charset="-122"/>
                <a:cs typeface="Calibri" pitchFamily="34" charset="-120"/>
              </a:rPr>
              <a:t>Duplicate Validation</a:t>
            </a:r>
            <a:endParaRPr lang="en-US" sz="1400" dirty="0"/>
          </a:p>
        </p:txBody>
      </p:sp>
      <p:pic>
        <p:nvPicPr>
          <p:cNvPr id="23" name="Image 7" descr="icons/arrowRight_5B6B79.png"/>
          <p:cNvPicPr>
            <a:picLocks noChangeAspect="1"/>
          </p:cNvPicPr>
          <p:nvPr/>
        </p:nvPicPr>
        <p:blipFill>
          <a:blip r:embed="rId4"/>
          <a:stretch>
            <a:fillRect/>
          </a:stretch>
        </p:blipFill>
        <p:spPr>
          <a:xfrm>
            <a:off x="6832527" y="2468880"/>
            <a:ext cx="128016" cy="128016"/>
          </a:xfrm>
          <a:prstGeom prst="rect">
            <a:avLst/>
          </a:prstGeom>
        </p:spPr>
      </p:pic>
      <p:sp>
        <p:nvSpPr>
          <p:cNvPr id="24" name="Shape 14"/>
          <p:cNvSpPr/>
          <p:nvPr/>
        </p:nvSpPr>
        <p:spPr>
          <a:xfrm>
            <a:off x="7056555" y="1783080"/>
            <a:ext cx="1284079" cy="1600200"/>
          </a:xfrm>
          <a:prstGeom prst="roundRect">
            <a:avLst>
              <a:gd name="adj" fmla="val 5697"/>
            </a:avLst>
          </a:prstGeom>
          <a:solidFill>
            <a:srgbClr val="FFFFFF"/>
          </a:solidFill>
          <a:ln w="15875">
            <a:solidFill>
              <a:srgbClr val="D9E3EC"/>
            </a:solidFill>
            <a:prstDash val="solid"/>
          </a:ln>
          <a:effectLst>
            <a:outerShdw blurRad="76200" dist="25400" dir="5400000" algn="bl" rotWithShape="0">
              <a:srgbClr val="1B2A4A">
                <a:alpha val="10000"/>
              </a:srgbClr>
            </a:outerShdw>
          </a:effectLst>
        </p:spPr>
      </p:sp>
      <p:sp>
        <p:nvSpPr>
          <p:cNvPr id="25" name="Shape 15"/>
          <p:cNvSpPr/>
          <p:nvPr/>
        </p:nvSpPr>
        <p:spPr>
          <a:xfrm>
            <a:off x="7451707" y="1965960"/>
            <a:ext cx="493776" cy="493776"/>
          </a:xfrm>
          <a:prstGeom prst="ellipse">
            <a:avLst/>
          </a:prstGeom>
          <a:solidFill>
            <a:srgbClr val="EAF2F8"/>
          </a:solidFill>
          <a:ln/>
        </p:spPr>
      </p:sp>
      <p:pic>
        <p:nvPicPr>
          <p:cNvPr id="26" name="Image 8" descr="icons/cogs_0B5E8C.png"/>
          <p:cNvPicPr>
            <a:picLocks noChangeAspect="1"/>
          </p:cNvPicPr>
          <p:nvPr/>
        </p:nvPicPr>
        <p:blipFill>
          <a:blip r:embed="rId8"/>
          <a:stretch>
            <a:fillRect/>
          </a:stretch>
        </p:blipFill>
        <p:spPr>
          <a:xfrm>
            <a:off x="7515061" y="2020171"/>
            <a:ext cx="384701" cy="384701"/>
          </a:xfrm>
          <a:prstGeom prst="rect">
            <a:avLst/>
          </a:prstGeom>
        </p:spPr>
      </p:pic>
      <p:sp>
        <p:nvSpPr>
          <p:cNvPr id="27" name="Text 16"/>
          <p:cNvSpPr/>
          <p:nvPr/>
        </p:nvSpPr>
        <p:spPr>
          <a:xfrm>
            <a:off x="6960543" y="2606040"/>
            <a:ext cx="1434955" cy="685800"/>
          </a:xfrm>
          <a:prstGeom prst="rect">
            <a:avLst/>
          </a:prstGeom>
          <a:noFill/>
          <a:ln/>
        </p:spPr>
        <p:txBody>
          <a:bodyPr wrap="square" rtlCol="0" anchor="t"/>
          <a:lstStyle/>
          <a:p>
            <a:pPr marL="0" indent="0" algn="ctr">
              <a:lnSpc>
                <a:spcPct val="110000"/>
              </a:lnSpc>
              <a:buNone/>
            </a:pPr>
            <a:r>
              <a:rPr lang="en-US" sz="1400" b="1" dirty="0">
                <a:solidFill>
                  <a:srgbClr val="1B2A4A"/>
                </a:solidFill>
                <a:latin typeface="Calibri" pitchFamily="34" charset="0"/>
                <a:ea typeface="Calibri" pitchFamily="34" charset="-122"/>
                <a:cs typeface="Calibri" pitchFamily="34" charset="-120"/>
              </a:rPr>
              <a:t>Standardization</a:t>
            </a:r>
            <a:endParaRPr lang="en-US" sz="1400" dirty="0"/>
          </a:p>
        </p:txBody>
      </p:sp>
      <p:pic>
        <p:nvPicPr>
          <p:cNvPr id="28" name="Image 9" descr="icons/arrowRight_5B6B79.png"/>
          <p:cNvPicPr>
            <a:picLocks noChangeAspect="1"/>
          </p:cNvPicPr>
          <p:nvPr/>
        </p:nvPicPr>
        <p:blipFill>
          <a:blip r:embed="rId4"/>
          <a:stretch>
            <a:fillRect/>
          </a:stretch>
        </p:blipFill>
        <p:spPr>
          <a:xfrm>
            <a:off x="8436646" y="2468880"/>
            <a:ext cx="128016" cy="128016"/>
          </a:xfrm>
          <a:prstGeom prst="rect">
            <a:avLst/>
          </a:prstGeom>
        </p:spPr>
      </p:pic>
      <p:sp>
        <p:nvSpPr>
          <p:cNvPr id="29" name="Shape 17"/>
          <p:cNvSpPr/>
          <p:nvPr/>
        </p:nvSpPr>
        <p:spPr>
          <a:xfrm>
            <a:off x="8660674" y="1783080"/>
            <a:ext cx="1284079" cy="1600200"/>
          </a:xfrm>
          <a:prstGeom prst="roundRect">
            <a:avLst>
              <a:gd name="adj" fmla="val 5697"/>
            </a:avLst>
          </a:prstGeom>
          <a:solidFill>
            <a:srgbClr val="FFFFFF"/>
          </a:solidFill>
          <a:ln w="15875">
            <a:solidFill>
              <a:srgbClr val="D9E3EC"/>
            </a:solidFill>
            <a:prstDash val="solid"/>
          </a:ln>
          <a:effectLst>
            <a:outerShdw blurRad="76200" dist="25400" dir="5400000" algn="bl" rotWithShape="0">
              <a:srgbClr val="1B2A4A">
                <a:alpha val="10000"/>
              </a:srgbClr>
            </a:outerShdw>
          </a:effectLst>
        </p:spPr>
      </p:sp>
      <p:sp>
        <p:nvSpPr>
          <p:cNvPr id="30" name="Shape 18"/>
          <p:cNvSpPr/>
          <p:nvPr/>
        </p:nvSpPr>
        <p:spPr>
          <a:xfrm>
            <a:off x="9055826" y="1965960"/>
            <a:ext cx="493776" cy="493776"/>
          </a:xfrm>
          <a:prstGeom prst="ellipse">
            <a:avLst/>
          </a:prstGeom>
          <a:solidFill>
            <a:srgbClr val="EAF2F8"/>
          </a:solidFill>
          <a:ln/>
        </p:spPr>
      </p:sp>
      <p:pic>
        <p:nvPicPr>
          <p:cNvPr id="31" name="Image 10" descr="icons/checkCircle_0B5E8C.png"/>
          <p:cNvPicPr>
            <a:picLocks noChangeAspect="1"/>
          </p:cNvPicPr>
          <p:nvPr/>
        </p:nvPicPr>
        <p:blipFill>
          <a:blip r:embed="rId9"/>
          <a:stretch>
            <a:fillRect/>
          </a:stretch>
        </p:blipFill>
        <p:spPr>
          <a:xfrm>
            <a:off x="9118310" y="2020171"/>
            <a:ext cx="374904" cy="374904"/>
          </a:xfrm>
          <a:prstGeom prst="rect">
            <a:avLst/>
          </a:prstGeom>
        </p:spPr>
      </p:pic>
      <p:sp>
        <p:nvSpPr>
          <p:cNvPr id="32" name="Text 19"/>
          <p:cNvSpPr/>
          <p:nvPr/>
        </p:nvSpPr>
        <p:spPr>
          <a:xfrm>
            <a:off x="8715538" y="2606040"/>
            <a:ext cx="1174351" cy="685800"/>
          </a:xfrm>
          <a:prstGeom prst="rect">
            <a:avLst/>
          </a:prstGeom>
          <a:noFill/>
          <a:ln/>
        </p:spPr>
        <p:txBody>
          <a:bodyPr wrap="square" rtlCol="0" anchor="t"/>
          <a:lstStyle/>
          <a:p>
            <a:pPr marL="0" indent="0" algn="ctr">
              <a:lnSpc>
                <a:spcPct val="110000"/>
              </a:lnSpc>
              <a:buNone/>
            </a:pPr>
            <a:r>
              <a:rPr lang="en-US" sz="1400" b="1" dirty="0">
                <a:solidFill>
                  <a:srgbClr val="1B2A4A"/>
                </a:solidFill>
                <a:latin typeface="Calibri" pitchFamily="34" charset="0"/>
                <a:ea typeface="Calibri" pitchFamily="34" charset="-122"/>
                <a:cs typeface="Calibri" pitchFamily="34" charset="-120"/>
              </a:rPr>
              <a:t>Data Validation</a:t>
            </a:r>
            <a:endParaRPr lang="en-US" sz="1400" dirty="0"/>
          </a:p>
        </p:txBody>
      </p:sp>
      <p:pic>
        <p:nvPicPr>
          <p:cNvPr id="33" name="Image 11" descr="icons/arrowRight_5B6B79.png"/>
          <p:cNvPicPr>
            <a:picLocks noChangeAspect="1"/>
          </p:cNvPicPr>
          <p:nvPr/>
        </p:nvPicPr>
        <p:blipFill>
          <a:blip r:embed="rId4"/>
          <a:stretch>
            <a:fillRect/>
          </a:stretch>
        </p:blipFill>
        <p:spPr>
          <a:xfrm>
            <a:off x="10040765" y="2468880"/>
            <a:ext cx="128016" cy="128016"/>
          </a:xfrm>
          <a:prstGeom prst="rect">
            <a:avLst/>
          </a:prstGeom>
        </p:spPr>
      </p:pic>
      <p:sp>
        <p:nvSpPr>
          <p:cNvPr id="34" name="Shape 20"/>
          <p:cNvSpPr/>
          <p:nvPr/>
        </p:nvSpPr>
        <p:spPr>
          <a:xfrm>
            <a:off x="10325753" y="1769364"/>
            <a:ext cx="1284079" cy="1600200"/>
          </a:xfrm>
          <a:prstGeom prst="roundRect">
            <a:avLst>
              <a:gd name="adj" fmla="val 5697"/>
            </a:avLst>
          </a:prstGeom>
          <a:solidFill>
            <a:srgbClr val="0B5E8C"/>
          </a:solidFill>
          <a:ln w="15875">
            <a:solidFill>
              <a:srgbClr val="0B5E8C"/>
            </a:solidFill>
            <a:prstDash val="solid"/>
          </a:ln>
          <a:effectLst>
            <a:outerShdw blurRad="76200" dist="25400" dir="5400000" algn="bl" rotWithShape="0">
              <a:srgbClr val="1B2A4A">
                <a:alpha val="10000"/>
              </a:srgbClr>
            </a:outerShdw>
          </a:effectLst>
        </p:spPr>
      </p:sp>
      <p:sp>
        <p:nvSpPr>
          <p:cNvPr id="35" name="Shape 21"/>
          <p:cNvSpPr/>
          <p:nvPr/>
        </p:nvSpPr>
        <p:spPr>
          <a:xfrm>
            <a:off x="10659944" y="1965960"/>
            <a:ext cx="587175" cy="594360"/>
          </a:xfrm>
          <a:prstGeom prst="ellipse">
            <a:avLst/>
          </a:prstGeom>
          <a:solidFill>
            <a:srgbClr val="0E71A8"/>
          </a:solidFill>
          <a:ln/>
        </p:spPr>
      </p:sp>
      <p:pic>
        <p:nvPicPr>
          <p:cNvPr id="36" name="Image 12" descr="icons/chartBar_FFFFFF.png"/>
          <p:cNvPicPr>
            <a:picLocks noChangeAspect="1"/>
          </p:cNvPicPr>
          <p:nvPr/>
        </p:nvPicPr>
        <p:blipFill>
          <a:blip r:embed="rId10"/>
          <a:stretch>
            <a:fillRect/>
          </a:stretch>
        </p:blipFill>
        <p:spPr>
          <a:xfrm>
            <a:off x="10778817" y="2084832"/>
            <a:ext cx="377952" cy="377952"/>
          </a:xfrm>
          <a:prstGeom prst="rect">
            <a:avLst/>
          </a:prstGeom>
        </p:spPr>
      </p:pic>
      <p:sp>
        <p:nvSpPr>
          <p:cNvPr id="37" name="Text 22"/>
          <p:cNvSpPr/>
          <p:nvPr/>
        </p:nvSpPr>
        <p:spPr>
          <a:xfrm>
            <a:off x="10319657" y="2606040"/>
            <a:ext cx="1174351" cy="685800"/>
          </a:xfrm>
          <a:prstGeom prst="rect">
            <a:avLst/>
          </a:prstGeom>
          <a:noFill/>
          <a:ln/>
        </p:spPr>
        <p:txBody>
          <a:bodyPr wrap="square" rtlCol="0" anchor="t"/>
          <a:lstStyle/>
          <a:p>
            <a:pPr marL="0" indent="0" algn="ctr">
              <a:lnSpc>
                <a:spcPct val="110000"/>
              </a:lnSpc>
              <a:buNone/>
            </a:pPr>
            <a:r>
              <a:rPr lang="en-US" sz="1400" b="1" dirty="0">
                <a:solidFill>
                  <a:srgbClr val="FFFFFF"/>
                </a:solidFill>
                <a:latin typeface="Calibri" pitchFamily="34" charset="0"/>
                <a:ea typeface="Calibri" pitchFamily="34" charset="-122"/>
                <a:cs typeface="Calibri" pitchFamily="34" charset="-120"/>
              </a:rPr>
              <a:t>Analysis-Ready Data</a:t>
            </a:r>
            <a:endParaRPr lang="en-US" sz="1400" dirty="0"/>
          </a:p>
        </p:txBody>
      </p:sp>
      <p:sp>
        <p:nvSpPr>
          <p:cNvPr id="38" name="Text 23"/>
          <p:cNvSpPr/>
          <p:nvPr/>
        </p:nvSpPr>
        <p:spPr>
          <a:xfrm>
            <a:off x="630283" y="3764661"/>
            <a:ext cx="7315200" cy="274320"/>
          </a:xfrm>
          <a:prstGeom prst="rect">
            <a:avLst/>
          </a:prstGeom>
          <a:noFill/>
          <a:ln/>
        </p:spPr>
        <p:txBody>
          <a:bodyPr wrap="square" rtlCol="0" anchor="ctr"/>
          <a:lstStyle/>
          <a:p>
            <a:pPr marL="0" indent="0">
              <a:buNone/>
            </a:pPr>
            <a:r>
              <a:rPr lang="en-US" b="1" kern="0" spc="150" dirty="0">
                <a:solidFill>
                  <a:srgbClr val="E8763C"/>
                </a:solidFill>
                <a:latin typeface="Calibri" pitchFamily="34" charset="0"/>
                <a:ea typeface="Calibri" pitchFamily="34" charset="-122"/>
                <a:cs typeface="Calibri" pitchFamily="34" charset="-120"/>
              </a:rPr>
              <a:t>DATA PREPARATION ACTIVITIES</a:t>
            </a:r>
            <a:endParaRPr lang="en-US" dirty="0"/>
          </a:p>
        </p:txBody>
      </p:sp>
      <p:sp>
        <p:nvSpPr>
          <p:cNvPr id="39" name="Shape 24"/>
          <p:cNvSpPr/>
          <p:nvPr/>
        </p:nvSpPr>
        <p:spPr>
          <a:xfrm>
            <a:off x="774410" y="4270248"/>
            <a:ext cx="82296" cy="82296"/>
          </a:xfrm>
          <a:prstGeom prst="ellipse">
            <a:avLst/>
          </a:prstGeom>
          <a:solidFill>
            <a:srgbClr val="0B5E8C"/>
          </a:solidFill>
          <a:ln/>
        </p:spPr>
      </p:sp>
      <p:sp>
        <p:nvSpPr>
          <p:cNvPr id="40" name="Text 25"/>
          <p:cNvSpPr/>
          <p:nvPr/>
        </p:nvSpPr>
        <p:spPr>
          <a:xfrm>
            <a:off x="993866" y="4142232"/>
            <a:ext cx="5129784" cy="365760"/>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Missing-value checks</a:t>
            </a:r>
            <a:endParaRPr lang="en-US" b="1" dirty="0"/>
          </a:p>
        </p:txBody>
      </p:sp>
      <p:sp>
        <p:nvSpPr>
          <p:cNvPr id="41" name="Shape 26"/>
          <p:cNvSpPr/>
          <p:nvPr/>
        </p:nvSpPr>
        <p:spPr>
          <a:xfrm>
            <a:off x="6199632" y="4270248"/>
            <a:ext cx="82296" cy="82296"/>
          </a:xfrm>
          <a:prstGeom prst="ellipse">
            <a:avLst/>
          </a:prstGeom>
          <a:solidFill>
            <a:srgbClr val="0B5E8C"/>
          </a:solidFill>
          <a:ln/>
        </p:spPr>
      </p:sp>
      <p:sp>
        <p:nvSpPr>
          <p:cNvPr id="42" name="Text 27"/>
          <p:cNvSpPr/>
          <p:nvPr/>
        </p:nvSpPr>
        <p:spPr>
          <a:xfrm>
            <a:off x="6429919" y="4142232"/>
            <a:ext cx="5129784" cy="365760"/>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Duplicate checks</a:t>
            </a:r>
            <a:endParaRPr lang="en-US" b="1" dirty="0"/>
          </a:p>
        </p:txBody>
      </p:sp>
      <p:sp>
        <p:nvSpPr>
          <p:cNvPr id="43" name="Shape 28"/>
          <p:cNvSpPr/>
          <p:nvPr/>
        </p:nvSpPr>
        <p:spPr>
          <a:xfrm>
            <a:off x="774410" y="4709160"/>
            <a:ext cx="82296" cy="82296"/>
          </a:xfrm>
          <a:prstGeom prst="ellipse">
            <a:avLst/>
          </a:prstGeom>
          <a:solidFill>
            <a:srgbClr val="0B5E8C"/>
          </a:solidFill>
          <a:ln/>
        </p:spPr>
      </p:sp>
      <p:sp>
        <p:nvSpPr>
          <p:cNvPr id="44" name="Text 29"/>
          <p:cNvSpPr/>
          <p:nvPr/>
        </p:nvSpPr>
        <p:spPr>
          <a:xfrm>
            <a:off x="993866" y="4581144"/>
            <a:ext cx="5129784" cy="365760"/>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Data-type validation</a:t>
            </a:r>
            <a:endParaRPr lang="en-US" b="1" dirty="0"/>
          </a:p>
        </p:txBody>
      </p:sp>
      <p:sp>
        <p:nvSpPr>
          <p:cNvPr id="45" name="Shape 30"/>
          <p:cNvSpPr/>
          <p:nvPr/>
        </p:nvSpPr>
        <p:spPr>
          <a:xfrm>
            <a:off x="6199632" y="4709160"/>
            <a:ext cx="82296" cy="82296"/>
          </a:xfrm>
          <a:prstGeom prst="ellipse">
            <a:avLst/>
          </a:prstGeom>
          <a:solidFill>
            <a:srgbClr val="0B5E8C"/>
          </a:solidFill>
          <a:ln/>
        </p:spPr>
      </p:sp>
      <p:sp>
        <p:nvSpPr>
          <p:cNvPr id="46" name="Text 31"/>
          <p:cNvSpPr/>
          <p:nvPr/>
        </p:nvSpPr>
        <p:spPr>
          <a:xfrm>
            <a:off x="6419088" y="4581144"/>
            <a:ext cx="5129784" cy="365760"/>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Standardization of categorical values</a:t>
            </a:r>
            <a:endParaRPr lang="en-US" b="1" dirty="0"/>
          </a:p>
        </p:txBody>
      </p:sp>
      <p:sp>
        <p:nvSpPr>
          <p:cNvPr id="47" name="Shape 32"/>
          <p:cNvSpPr/>
          <p:nvPr/>
        </p:nvSpPr>
        <p:spPr>
          <a:xfrm>
            <a:off x="774410" y="5148072"/>
            <a:ext cx="82296" cy="82296"/>
          </a:xfrm>
          <a:prstGeom prst="ellipse">
            <a:avLst/>
          </a:prstGeom>
          <a:solidFill>
            <a:srgbClr val="0B5E8C"/>
          </a:solidFill>
          <a:ln/>
        </p:spPr>
      </p:sp>
      <p:sp>
        <p:nvSpPr>
          <p:cNvPr id="48" name="Text 33"/>
          <p:cNvSpPr/>
          <p:nvPr/>
        </p:nvSpPr>
        <p:spPr>
          <a:xfrm>
            <a:off x="993866" y="5020056"/>
            <a:ext cx="5129784" cy="365760"/>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Numerical validation</a:t>
            </a:r>
            <a:endParaRPr lang="en-US" b="1" dirty="0"/>
          </a:p>
        </p:txBody>
      </p:sp>
      <p:sp>
        <p:nvSpPr>
          <p:cNvPr id="49" name="Shape 34"/>
          <p:cNvSpPr/>
          <p:nvPr/>
        </p:nvSpPr>
        <p:spPr>
          <a:xfrm>
            <a:off x="6199632" y="5148072"/>
            <a:ext cx="82296" cy="82296"/>
          </a:xfrm>
          <a:prstGeom prst="ellipse">
            <a:avLst/>
          </a:prstGeom>
          <a:solidFill>
            <a:srgbClr val="0B5E8C"/>
          </a:solidFill>
          <a:ln/>
        </p:spPr>
      </p:sp>
      <p:sp>
        <p:nvSpPr>
          <p:cNvPr id="50" name="Text 35"/>
          <p:cNvSpPr/>
          <p:nvPr/>
        </p:nvSpPr>
        <p:spPr>
          <a:xfrm>
            <a:off x="6419088" y="5020056"/>
            <a:ext cx="5129784" cy="365760"/>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Metric validation</a:t>
            </a:r>
            <a:endParaRPr lang="en-US" b="1" dirty="0"/>
          </a:p>
        </p:txBody>
      </p:sp>
      <p:sp>
        <p:nvSpPr>
          <p:cNvPr id="51" name="Shape 36"/>
          <p:cNvSpPr/>
          <p:nvPr/>
        </p:nvSpPr>
        <p:spPr>
          <a:xfrm>
            <a:off x="774410" y="5586984"/>
            <a:ext cx="82296" cy="82296"/>
          </a:xfrm>
          <a:prstGeom prst="ellipse">
            <a:avLst/>
          </a:prstGeom>
          <a:solidFill>
            <a:srgbClr val="0B5E8C"/>
          </a:solidFill>
          <a:ln/>
        </p:spPr>
      </p:sp>
      <p:sp>
        <p:nvSpPr>
          <p:cNvPr id="52" name="Text 37"/>
          <p:cNvSpPr/>
          <p:nvPr/>
        </p:nvSpPr>
        <p:spPr>
          <a:xfrm>
            <a:off x="993866" y="5458968"/>
            <a:ext cx="5129784" cy="365760"/>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Preparation for pivot-table analysis</a:t>
            </a:r>
            <a:endParaRPr lang="en-US" b="1" dirty="0"/>
          </a:p>
        </p:txBody>
      </p:sp>
      <p:sp>
        <p:nvSpPr>
          <p:cNvPr id="53" name="Text 38"/>
          <p:cNvSpPr/>
          <p:nvPr/>
        </p:nvSpPr>
        <p:spPr>
          <a:xfrm>
            <a:off x="640080" y="6263640"/>
            <a:ext cx="10908792" cy="365760"/>
          </a:xfrm>
          <a:prstGeom prst="rect">
            <a:avLst/>
          </a:prstGeom>
          <a:noFill/>
          <a:ln/>
        </p:spPr>
        <p:txBody>
          <a:bodyPr wrap="square" rtlCol="0" anchor="ctr"/>
          <a:lstStyle/>
          <a:p>
            <a:pPr marL="0" indent="0">
              <a:buNone/>
            </a:pPr>
            <a:r>
              <a:rPr lang="en-US" sz="1200" b="1" i="1" dirty="0">
                <a:solidFill>
                  <a:schemeClr val="accent2">
                    <a:lumMod val="75000"/>
                  </a:schemeClr>
                </a:solidFill>
                <a:latin typeface="Calibri" pitchFamily="34" charset="0"/>
                <a:ea typeface="Calibri" pitchFamily="34" charset="-122"/>
                <a:cs typeface="Calibri" pitchFamily="34" charset="-120"/>
              </a:rPr>
              <a:t>These activities reflect the data-preparation methodology followed to make the dataset analysis-ready for pivot-based reporting</a:t>
            </a:r>
            <a:r>
              <a:rPr lang="en-US" sz="1400" b="1" i="1" dirty="0">
                <a:solidFill>
                  <a:srgbClr val="5B6B79"/>
                </a:solidFill>
                <a:latin typeface="Calibri" pitchFamily="34" charset="0"/>
                <a:ea typeface="Calibri" pitchFamily="34" charset="-122"/>
                <a:cs typeface="Calibri" pitchFamily="34" charset="-120"/>
              </a:rPr>
              <a:t>.</a:t>
            </a:r>
            <a:endParaRPr lang="en-US" sz="1400" b="1" dirty="0"/>
          </a:p>
        </p:txBody>
      </p:sp>
      <p:sp>
        <p:nvSpPr>
          <p:cNvPr id="54" name="Text 39"/>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05</a:t>
            </a:r>
            <a:endParaRPr lang="en-US" sz="1000" dirty="0">
              <a:solidFill>
                <a:schemeClr val="bg1"/>
              </a:solidFill>
            </a:endParaRPr>
          </a:p>
        </p:txBody>
      </p:sp>
      <p:sp>
        <p:nvSpPr>
          <p:cNvPr id="55" name="Text 40"/>
          <p:cNvSpPr/>
          <p:nvPr/>
        </p:nvSpPr>
        <p:spPr>
          <a:xfrm>
            <a:off x="8899855" y="6400800"/>
            <a:ext cx="2560320" cy="274320"/>
          </a:xfrm>
          <a:prstGeom prst="rect">
            <a:avLst/>
          </a:prstGeom>
          <a:noFill/>
          <a:ln/>
        </p:spPr>
        <p:txBody>
          <a:bodyPr wrap="square" rtlCol="0" anchor="ctr"/>
          <a:lstStyle/>
          <a:p>
            <a:pPr marL="0" indent="0" algn="r">
              <a:buNone/>
            </a:pPr>
            <a:r>
              <a:rPr lang="en-US" sz="900" b="1" kern="0" spc="150" dirty="0">
                <a:solidFill>
                  <a:schemeClr val="bg1"/>
                </a:solidFill>
                <a:latin typeface="Calibri" pitchFamily="34" charset="0"/>
                <a:ea typeface="Calibri" pitchFamily="34" charset="-122"/>
                <a:cs typeface="Calibri" pitchFamily="34" charset="-120"/>
              </a:rPr>
              <a:t>DATA PREPARATION</a:t>
            </a:r>
            <a:endParaRPr lang="en-US" sz="9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11480"/>
            <a:ext cx="8229600" cy="320040"/>
          </a:xfrm>
          <a:prstGeom prst="rect">
            <a:avLst/>
          </a:prstGeom>
          <a:noFill/>
          <a:ln/>
        </p:spPr>
        <p:txBody>
          <a:bodyPr wrap="square" rtlCol="0" anchor="ctr"/>
          <a:lstStyle/>
          <a:p>
            <a:pPr marL="0" indent="0">
              <a:buNone/>
            </a:pPr>
            <a:r>
              <a:rPr lang="en-US" b="1" kern="0" spc="200" dirty="0">
                <a:solidFill>
                  <a:srgbClr val="E8763C"/>
                </a:solidFill>
                <a:latin typeface="Calibri" pitchFamily="34" charset="0"/>
                <a:ea typeface="Calibri" pitchFamily="34" charset="-122"/>
                <a:cs typeface="Calibri" pitchFamily="34" charset="-120"/>
              </a:rPr>
              <a:t>BEHIND THE DASHBOARD</a:t>
            </a:r>
            <a:endParaRPr lang="en-US" dirty="0"/>
          </a:p>
        </p:txBody>
      </p:sp>
      <p:sp>
        <p:nvSpPr>
          <p:cNvPr id="3" name="Text 1"/>
          <p:cNvSpPr/>
          <p:nvPr/>
        </p:nvSpPr>
        <p:spPr>
          <a:xfrm>
            <a:off x="640080" y="713232"/>
            <a:ext cx="10607040" cy="822960"/>
          </a:xfrm>
          <a:prstGeom prst="rect">
            <a:avLst/>
          </a:prstGeom>
          <a:noFill/>
          <a:ln/>
        </p:spPr>
        <p:txBody>
          <a:bodyPr wrap="square" rtlCol="0" anchor="ctr"/>
          <a:lstStyle/>
          <a:p>
            <a:pPr marL="0" indent="0">
              <a:buNone/>
            </a:pPr>
            <a:r>
              <a:rPr lang="en-US" sz="3600" b="1" u="sng" dirty="0">
                <a:solidFill>
                  <a:srgbClr val="1B2A4A"/>
                </a:solidFill>
                <a:latin typeface="Cambria" pitchFamily="34" charset="0"/>
                <a:ea typeface="Cambria" pitchFamily="34" charset="-122"/>
                <a:cs typeface="Cambria" pitchFamily="34" charset="-120"/>
              </a:rPr>
              <a:t>Data Modeling &amp; Analytical Structure</a:t>
            </a:r>
            <a:endParaRPr lang="en-US" sz="3600" u="sng" dirty="0"/>
          </a:p>
        </p:txBody>
      </p:sp>
      <p:sp>
        <p:nvSpPr>
          <p:cNvPr id="4" name="Shape 2"/>
          <p:cNvSpPr/>
          <p:nvPr/>
        </p:nvSpPr>
        <p:spPr>
          <a:xfrm>
            <a:off x="1293876" y="1623059"/>
            <a:ext cx="9601200" cy="4406265"/>
          </a:xfrm>
          <a:prstGeom prst="roundRect">
            <a:avLst>
              <a:gd name="adj" fmla="val 2198"/>
            </a:avLst>
          </a:prstGeom>
          <a:solidFill>
            <a:srgbClr val="EAF2F8"/>
          </a:solidFill>
          <a:ln w="12700">
            <a:solidFill>
              <a:srgbClr val="D3E4F0"/>
            </a:solidFill>
            <a:prstDash val="solid"/>
          </a:ln>
        </p:spPr>
      </p:sp>
      <p:sp>
        <p:nvSpPr>
          <p:cNvPr id="5" name="Shape 3"/>
          <p:cNvSpPr/>
          <p:nvPr/>
        </p:nvSpPr>
        <p:spPr>
          <a:xfrm>
            <a:off x="4709160" y="1828800"/>
            <a:ext cx="2743200" cy="384048"/>
          </a:xfrm>
          <a:prstGeom prst="roundRect">
            <a:avLst>
              <a:gd name="adj" fmla="val 14286"/>
            </a:avLst>
          </a:prstGeom>
          <a:solidFill>
            <a:srgbClr val="1B2A4A"/>
          </a:solidFill>
          <a:ln/>
        </p:spPr>
      </p:sp>
      <p:sp>
        <p:nvSpPr>
          <p:cNvPr id="6" name="Text 4"/>
          <p:cNvSpPr/>
          <p:nvPr/>
        </p:nvSpPr>
        <p:spPr>
          <a:xfrm>
            <a:off x="4709160" y="1828800"/>
            <a:ext cx="274320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JAL JEEVAN MISSION DATA</a:t>
            </a:r>
            <a:endParaRPr lang="en-US" sz="1400" dirty="0"/>
          </a:p>
        </p:txBody>
      </p:sp>
      <p:sp>
        <p:nvSpPr>
          <p:cNvPr id="7" name="Shape 5"/>
          <p:cNvSpPr/>
          <p:nvPr/>
        </p:nvSpPr>
        <p:spPr>
          <a:xfrm>
            <a:off x="6080760" y="2212848"/>
            <a:ext cx="0" cy="0"/>
          </a:xfrm>
          <a:prstGeom prst="line">
            <a:avLst/>
          </a:prstGeom>
          <a:noFill/>
          <a:ln w="15875">
            <a:solidFill>
              <a:srgbClr val="9FB6C9"/>
            </a:solidFill>
            <a:prstDash val="solid"/>
          </a:ln>
        </p:spPr>
      </p:sp>
      <p:sp>
        <p:nvSpPr>
          <p:cNvPr id="8" name="Shape 6"/>
          <p:cNvSpPr/>
          <p:nvPr/>
        </p:nvSpPr>
        <p:spPr>
          <a:xfrm>
            <a:off x="2743200" y="2212848"/>
            <a:ext cx="0" cy="438912"/>
          </a:xfrm>
          <a:prstGeom prst="line">
            <a:avLst/>
          </a:prstGeom>
          <a:noFill/>
          <a:ln w="15875">
            <a:solidFill>
              <a:srgbClr val="9FB6C9"/>
            </a:solidFill>
            <a:prstDash val="solid"/>
          </a:ln>
        </p:spPr>
      </p:sp>
      <p:sp>
        <p:nvSpPr>
          <p:cNvPr id="9" name="Shape 7"/>
          <p:cNvSpPr/>
          <p:nvPr/>
        </p:nvSpPr>
        <p:spPr>
          <a:xfrm>
            <a:off x="1828800" y="2651760"/>
            <a:ext cx="1828800" cy="365760"/>
          </a:xfrm>
          <a:prstGeom prst="roundRect">
            <a:avLst>
              <a:gd name="adj" fmla="val 12500"/>
            </a:avLst>
          </a:prstGeom>
          <a:solidFill>
            <a:srgbClr val="1C7293"/>
          </a:solidFill>
          <a:ln/>
        </p:spPr>
      </p:sp>
      <p:sp>
        <p:nvSpPr>
          <p:cNvPr id="10" name="Text 8"/>
          <p:cNvSpPr/>
          <p:nvPr/>
        </p:nvSpPr>
        <p:spPr>
          <a:xfrm>
            <a:off x="1828800" y="2651760"/>
            <a:ext cx="182880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Geography</a:t>
            </a:r>
            <a:endParaRPr lang="en-US" sz="1200" dirty="0"/>
          </a:p>
        </p:txBody>
      </p:sp>
      <p:sp>
        <p:nvSpPr>
          <p:cNvPr id="11" name="Text 9"/>
          <p:cNvSpPr/>
          <p:nvPr/>
        </p:nvSpPr>
        <p:spPr>
          <a:xfrm>
            <a:off x="1737360" y="3072384"/>
            <a:ext cx="2011680" cy="548640"/>
          </a:xfrm>
          <a:prstGeom prst="rect">
            <a:avLst/>
          </a:prstGeom>
          <a:noFill/>
          <a:ln/>
        </p:spPr>
        <p:txBody>
          <a:bodyPr wrap="square" rtlCol="0" anchor="ctr"/>
          <a:lstStyle/>
          <a:p>
            <a:pPr marL="0" indent="0" algn="ctr">
              <a:lnSpc>
                <a:spcPct val="115000"/>
              </a:lnSpc>
              <a:buNone/>
            </a:pPr>
            <a:r>
              <a:rPr lang="en-US" sz="1200" b="1" dirty="0">
                <a:solidFill>
                  <a:srgbClr val="5B6B79"/>
                </a:solidFill>
                <a:latin typeface="Calibri" pitchFamily="34" charset="0"/>
                <a:ea typeface="Calibri" pitchFamily="34" charset="-122"/>
                <a:cs typeface="Calibri" pitchFamily="34" charset="-120"/>
              </a:rPr>
              <a:t>District</a:t>
            </a:r>
            <a:endParaRPr lang="en-US" sz="1200" b="1" dirty="0"/>
          </a:p>
          <a:p>
            <a:pPr marL="0" indent="0" algn="ctr">
              <a:lnSpc>
                <a:spcPct val="115000"/>
              </a:lnSpc>
              <a:buNone/>
            </a:pPr>
            <a:r>
              <a:rPr lang="en-US" sz="1200" b="1" dirty="0">
                <a:solidFill>
                  <a:srgbClr val="5B6B79"/>
                </a:solidFill>
                <a:latin typeface="Calibri" pitchFamily="34" charset="0"/>
                <a:ea typeface="Calibri" pitchFamily="34" charset="-122"/>
                <a:cs typeface="Calibri" pitchFamily="34" charset="-120"/>
              </a:rPr>
              <a:t>Area / Region</a:t>
            </a:r>
            <a:endParaRPr lang="en-US" sz="1200" b="1" dirty="0"/>
          </a:p>
        </p:txBody>
      </p:sp>
      <p:sp>
        <p:nvSpPr>
          <p:cNvPr id="12" name="Shape 10"/>
          <p:cNvSpPr/>
          <p:nvPr/>
        </p:nvSpPr>
        <p:spPr>
          <a:xfrm>
            <a:off x="6080760" y="2212848"/>
            <a:ext cx="0" cy="0"/>
          </a:xfrm>
          <a:prstGeom prst="line">
            <a:avLst/>
          </a:prstGeom>
          <a:noFill/>
          <a:ln w="15875">
            <a:solidFill>
              <a:srgbClr val="9FB6C9"/>
            </a:solidFill>
            <a:prstDash val="solid"/>
          </a:ln>
        </p:spPr>
      </p:sp>
      <p:sp>
        <p:nvSpPr>
          <p:cNvPr id="13" name="Shape 11"/>
          <p:cNvSpPr/>
          <p:nvPr/>
        </p:nvSpPr>
        <p:spPr>
          <a:xfrm>
            <a:off x="6080760" y="2212848"/>
            <a:ext cx="0" cy="438912"/>
          </a:xfrm>
          <a:prstGeom prst="line">
            <a:avLst/>
          </a:prstGeom>
          <a:noFill/>
          <a:ln w="15875">
            <a:solidFill>
              <a:srgbClr val="9FB6C9"/>
            </a:solidFill>
            <a:prstDash val="solid"/>
          </a:ln>
        </p:spPr>
      </p:sp>
      <p:sp>
        <p:nvSpPr>
          <p:cNvPr id="14" name="Shape 12"/>
          <p:cNvSpPr/>
          <p:nvPr/>
        </p:nvSpPr>
        <p:spPr>
          <a:xfrm>
            <a:off x="5166360" y="2651760"/>
            <a:ext cx="1828800" cy="365760"/>
          </a:xfrm>
          <a:prstGeom prst="roundRect">
            <a:avLst>
              <a:gd name="adj" fmla="val 12500"/>
            </a:avLst>
          </a:prstGeom>
          <a:solidFill>
            <a:srgbClr val="1C7293"/>
          </a:solidFill>
          <a:ln/>
        </p:spPr>
      </p:sp>
      <p:sp>
        <p:nvSpPr>
          <p:cNvPr id="15" name="Text 13"/>
          <p:cNvSpPr/>
          <p:nvPr/>
        </p:nvSpPr>
        <p:spPr>
          <a:xfrm>
            <a:off x="5166360" y="2651760"/>
            <a:ext cx="182880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Time</a:t>
            </a:r>
            <a:endParaRPr lang="en-US" sz="1200" dirty="0"/>
          </a:p>
        </p:txBody>
      </p:sp>
      <p:sp>
        <p:nvSpPr>
          <p:cNvPr id="16" name="Text 14"/>
          <p:cNvSpPr/>
          <p:nvPr/>
        </p:nvSpPr>
        <p:spPr>
          <a:xfrm>
            <a:off x="5074920" y="3072384"/>
            <a:ext cx="2011680" cy="548640"/>
          </a:xfrm>
          <a:prstGeom prst="rect">
            <a:avLst/>
          </a:prstGeom>
          <a:noFill/>
          <a:ln/>
        </p:spPr>
        <p:txBody>
          <a:bodyPr wrap="square" rtlCol="0" anchor="ctr"/>
          <a:lstStyle/>
          <a:p>
            <a:pPr marL="0" indent="0" algn="ctr">
              <a:lnSpc>
                <a:spcPct val="115000"/>
              </a:lnSpc>
              <a:buNone/>
            </a:pPr>
            <a:r>
              <a:rPr lang="en-US" sz="1200" b="1" dirty="0">
                <a:solidFill>
                  <a:srgbClr val="5B6B79"/>
                </a:solidFill>
                <a:latin typeface="Calibri" pitchFamily="34" charset="0"/>
                <a:ea typeface="Calibri" pitchFamily="34" charset="-122"/>
                <a:cs typeface="Calibri" pitchFamily="34" charset="-120"/>
              </a:rPr>
              <a:t>Year</a:t>
            </a:r>
            <a:endParaRPr lang="en-US" sz="1200" b="1" dirty="0"/>
          </a:p>
          <a:p>
            <a:pPr marL="0" indent="0" algn="ctr">
              <a:lnSpc>
                <a:spcPct val="115000"/>
              </a:lnSpc>
              <a:buNone/>
            </a:pPr>
            <a:r>
              <a:rPr lang="en-US" sz="1200" b="1" dirty="0">
                <a:solidFill>
                  <a:srgbClr val="5B6B79"/>
                </a:solidFill>
                <a:latin typeface="Calibri" pitchFamily="34" charset="0"/>
                <a:ea typeface="Calibri" pitchFamily="34" charset="-122"/>
                <a:cs typeface="Calibri" pitchFamily="34" charset="-120"/>
              </a:rPr>
              <a:t>Month</a:t>
            </a:r>
            <a:endParaRPr lang="en-US" sz="1200" b="1" dirty="0"/>
          </a:p>
        </p:txBody>
      </p:sp>
      <p:sp>
        <p:nvSpPr>
          <p:cNvPr id="17" name="Shape 15"/>
          <p:cNvSpPr/>
          <p:nvPr/>
        </p:nvSpPr>
        <p:spPr>
          <a:xfrm>
            <a:off x="6080760" y="2212848"/>
            <a:ext cx="3337560" cy="0"/>
          </a:xfrm>
          <a:prstGeom prst="line">
            <a:avLst/>
          </a:prstGeom>
          <a:noFill/>
          <a:ln w="15875">
            <a:solidFill>
              <a:srgbClr val="9FB6C9"/>
            </a:solidFill>
            <a:prstDash val="solid"/>
          </a:ln>
        </p:spPr>
      </p:sp>
      <p:sp>
        <p:nvSpPr>
          <p:cNvPr id="18" name="Shape 16"/>
          <p:cNvSpPr/>
          <p:nvPr/>
        </p:nvSpPr>
        <p:spPr>
          <a:xfrm>
            <a:off x="9418320" y="2212848"/>
            <a:ext cx="0" cy="438912"/>
          </a:xfrm>
          <a:prstGeom prst="line">
            <a:avLst/>
          </a:prstGeom>
          <a:noFill/>
          <a:ln w="15875">
            <a:solidFill>
              <a:srgbClr val="9FB6C9"/>
            </a:solidFill>
            <a:prstDash val="solid"/>
          </a:ln>
        </p:spPr>
      </p:sp>
      <p:sp>
        <p:nvSpPr>
          <p:cNvPr id="19" name="Shape 17"/>
          <p:cNvSpPr/>
          <p:nvPr/>
        </p:nvSpPr>
        <p:spPr>
          <a:xfrm>
            <a:off x="8503920" y="2651760"/>
            <a:ext cx="1828800" cy="365760"/>
          </a:xfrm>
          <a:prstGeom prst="roundRect">
            <a:avLst>
              <a:gd name="adj" fmla="val 12500"/>
            </a:avLst>
          </a:prstGeom>
          <a:solidFill>
            <a:srgbClr val="1C7293"/>
          </a:solidFill>
          <a:ln/>
        </p:spPr>
      </p:sp>
      <p:sp>
        <p:nvSpPr>
          <p:cNvPr id="20" name="Text 18"/>
          <p:cNvSpPr/>
          <p:nvPr/>
        </p:nvSpPr>
        <p:spPr>
          <a:xfrm>
            <a:off x="8503920" y="2651760"/>
            <a:ext cx="182880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Measures</a:t>
            </a:r>
            <a:endParaRPr lang="en-US" sz="1200" dirty="0"/>
          </a:p>
        </p:txBody>
      </p:sp>
      <p:sp>
        <p:nvSpPr>
          <p:cNvPr id="21" name="Text 19"/>
          <p:cNvSpPr/>
          <p:nvPr/>
        </p:nvSpPr>
        <p:spPr>
          <a:xfrm>
            <a:off x="8412480" y="3072384"/>
            <a:ext cx="2011680" cy="548640"/>
          </a:xfrm>
          <a:prstGeom prst="rect">
            <a:avLst/>
          </a:prstGeom>
          <a:noFill/>
          <a:ln/>
        </p:spPr>
        <p:txBody>
          <a:bodyPr wrap="square" rtlCol="0" anchor="ctr"/>
          <a:lstStyle/>
          <a:p>
            <a:pPr marL="0" indent="0" algn="ctr">
              <a:lnSpc>
                <a:spcPct val="115000"/>
              </a:lnSpc>
              <a:buNone/>
            </a:pPr>
            <a:r>
              <a:rPr lang="en-US" sz="1200" b="1" dirty="0">
                <a:solidFill>
                  <a:srgbClr val="5B6B79"/>
                </a:solidFill>
                <a:latin typeface="Calibri" pitchFamily="34" charset="0"/>
                <a:ea typeface="Calibri" pitchFamily="34" charset="-122"/>
                <a:cs typeface="Calibri" pitchFamily="34" charset="-120"/>
              </a:rPr>
              <a:t>FHTC_Provided</a:t>
            </a:r>
            <a:endParaRPr lang="en-US" sz="1200" b="1" dirty="0"/>
          </a:p>
          <a:p>
            <a:pPr marL="0" indent="0" algn="ctr">
              <a:lnSpc>
                <a:spcPct val="115000"/>
              </a:lnSpc>
              <a:buNone/>
            </a:pPr>
            <a:r>
              <a:rPr lang="en-US" sz="1200" b="1" dirty="0">
                <a:solidFill>
                  <a:srgbClr val="5B6B79"/>
                </a:solidFill>
                <a:latin typeface="Calibri" pitchFamily="34" charset="0"/>
                <a:ea typeface="Calibri" pitchFamily="34" charset="-122"/>
                <a:cs typeface="Calibri" pitchFamily="34" charset="-120"/>
              </a:rPr>
              <a:t>Coverage %</a:t>
            </a:r>
            <a:endParaRPr lang="en-US" sz="1200" b="1" dirty="0"/>
          </a:p>
        </p:txBody>
      </p:sp>
      <p:sp>
        <p:nvSpPr>
          <p:cNvPr id="22" name="Shape 20"/>
          <p:cNvSpPr/>
          <p:nvPr/>
        </p:nvSpPr>
        <p:spPr>
          <a:xfrm>
            <a:off x="9418320" y="3657600"/>
            <a:ext cx="0" cy="274320"/>
          </a:xfrm>
          <a:prstGeom prst="line">
            <a:avLst/>
          </a:prstGeom>
          <a:noFill/>
          <a:ln w="15875">
            <a:solidFill>
              <a:srgbClr val="9FB6C9"/>
            </a:solidFill>
            <a:prstDash val="solid"/>
          </a:ln>
        </p:spPr>
      </p:sp>
      <p:sp>
        <p:nvSpPr>
          <p:cNvPr id="23" name="Shape 21"/>
          <p:cNvSpPr/>
          <p:nvPr/>
        </p:nvSpPr>
        <p:spPr>
          <a:xfrm>
            <a:off x="8412480" y="3931920"/>
            <a:ext cx="2011680" cy="365760"/>
          </a:xfrm>
          <a:prstGeom prst="roundRect">
            <a:avLst>
              <a:gd name="adj" fmla="val 12500"/>
            </a:avLst>
          </a:prstGeom>
          <a:solidFill>
            <a:srgbClr val="1C7293"/>
          </a:solidFill>
          <a:ln/>
        </p:spPr>
      </p:sp>
      <p:sp>
        <p:nvSpPr>
          <p:cNvPr id="24" name="Text 22"/>
          <p:cNvSpPr/>
          <p:nvPr/>
        </p:nvSpPr>
        <p:spPr>
          <a:xfrm>
            <a:off x="8412480" y="3931920"/>
            <a:ext cx="201168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Source Type</a:t>
            </a:r>
            <a:endParaRPr lang="en-US" sz="1200" dirty="0"/>
          </a:p>
        </p:txBody>
      </p:sp>
      <p:sp>
        <p:nvSpPr>
          <p:cNvPr id="25" name="Text 23"/>
          <p:cNvSpPr/>
          <p:nvPr/>
        </p:nvSpPr>
        <p:spPr>
          <a:xfrm>
            <a:off x="8183880" y="4343400"/>
            <a:ext cx="2468880" cy="320040"/>
          </a:xfrm>
          <a:prstGeom prst="rect">
            <a:avLst/>
          </a:prstGeom>
          <a:noFill/>
          <a:ln/>
        </p:spPr>
        <p:txBody>
          <a:bodyPr wrap="square" rtlCol="0" anchor="ctr"/>
          <a:lstStyle/>
          <a:p>
            <a:pPr marL="0" indent="0" algn="ctr">
              <a:buNone/>
            </a:pPr>
            <a:r>
              <a:rPr lang="en-US" sz="1200" b="1" dirty="0">
                <a:solidFill>
                  <a:srgbClr val="5B6B79"/>
                </a:solidFill>
                <a:latin typeface="Calibri" pitchFamily="34" charset="0"/>
                <a:ea typeface="Calibri" pitchFamily="34" charset="-122"/>
                <a:cs typeface="Calibri" pitchFamily="34" charset="-120"/>
              </a:rPr>
              <a:t>Groundwater / Surface</a:t>
            </a:r>
            <a:endParaRPr lang="en-US" sz="1200" b="1" dirty="0"/>
          </a:p>
        </p:txBody>
      </p:sp>
      <p:sp>
        <p:nvSpPr>
          <p:cNvPr id="26" name="Shape 24"/>
          <p:cNvSpPr/>
          <p:nvPr/>
        </p:nvSpPr>
        <p:spPr>
          <a:xfrm>
            <a:off x="6080760" y="3657600"/>
            <a:ext cx="0" cy="137160"/>
          </a:xfrm>
          <a:prstGeom prst="line">
            <a:avLst/>
          </a:prstGeom>
          <a:noFill/>
          <a:ln w="15875">
            <a:solidFill>
              <a:srgbClr val="9FB6C9"/>
            </a:solidFill>
            <a:prstDash val="solid"/>
          </a:ln>
        </p:spPr>
      </p:sp>
      <p:sp>
        <p:nvSpPr>
          <p:cNvPr id="27" name="Shape 25"/>
          <p:cNvSpPr/>
          <p:nvPr/>
        </p:nvSpPr>
        <p:spPr>
          <a:xfrm>
            <a:off x="6080760" y="3794760"/>
            <a:ext cx="3337560" cy="0"/>
          </a:xfrm>
          <a:prstGeom prst="line">
            <a:avLst/>
          </a:prstGeom>
          <a:noFill/>
          <a:ln w="15875">
            <a:solidFill>
              <a:srgbClr val="9FB6C9"/>
            </a:solidFill>
            <a:prstDash val="solid"/>
          </a:ln>
        </p:spPr>
      </p:sp>
      <p:sp>
        <p:nvSpPr>
          <p:cNvPr id="28" name="Shape 26"/>
          <p:cNvSpPr/>
          <p:nvPr/>
        </p:nvSpPr>
        <p:spPr>
          <a:xfrm>
            <a:off x="6080760" y="3794760"/>
            <a:ext cx="0" cy="502920"/>
          </a:xfrm>
          <a:prstGeom prst="line">
            <a:avLst/>
          </a:prstGeom>
          <a:noFill/>
          <a:ln w="15875">
            <a:solidFill>
              <a:srgbClr val="9FB6C9"/>
            </a:solidFill>
            <a:prstDash val="solid"/>
          </a:ln>
        </p:spPr>
      </p:sp>
      <p:sp>
        <p:nvSpPr>
          <p:cNvPr id="29" name="Shape 27"/>
          <p:cNvSpPr/>
          <p:nvPr/>
        </p:nvSpPr>
        <p:spPr>
          <a:xfrm>
            <a:off x="5074920" y="4297680"/>
            <a:ext cx="2011680" cy="384048"/>
          </a:xfrm>
          <a:prstGeom prst="roundRect">
            <a:avLst>
              <a:gd name="adj" fmla="val 14286"/>
            </a:avLst>
          </a:prstGeom>
          <a:solidFill>
            <a:srgbClr val="0B5E8C"/>
          </a:solidFill>
          <a:ln/>
        </p:spPr>
      </p:sp>
      <p:sp>
        <p:nvSpPr>
          <p:cNvPr id="30" name="Text 28"/>
          <p:cNvSpPr/>
          <p:nvPr/>
        </p:nvSpPr>
        <p:spPr>
          <a:xfrm>
            <a:off x="5074920" y="4297680"/>
            <a:ext cx="201168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Pivot Analysis</a:t>
            </a:r>
            <a:endParaRPr lang="en-US" sz="1200" dirty="0"/>
          </a:p>
        </p:txBody>
      </p:sp>
      <p:sp>
        <p:nvSpPr>
          <p:cNvPr id="31" name="Shape 29"/>
          <p:cNvSpPr/>
          <p:nvPr/>
        </p:nvSpPr>
        <p:spPr>
          <a:xfrm>
            <a:off x="6080760" y="4681728"/>
            <a:ext cx="0" cy="228600"/>
          </a:xfrm>
          <a:prstGeom prst="line">
            <a:avLst/>
          </a:prstGeom>
          <a:noFill/>
          <a:ln w="15875">
            <a:solidFill>
              <a:srgbClr val="9FB6C9"/>
            </a:solidFill>
            <a:prstDash val="solid"/>
          </a:ln>
        </p:spPr>
      </p:sp>
      <p:sp>
        <p:nvSpPr>
          <p:cNvPr id="32" name="Shape 30"/>
          <p:cNvSpPr/>
          <p:nvPr/>
        </p:nvSpPr>
        <p:spPr>
          <a:xfrm>
            <a:off x="4846320" y="4910328"/>
            <a:ext cx="2468880" cy="402336"/>
          </a:xfrm>
          <a:prstGeom prst="roundRect">
            <a:avLst>
              <a:gd name="adj" fmla="val 13636"/>
            </a:avLst>
          </a:prstGeom>
          <a:solidFill>
            <a:srgbClr val="1B2A4A"/>
          </a:solidFill>
          <a:ln/>
        </p:spPr>
      </p:sp>
      <p:sp>
        <p:nvSpPr>
          <p:cNvPr id="33" name="Text 31"/>
          <p:cNvSpPr/>
          <p:nvPr/>
        </p:nvSpPr>
        <p:spPr>
          <a:xfrm>
            <a:off x="4846320" y="4910328"/>
            <a:ext cx="2468880" cy="402336"/>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Interactive Dashboard</a:t>
            </a:r>
            <a:endParaRPr lang="en-US" dirty="0"/>
          </a:p>
        </p:txBody>
      </p:sp>
      <p:sp>
        <p:nvSpPr>
          <p:cNvPr id="34" name="Text 32"/>
          <p:cNvSpPr/>
          <p:nvPr/>
        </p:nvSpPr>
        <p:spPr>
          <a:xfrm>
            <a:off x="640080" y="5870448"/>
            <a:ext cx="10908792" cy="685800"/>
          </a:xfrm>
          <a:prstGeom prst="rect">
            <a:avLst/>
          </a:prstGeom>
          <a:noFill/>
          <a:ln/>
        </p:spPr>
        <p:txBody>
          <a:bodyPr wrap="square" rtlCol="0" anchor="ctr"/>
          <a:lstStyle/>
          <a:p>
            <a:pPr marL="0" indent="0" algn="ctr">
              <a:buNone/>
            </a:pPr>
            <a:r>
              <a:rPr lang="en-US" sz="1200" i="1" dirty="0">
                <a:solidFill>
                  <a:schemeClr val="accent2">
                    <a:lumMod val="75000"/>
                  </a:schemeClr>
                </a:solidFill>
                <a:latin typeface="Calibri" pitchFamily="34" charset="0"/>
                <a:ea typeface="Calibri" pitchFamily="34" charset="-122"/>
                <a:cs typeface="Calibri" pitchFamily="34" charset="-120"/>
              </a:rPr>
              <a:t>This structure supports district analysis, time analysis, coverage analysis, source analysis, and dashboard reporting</a:t>
            </a:r>
            <a:r>
              <a:rPr lang="en-US" sz="1100" i="1" dirty="0">
                <a:solidFill>
                  <a:schemeClr val="accent2">
                    <a:lumMod val="75000"/>
                  </a:schemeClr>
                </a:solidFill>
                <a:latin typeface="Calibri" pitchFamily="34" charset="0"/>
                <a:ea typeface="Calibri" pitchFamily="34" charset="-122"/>
                <a:cs typeface="Calibri" pitchFamily="34" charset="-120"/>
              </a:rPr>
              <a:t>.</a:t>
            </a:r>
            <a:endParaRPr lang="en-US" sz="1100" dirty="0">
              <a:solidFill>
                <a:schemeClr val="accent2">
                  <a:lumMod val="75000"/>
                </a:schemeClr>
              </a:solidFill>
            </a:endParaRPr>
          </a:p>
        </p:txBody>
      </p:sp>
      <p:sp>
        <p:nvSpPr>
          <p:cNvPr id="35" name="Text 33"/>
          <p:cNvSpPr/>
          <p:nvPr/>
        </p:nvSpPr>
        <p:spPr>
          <a:xfrm>
            <a:off x="11368735" y="6400800"/>
            <a:ext cx="548640" cy="155448"/>
          </a:xfrm>
          <a:prstGeom prst="rect">
            <a:avLst/>
          </a:prstGeom>
          <a:noFill/>
          <a:ln/>
        </p:spPr>
        <p:txBody>
          <a:bodyPr wrap="square"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06</a:t>
            </a:r>
            <a:endParaRPr lang="en-US" sz="1000" dirty="0">
              <a:solidFill>
                <a:schemeClr val="bg1"/>
              </a:solidFill>
            </a:endParaRPr>
          </a:p>
        </p:txBody>
      </p:sp>
      <p:sp>
        <p:nvSpPr>
          <p:cNvPr id="36" name="Text 34"/>
          <p:cNvSpPr/>
          <p:nvPr/>
        </p:nvSpPr>
        <p:spPr>
          <a:xfrm>
            <a:off x="8963787" y="6364984"/>
            <a:ext cx="2560320" cy="274320"/>
          </a:xfrm>
          <a:prstGeom prst="rect">
            <a:avLst/>
          </a:prstGeom>
          <a:noFill/>
          <a:ln/>
        </p:spPr>
        <p:txBody>
          <a:bodyPr wrap="square" rtlCol="0" anchor="ctr"/>
          <a:lstStyle/>
          <a:p>
            <a:pPr marL="0" indent="0" algn="r">
              <a:buNone/>
            </a:pPr>
            <a:r>
              <a:rPr lang="en-US" sz="900" b="1" kern="0" spc="150" dirty="0">
                <a:solidFill>
                  <a:schemeClr val="bg1"/>
                </a:solidFill>
                <a:latin typeface="Calibri" pitchFamily="34" charset="0"/>
                <a:ea typeface="Calibri" pitchFamily="34" charset="-122"/>
                <a:cs typeface="Calibri" pitchFamily="34" charset="-120"/>
              </a:rPr>
              <a:t>DATA MODELING</a:t>
            </a:r>
            <a:endParaRPr lang="en-US" sz="9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11480"/>
            <a:ext cx="8229600" cy="320040"/>
          </a:xfrm>
          <a:prstGeom prst="rect">
            <a:avLst/>
          </a:prstGeom>
          <a:noFill/>
          <a:ln/>
        </p:spPr>
        <p:txBody>
          <a:bodyPr wrap="square" rtlCol="0" anchor="ctr"/>
          <a:lstStyle/>
          <a:p>
            <a:pPr marL="0" indent="0">
              <a:buNone/>
            </a:pPr>
            <a:r>
              <a:rPr lang="en-US" b="1" kern="0" spc="200" dirty="0">
                <a:solidFill>
                  <a:srgbClr val="E8763C"/>
                </a:solidFill>
                <a:latin typeface="Calibri" pitchFamily="34" charset="0"/>
                <a:ea typeface="Calibri" pitchFamily="34" charset="-122"/>
                <a:cs typeface="Calibri" pitchFamily="34" charset="-120"/>
              </a:rPr>
              <a:t>THE DATA</a:t>
            </a:r>
            <a:endParaRPr lang="en-US" dirty="0"/>
          </a:p>
        </p:txBody>
      </p:sp>
      <p:sp>
        <p:nvSpPr>
          <p:cNvPr id="3" name="Text 1"/>
          <p:cNvSpPr/>
          <p:nvPr/>
        </p:nvSpPr>
        <p:spPr>
          <a:xfrm>
            <a:off x="640080" y="713232"/>
            <a:ext cx="10607040" cy="822960"/>
          </a:xfrm>
          <a:prstGeom prst="rect">
            <a:avLst/>
          </a:prstGeom>
          <a:noFill/>
          <a:ln/>
        </p:spPr>
        <p:txBody>
          <a:bodyPr wrap="square" rtlCol="0" anchor="ctr"/>
          <a:lstStyle/>
          <a:p>
            <a:pPr marL="0" indent="0">
              <a:buNone/>
            </a:pPr>
            <a:r>
              <a:rPr lang="en-US" sz="3600" b="1" u="sng" dirty="0">
                <a:solidFill>
                  <a:srgbClr val="1B2A4A"/>
                </a:solidFill>
                <a:latin typeface="Cambria" pitchFamily="34" charset="0"/>
                <a:ea typeface="Cambria" pitchFamily="34" charset="-122"/>
                <a:cs typeface="Cambria" pitchFamily="34" charset="-120"/>
              </a:rPr>
              <a:t>Dataset &amp; Key Metrics</a:t>
            </a:r>
            <a:endParaRPr lang="en-US" sz="3600" u="sng" dirty="0"/>
          </a:p>
        </p:txBody>
      </p:sp>
      <p:sp>
        <p:nvSpPr>
          <p:cNvPr id="4" name="Shape 2"/>
          <p:cNvSpPr/>
          <p:nvPr/>
        </p:nvSpPr>
        <p:spPr>
          <a:xfrm>
            <a:off x="657863" y="1588823"/>
            <a:ext cx="2521458" cy="1965960"/>
          </a:xfrm>
          <a:prstGeom prst="roundRect">
            <a:avLst>
              <a:gd name="adj" fmla="val 4651"/>
            </a:avLst>
          </a:prstGeom>
          <a:solidFill>
            <a:srgbClr val="1B2A4A"/>
          </a:solidFill>
          <a:ln/>
          <a:effectLst>
            <a:outerShdw blurRad="127000" dist="50800" dir="5400000" algn="bl" rotWithShape="0">
              <a:srgbClr val="000000">
                <a:alpha val="20000"/>
              </a:srgbClr>
            </a:outerShdw>
          </a:effectLst>
        </p:spPr>
      </p:sp>
      <p:sp>
        <p:nvSpPr>
          <p:cNvPr id="5" name="Shape 3"/>
          <p:cNvSpPr/>
          <p:nvPr/>
        </p:nvSpPr>
        <p:spPr>
          <a:xfrm>
            <a:off x="1626489" y="1837944"/>
            <a:ext cx="548640" cy="548640"/>
          </a:xfrm>
          <a:prstGeom prst="ellipse">
            <a:avLst/>
          </a:prstGeom>
          <a:solidFill>
            <a:srgbClr val="24365C"/>
          </a:solidFill>
          <a:ln/>
        </p:spPr>
      </p:sp>
      <p:pic>
        <p:nvPicPr>
          <p:cNvPr id="6" name="Image 0" descr="icons/database_E8763C.png"/>
          <p:cNvPicPr>
            <a:picLocks noChangeAspect="1"/>
          </p:cNvPicPr>
          <p:nvPr/>
        </p:nvPicPr>
        <p:blipFill>
          <a:blip r:embed="rId3"/>
          <a:stretch>
            <a:fillRect/>
          </a:stretch>
        </p:blipFill>
        <p:spPr>
          <a:xfrm>
            <a:off x="1763649" y="1975104"/>
            <a:ext cx="274320" cy="274320"/>
          </a:xfrm>
          <a:prstGeom prst="rect">
            <a:avLst/>
          </a:prstGeom>
        </p:spPr>
      </p:pic>
      <p:sp>
        <p:nvSpPr>
          <p:cNvPr id="7" name="Text 4"/>
          <p:cNvSpPr/>
          <p:nvPr/>
        </p:nvSpPr>
        <p:spPr>
          <a:xfrm>
            <a:off x="731520" y="2514600"/>
            <a:ext cx="2338578" cy="621792"/>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12.66M</a:t>
            </a:r>
            <a:endParaRPr lang="en-US" sz="3000" dirty="0"/>
          </a:p>
        </p:txBody>
      </p:sp>
      <p:sp>
        <p:nvSpPr>
          <p:cNvPr id="8" name="Text 5"/>
          <p:cNvSpPr/>
          <p:nvPr/>
        </p:nvSpPr>
        <p:spPr>
          <a:xfrm>
            <a:off x="731520" y="3136392"/>
            <a:ext cx="2338578" cy="365760"/>
          </a:xfrm>
          <a:prstGeom prst="rect">
            <a:avLst/>
          </a:prstGeom>
          <a:noFill/>
          <a:ln/>
        </p:spPr>
        <p:txBody>
          <a:bodyPr wrap="square" rtlCol="0" anchor="ctr"/>
          <a:lstStyle/>
          <a:p>
            <a:pPr marL="0" indent="0" algn="ctr">
              <a:buNone/>
            </a:pPr>
            <a:r>
              <a:rPr lang="en-US" sz="1600" dirty="0">
                <a:solidFill>
                  <a:srgbClr val="BFD9EC"/>
                </a:solidFill>
                <a:latin typeface="Calibri" pitchFamily="34" charset="0"/>
                <a:ea typeface="Calibri" pitchFamily="34" charset="-122"/>
                <a:cs typeface="Calibri" pitchFamily="34" charset="-120"/>
              </a:rPr>
              <a:t>Total FHTC</a:t>
            </a:r>
            <a:endParaRPr lang="en-US" sz="1600" dirty="0"/>
          </a:p>
        </p:txBody>
      </p:sp>
      <p:sp>
        <p:nvSpPr>
          <p:cNvPr id="9" name="Shape 6"/>
          <p:cNvSpPr/>
          <p:nvPr/>
        </p:nvSpPr>
        <p:spPr>
          <a:xfrm>
            <a:off x="3435858" y="1600200"/>
            <a:ext cx="2521458" cy="1965960"/>
          </a:xfrm>
          <a:prstGeom prst="roundRect">
            <a:avLst>
              <a:gd name="adj" fmla="val 4651"/>
            </a:avLst>
          </a:prstGeom>
          <a:solidFill>
            <a:srgbClr val="1B2A4A"/>
          </a:solidFill>
          <a:ln/>
          <a:effectLst>
            <a:outerShdw blurRad="127000" dist="50800" dir="5400000" algn="bl" rotWithShape="0">
              <a:srgbClr val="000000">
                <a:alpha val="20000"/>
              </a:srgbClr>
            </a:outerShdw>
          </a:effectLst>
        </p:spPr>
      </p:sp>
      <p:sp>
        <p:nvSpPr>
          <p:cNvPr id="10" name="Shape 7"/>
          <p:cNvSpPr/>
          <p:nvPr/>
        </p:nvSpPr>
        <p:spPr>
          <a:xfrm>
            <a:off x="4422267" y="1837944"/>
            <a:ext cx="548640" cy="548640"/>
          </a:xfrm>
          <a:prstGeom prst="ellipse">
            <a:avLst/>
          </a:prstGeom>
          <a:solidFill>
            <a:srgbClr val="24365C"/>
          </a:solidFill>
          <a:ln/>
        </p:spPr>
      </p:sp>
      <p:pic>
        <p:nvPicPr>
          <p:cNvPr id="11" name="Image 1" descr="icons/handHoldingDroplet_E8763C.png"/>
          <p:cNvPicPr>
            <a:picLocks noChangeAspect="1"/>
          </p:cNvPicPr>
          <p:nvPr/>
        </p:nvPicPr>
        <p:blipFill>
          <a:blip r:embed="rId4"/>
          <a:stretch>
            <a:fillRect/>
          </a:stretch>
        </p:blipFill>
        <p:spPr>
          <a:xfrm>
            <a:off x="4559427" y="1975104"/>
            <a:ext cx="274320" cy="274320"/>
          </a:xfrm>
          <a:prstGeom prst="rect">
            <a:avLst/>
          </a:prstGeom>
        </p:spPr>
      </p:pic>
      <p:sp>
        <p:nvSpPr>
          <p:cNvPr id="12" name="Text 8"/>
          <p:cNvSpPr/>
          <p:nvPr/>
        </p:nvSpPr>
        <p:spPr>
          <a:xfrm>
            <a:off x="3527298" y="2514600"/>
            <a:ext cx="2338578" cy="621792"/>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7.94M</a:t>
            </a:r>
            <a:endParaRPr lang="en-US" sz="3000" dirty="0"/>
          </a:p>
        </p:txBody>
      </p:sp>
      <p:sp>
        <p:nvSpPr>
          <p:cNvPr id="13" name="Text 9"/>
          <p:cNvSpPr/>
          <p:nvPr/>
        </p:nvSpPr>
        <p:spPr>
          <a:xfrm>
            <a:off x="3527298" y="3136392"/>
            <a:ext cx="2338578" cy="365760"/>
          </a:xfrm>
          <a:prstGeom prst="rect">
            <a:avLst/>
          </a:prstGeom>
          <a:noFill/>
          <a:ln/>
        </p:spPr>
        <p:txBody>
          <a:bodyPr wrap="square" rtlCol="0" anchor="ctr"/>
          <a:lstStyle/>
          <a:p>
            <a:pPr marL="0" indent="0" algn="ctr">
              <a:buNone/>
            </a:pPr>
            <a:r>
              <a:rPr lang="en-US" sz="1600" dirty="0">
                <a:solidFill>
                  <a:srgbClr val="BFD9EC"/>
                </a:solidFill>
                <a:latin typeface="Calibri" pitchFamily="34" charset="0"/>
                <a:ea typeface="Calibri" pitchFamily="34" charset="-122"/>
                <a:cs typeface="Calibri" pitchFamily="34" charset="-120"/>
              </a:rPr>
              <a:t>FHTC Provided</a:t>
            </a:r>
            <a:endParaRPr lang="en-US" sz="1600" dirty="0"/>
          </a:p>
        </p:txBody>
      </p:sp>
      <p:sp>
        <p:nvSpPr>
          <p:cNvPr id="14" name="Shape 10"/>
          <p:cNvSpPr/>
          <p:nvPr/>
        </p:nvSpPr>
        <p:spPr>
          <a:xfrm>
            <a:off x="6231636" y="1600200"/>
            <a:ext cx="2521458" cy="1965960"/>
          </a:xfrm>
          <a:prstGeom prst="roundRect">
            <a:avLst>
              <a:gd name="adj" fmla="val 4651"/>
            </a:avLst>
          </a:prstGeom>
          <a:solidFill>
            <a:srgbClr val="1B2A4A"/>
          </a:solidFill>
          <a:ln/>
          <a:effectLst>
            <a:outerShdw blurRad="127000" dist="50800" dir="5400000" algn="bl" rotWithShape="0">
              <a:srgbClr val="000000">
                <a:alpha val="20000"/>
              </a:srgbClr>
            </a:outerShdw>
          </a:effectLst>
        </p:spPr>
      </p:sp>
      <p:sp>
        <p:nvSpPr>
          <p:cNvPr id="15" name="Shape 11"/>
          <p:cNvSpPr/>
          <p:nvPr/>
        </p:nvSpPr>
        <p:spPr>
          <a:xfrm>
            <a:off x="7218045" y="1837944"/>
            <a:ext cx="548640" cy="548640"/>
          </a:xfrm>
          <a:prstGeom prst="ellipse">
            <a:avLst/>
          </a:prstGeom>
          <a:solidFill>
            <a:srgbClr val="24365C"/>
          </a:solidFill>
          <a:ln/>
        </p:spPr>
      </p:sp>
      <p:pic>
        <p:nvPicPr>
          <p:cNvPr id="16" name="Image 2" descr="icons/gaugeHigh_E8763C.png"/>
          <p:cNvPicPr>
            <a:picLocks noChangeAspect="1"/>
          </p:cNvPicPr>
          <p:nvPr/>
        </p:nvPicPr>
        <p:blipFill>
          <a:blip r:embed="rId5"/>
          <a:stretch>
            <a:fillRect/>
          </a:stretch>
        </p:blipFill>
        <p:spPr>
          <a:xfrm>
            <a:off x="7355205" y="1975104"/>
            <a:ext cx="274320" cy="274320"/>
          </a:xfrm>
          <a:prstGeom prst="rect">
            <a:avLst/>
          </a:prstGeom>
        </p:spPr>
      </p:pic>
      <p:sp>
        <p:nvSpPr>
          <p:cNvPr id="17" name="Text 12"/>
          <p:cNvSpPr/>
          <p:nvPr/>
        </p:nvSpPr>
        <p:spPr>
          <a:xfrm>
            <a:off x="6323076" y="2514600"/>
            <a:ext cx="2338578" cy="621792"/>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59%</a:t>
            </a:r>
            <a:endParaRPr lang="en-US" sz="3000" dirty="0"/>
          </a:p>
        </p:txBody>
      </p:sp>
      <p:sp>
        <p:nvSpPr>
          <p:cNvPr id="18" name="Text 13"/>
          <p:cNvSpPr/>
          <p:nvPr/>
        </p:nvSpPr>
        <p:spPr>
          <a:xfrm>
            <a:off x="6323076" y="3136392"/>
            <a:ext cx="2338578" cy="365760"/>
          </a:xfrm>
          <a:prstGeom prst="rect">
            <a:avLst/>
          </a:prstGeom>
          <a:noFill/>
          <a:ln/>
        </p:spPr>
        <p:txBody>
          <a:bodyPr wrap="square" rtlCol="0" anchor="ctr"/>
          <a:lstStyle/>
          <a:p>
            <a:pPr marL="0" indent="0" algn="ctr">
              <a:buNone/>
            </a:pPr>
            <a:r>
              <a:rPr lang="en-US" sz="1600" dirty="0">
                <a:solidFill>
                  <a:srgbClr val="BFD9EC"/>
                </a:solidFill>
                <a:latin typeface="Calibri" pitchFamily="34" charset="0"/>
                <a:ea typeface="Calibri" pitchFamily="34" charset="-122"/>
                <a:cs typeface="Calibri" pitchFamily="34" charset="-120"/>
              </a:rPr>
              <a:t>Coverage</a:t>
            </a:r>
            <a:endParaRPr lang="en-US" sz="1600" dirty="0"/>
          </a:p>
        </p:txBody>
      </p:sp>
      <p:sp>
        <p:nvSpPr>
          <p:cNvPr id="19" name="Shape 14"/>
          <p:cNvSpPr/>
          <p:nvPr/>
        </p:nvSpPr>
        <p:spPr>
          <a:xfrm>
            <a:off x="9027414" y="1600200"/>
            <a:ext cx="2521458" cy="1965960"/>
          </a:xfrm>
          <a:prstGeom prst="roundRect">
            <a:avLst>
              <a:gd name="adj" fmla="val 4651"/>
            </a:avLst>
          </a:prstGeom>
          <a:solidFill>
            <a:srgbClr val="1B2A4A"/>
          </a:solidFill>
          <a:ln/>
          <a:effectLst>
            <a:outerShdw blurRad="127000" dist="50800" dir="5400000" algn="bl" rotWithShape="0">
              <a:srgbClr val="000000">
                <a:alpha val="20000"/>
              </a:srgbClr>
            </a:outerShdw>
          </a:effectLst>
        </p:spPr>
      </p:sp>
      <p:sp>
        <p:nvSpPr>
          <p:cNvPr id="20" name="Shape 15"/>
          <p:cNvSpPr/>
          <p:nvPr/>
        </p:nvSpPr>
        <p:spPr>
          <a:xfrm>
            <a:off x="10013823" y="1837944"/>
            <a:ext cx="548640" cy="548640"/>
          </a:xfrm>
          <a:prstGeom prst="ellipse">
            <a:avLst/>
          </a:prstGeom>
          <a:solidFill>
            <a:srgbClr val="24365C"/>
          </a:solidFill>
          <a:ln/>
        </p:spPr>
      </p:sp>
      <p:pic>
        <p:nvPicPr>
          <p:cNvPr id="21" name="Image 3" descr="icons/mapLocation_E8763C.png"/>
          <p:cNvPicPr>
            <a:picLocks noChangeAspect="1"/>
          </p:cNvPicPr>
          <p:nvPr/>
        </p:nvPicPr>
        <p:blipFill>
          <a:blip r:embed="rId6"/>
          <a:stretch>
            <a:fillRect/>
          </a:stretch>
        </p:blipFill>
        <p:spPr>
          <a:xfrm>
            <a:off x="10150983" y="1975104"/>
            <a:ext cx="274320" cy="274320"/>
          </a:xfrm>
          <a:prstGeom prst="rect">
            <a:avLst/>
          </a:prstGeom>
        </p:spPr>
      </p:pic>
      <p:sp>
        <p:nvSpPr>
          <p:cNvPr id="22" name="Text 16"/>
          <p:cNvSpPr/>
          <p:nvPr/>
        </p:nvSpPr>
        <p:spPr>
          <a:xfrm>
            <a:off x="9118854" y="2514600"/>
            <a:ext cx="2338578" cy="621792"/>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195</a:t>
            </a:r>
            <a:endParaRPr lang="en-US" sz="3000" dirty="0"/>
          </a:p>
        </p:txBody>
      </p:sp>
      <p:sp>
        <p:nvSpPr>
          <p:cNvPr id="23" name="Text 17"/>
          <p:cNvSpPr/>
          <p:nvPr/>
        </p:nvSpPr>
        <p:spPr>
          <a:xfrm>
            <a:off x="9118854" y="3136392"/>
            <a:ext cx="2338578" cy="365760"/>
          </a:xfrm>
          <a:prstGeom prst="rect">
            <a:avLst/>
          </a:prstGeom>
          <a:noFill/>
          <a:ln/>
        </p:spPr>
        <p:txBody>
          <a:bodyPr wrap="square" rtlCol="0" anchor="ctr"/>
          <a:lstStyle/>
          <a:p>
            <a:pPr marL="0" indent="0" algn="ctr">
              <a:buNone/>
            </a:pPr>
            <a:r>
              <a:rPr lang="en-US" sz="1600" dirty="0">
                <a:solidFill>
                  <a:srgbClr val="BFD9EC"/>
                </a:solidFill>
                <a:latin typeface="Calibri" pitchFamily="34" charset="0"/>
                <a:ea typeface="Calibri" pitchFamily="34" charset="-122"/>
                <a:cs typeface="Calibri" pitchFamily="34" charset="-120"/>
              </a:rPr>
              <a:t>Areas</a:t>
            </a:r>
            <a:endParaRPr lang="en-US" sz="1600" dirty="0"/>
          </a:p>
        </p:txBody>
      </p:sp>
      <p:sp>
        <p:nvSpPr>
          <p:cNvPr id="24" name="Text 18"/>
          <p:cNvSpPr/>
          <p:nvPr/>
        </p:nvSpPr>
        <p:spPr>
          <a:xfrm>
            <a:off x="640080" y="3840480"/>
            <a:ext cx="5486400" cy="274320"/>
          </a:xfrm>
          <a:prstGeom prst="rect">
            <a:avLst/>
          </a:prstGeom>
          <a:noFill/>
          <a:ln/>
        </p:spPr>
        <p:txBody>
          <a:bodyPr wrap="square" rtlCol="0" anchor="ctr"/>
          <a:lstStyle/>
          <a:p>
            <a:pPr marL="0" indent="0">
              <a:buNone/>
            </a:pPr>
            <a:r>
              <a:rPr lang="en-US" b="1" kern="0" spc="150" dirty="0">
                <a:solidFill>
                  <a:srgbClr val="E8763C"/>
                </a:solidFill>
                <a:latin typeface="Calibri" pitchFamily="34" charset="0"/>
                <a:ea typeface="Calibri" pitchFamily="34" charset="-122"/>
                <a:cs typeface="Calibri" pitchFamily="34" charset="-120"/>
              </a:rPr>
              <a:t>ANALYTICAL DIMENSIONS</a:t>
            </a:r>
            <a:endParaRPr lang="en-US" dirty="0"/>
          </a:p>
        </p:txBody>
      </p:sp>
      <p:sp>
        <p:nvSpPr>
          <p:cNvPr id="25" name="Shape 19"/>
          <p:cNvSpPr/>
          <p:nvPr/>
        </p:nvSpPr>
        <p:spPr>
          <a:xfrm>
            <a:off x="640080" y="4206240"/>
            <a:ext cx="2035454" cy="1554480"/>
          </a:xfrm>
          <a:prstGeom prst="roundRect">
            <a:avLst>
              <a:gd name="adj" fmla="val 4706"/>
            </a:avLst>
          </a:prstGeom>
          <a:solidFill>
            <a:srgbClr val="FFFFFF"/>
          </a:solidFill>
          <a:ln w="12700">
            <a:solidFill>
              <a:srgbClr val="D9E3EC"/>
            </a:solidFill>
            <a:prstDash val="solid"/>
          </a:ln>
          <a:effectLst>
            <a:outerShdw blurRad="76200" dist="25400" dir="5400000" algn="bl" rotWithShape="0">
              <a:srgbClr val="1B2A4A">
                <a:alpha val="8000"/>
              </a:srgbClr>
            </a:outerShdw>
          </a:effectLst>
        </p:spPr>
      </p:sp>
      <p:sp>
        <p:nvSpPr>
          <p:cNvPr id="26" name="Shape 20"/>
          <p:cNvSpPr/>
          <p:nvPr/>
        </p:nvSpPr>
        <p:spPr>
          <a:xfrm>
            <a:off x="1420063" y="4389120"/>
            <a:ext cx="475488" cy="475488"/>
          </a:xfrm>
          <a:prstGeom prst="ellipse">
            <a:avLst/>
          </a:prstGeom>
          <a:solidFill>
            <a:srgbClr val="EAF2F8"/>
          </a:solidFill>
          <a:ln/>
        </p:spPr>
      </p:sp>
      <p:pic>
        <p:nvPicPr>
          <p:cNvPr id="27" name="Image 4" descr="icons/mapLocation_0B5E8C.png"/>
          <p:cNvPicPr>
            <a:picLocks noChangeAspect="1"/>
          </p:cNvPicPr>
          <p:nvPr/>
        </p:nvPicPr>
        <p:blipFill>
          <a:blip r:embed="rId7"/>
          <a:stretch>
            <a:fillRect/>
          </a:stretch>
        </p:blipFill>
        <p:spPr>
          <a:xfrm>
            <a:off x="1448111" y="4439837"/>
            <a:ext cx="365760" cy="365760"/>
          </a:xfrm>
          <a:prstGeom prst="rect">
            <a:avLst/>
          </a:prstGeom>
        </p:spPr>
      </p:pic>
      <p:sp>
        <p:nvSpPr>
          <p:cNvPr id="28" name="Text 21"/>
          <p:cNvSpPr/>
          <p:nvPr/>
        </p:nvSpPr>
        <p:spPr>
          <a:xfrm>
            <a:off x="713232" y="4956048"/>
            <a:ext cx="1889150" cy="310896"/>
          </a:xfrm>
          <a:prstGeom prst="rect">
            <a:avLst/>
          </a:prstGeom>
          <a:noFill/>
          <a:ln/>
        </p:spPr>
        <p:txBody>
          <a:bodyPr wrap="square" rtlCol="0" anchor="ctr"/>
          <a:lstStyle/>
          <a:p>
            <a:pPr marL="0" indent="0" algn="ctr">
              <a:buNone/>
            </a:pPr>
            <a:r>
              <a:rPr lang="en-US" b="1" dirty="0">
                <a:solidFill>
                  <a:srgbClr val="0B5E8C"/>
                </a:solidFill>
                <a:latin typeface="Cambria" pitchFamily="34" charset="0"/>
                <a:ea typeface="Cambria" pitchFamily="34" charset="-122"/>
                <a:cs typeface="Cambria" pitchFamily="34" charset="-120"/>
              </a:rPr>
              <a:t>Geography</a:t>
            </a:r>
            <a:endParaRPr lang="en-US" dirty="0"/>
          </a:p>
        </p:txBody>
      </p:sp>
      <p:sp>
        <p:nvSpPr>
          <p:cNvPr id="29" name="Text 22"/>
          <p:cNvSpPr/>
          <p:nvPr/>
        </p:nvSpPr>
        <p:spPr>
          <a:xfrm>
            <a:off x="713232" y="5285232"/>
            <a:ext cx="1889150" cy="411480"/>
          </a:xfrm>
          <a:prstGeom prst="rect">
            <a:avLst/>
          </a:prstGeom>
          <a:noFill/>
          <a:ln/>
        </p:spPr>
        <p:txBody>
          <a:bodyPr wrap="square" rtlCol="0" anchor="ctr"/>
          <a:lstStyle/>
          <a:p>
            <a:pPr marL="0" indent="0" algn="ctr">
              <a:lnSpc>
                <a:spcPct val="110000"/>
              </a:lnSpc>
              <a:buNone/>
            </a:pPr>
            <a:r>
              <a:rPr lang="en-US" sz="1200" b="1" dirty="0">
                <a:solidFill>
                  <a:srgbClr val="5B6B79"/>
                </a:solidFill>
                <a:latin typeface="Calibri" pitchFamily="34" charset="0"/>
                <a:ea typeface="Calibri" pitchFamily="34" charset="-122"/>
                <a:cs typeface="Calibri" pitchFamily="34" charset="-120"/>
              </a:rPr>
              <a:t>District / Area</a:t>
            </a:r>
            <a:endParaRPr lang="en-US" sz="1200" b="1" dirty="0"/>
          </a:p>
        </p:txBody>
      </p:sp>
      <p:sp>
        <p:nvSpPr>
          <p:cNvPr id="30" name="Shape 23"/>
          <p:cNvSpPr/>
          <p:nvPr/>
        </p:nvSpPr>
        <p:spPr>
          <a:xfrm>
            <a:off x="2858414" y="4206240"/>
            <a:ext cx="2035454" cy="1554480"/>
          </a:xfrm>
          <a:prstGeom prst="roundRect">
            <a:avLst>
              <a:gd name="adj" fmla="val 4706"/>
            </a:avLst>
          </a:prstGeom>
          <a:solidFill>
            <a:srgbClr val="FFFFFF"/>
          </a:solidFill>
          <a:ln w="12700">
            <a:solidFill>
              <a:srgbClr val="D9E3EC"/>
            </a:solidFill>
            <a:prstDash val="solid"/>
          </a:ln>
          <a:effectLst>
            <a:outerShdw blurRad="76200" dist="25400" dir="5400000" algn="bl" rotWithShape="0">
              <a:srgbClr val="1B2A4A">
                <a:alpha val="8000"/>
              </a:srgbClr>
            </a:outerShdw>
          </a:effectLst>
        </p:spPr>
      </p:sp>
      <p:sp>
        <p:nvSpPr>
          <p:cNvPr id="31" name="Shape 24"/>
          <p:cNvSpPr/>
          <p:nvPr/>
        </p:nvSpPr>
        <p:spPr>
          <a:xfrm>
            <a:off x="3638398" y="4389120"/>
            <a:ext cx="475488" cy="475488"/>
          </a:xfrm>
          <a:prstGeom prst="ellipse">
            <a:avLst/>
          </a:prstGeom>
          <a:solidFill>
            <a:srgbClr val="EAF2F8"/>
          </a:solidFill>
          <a:ln/>
        </p:spPr>
      </p:sp>
      <p:pic>
        <p:nvPicPr>
          <p:cNvPr id="32" name="Image 5" descr="icons/calendar_0B5E8C.png"/>
          <p:cNvPicPr>
            <a:picLocks noChangeAspect="1"/>
          </p:cNvPicPr>
          <p:nvPr/>
        </p:nvPicPr>
        <p:blipFill>
          <a:blip r:embed="rId8"/>
          <a:stretch>
            <a:fillRect/>
          </a:stretch>
        </p:blipFill>
        <p:spPr>
          <a:xfrm>
            <a:off x="3748126" y="4443984"/>
            <a:ext cx="365760" cy="365760"/>
          </a:xfrm>
          <a:prstGeom prst="rect">
            <a:avLst/>
          </a:prstGeom>
        </p:spPr>
      </p:pic>
      <p:sp>
        <p:nvSpPr>
          <p:cNvPr id="33" name="Text 25"/>
          <p:cNvSpPr/>
          <p:nvPr/>
        </p:nvSpPr>
        <p:spPr>
          <a:xfrm>
            <a:off x="2931566" y="4956048"/>
            <a:ext cx="1889150" cy="310896"/>
          </a:xfrm>
          <a:prstGeom prst="rect">
            <a:avLst/>
          </a:prstGeom>
          <a:noFill/>
          <a:ln/>
        </p:spPr>
        <p:txBody>
          <a:bodyPr wrap="square" rtlCol="0" anchor="ctr"/>
          <a:lstStyle/>
          <a:p>
            <a:pPr marL="0" indent="0" algn="ctr">
              <a:buNone/>
            </a:pPr>
            <a:r>
              <a:rPr lang="en-US" b="1" dirty="0">
                <a:solidFill>
                  <a:srgbClr val="0B5E8C"/>
                </a:solidFill>
                <a:latin typeface="Cambria" pitchFamily="34" charset="0"/>
                <a:ea typeface="Cambria" pitchFamily="34" charset="-122"/>
                <a:cs typeface="Cambria" pitchFamily="34" charset="-120"/>
              </a:rPr>
              <a:t>Time</a:t>
            </a:r>
            <a:endParaRPr lang="en-US" dirty="0"/>
          </a:p>
        </p:txBody>
      </p:sp>
      <p:sp>
        <p:nvSpPr>
          <p:cNvPr id="34" name="Text 26"/>
          <p:cNvSpPr/>
          <p:nvPr/>
        </p:nvSpPr>
        <p:spPr>
          <a:xfrm>
            <a:off x="2931566" y="5285232"/>
            <a:ext cx="1889150" cy="411480"/>
          </a:xfrm>
          <a:prstGeom prst="rect">
            <a:avLst/>
          </a:prstGeom>
          <a:noFill/>
          <a:ln/>
        </p:spPr>
        <p:txBody>
          <a:bodyPr wrap="square" rtlCol="0" anchor="ctr"/>
          <a:lstStyle/>
          <a:p>
            <a:pPr marL="0" indent="0" algn="ctr">
              <a:lnSpc>
                <a:spcPct val="110000"/>
              </a:lnSpc>
              <a:buNone/>
            </a:pPr>
            <a:r>
              <a:rPr lang="en-US" sz="1200" b="1" dirty="0">
                <a:solidFill>
                  <a:srgbClr val="5B6B79"/>
                </a:solidFill>
                <a:latin typeface="Calibri" pitchFamily="34" charset="0"/>
                <a:ea typeface="Calibri" pitchFamily="34" charset="-122"/>
                <a:cs typeface="Calibri" pitchFamily="34" charset="-120"/>
              </a:rPr>
              <a:t>Year / Month</a:t>
            </a:r>
            <a:endParaRPr lang="en-US" sz="1200" b="1" dirty="0"/>
          </a:p>
        </p:txBody>
      </p:sp>
      <p:sp>
        <p:nvSpPr>
          <p:cNvPr id="35" name="Shape 27"/>
          <p:cNvSpPr/>
          <p:nvPr/>
        </p:nvSpPr>
        <p:spPr>
          <a:xfrm>
            <a:off x="5076749" y="4206240"/>
            <a:ext cx="2035454" cy="1554480"/>
          </a:xfrm>
          <a:prstGeom prst="roundRect">
            <a:avLst>
              <a:gd name="adj" fmla="val 4706"/>
            </a:avLst>
          </a:prstGeom>
          <a:solidFill>
            <a:srgbClr val="FFFFFF"/>
          </a:solidFill>
          <a:ln w="12700">
            <a:solidFill>
              <a:srgbClr val="D9E3EC"/>
            </a:solidFill>
            <a:prstDash val="solid"/>
          </a:ln>
          <a:effectLst>
            <a:outerShdw blurRad="76200" dist="25400" dir="5400000" algn="bl" rotWithShape="0">
              <a:srgbClr val="1B2A4A">
                <a:alpha val="8000"/>
              </a:srgbClr>
            </a:outerShdw>
          </a:effectLst>
        </p:spPr>
      </p:sp>
      <p:sp>
        <p:nvSpPr>
          <p:cNvPr id="36" name="Shape 28"/>
          <p:cNvSpPr/>
          <p:nvPr/>
        </p:nvSpPr>
        <p:spPr>
          <a:xfrm>
            <a:off x="5856732" y="4389120"/>
            <a:ext cx="475488" cy="475488"/>
          </a:xfrm>
          <a:prstGeom prst="ellipse">
            <a:avLst/>
          </a:prstGeom>
          <a:solidFill>
            <a:srgbClr val="EAF2F8"/>
          </a:solidFill>
          <a:ln/>
        </p:spPr>
      </p:sp>
      <p:pic>
        <p:nvPicPr>
          <p:cNvPr id="37" name="Image 6" descr="icons/handHoldingDroplet_0B5E8C.png"/>
          <p:cNvPicPr>
            <a:picLocks noChangeAspect="1"/>
          </p:cNvPicPr>
          <p:nvPr/>
        </p:nvPicPr>
        <p:blipFill>
          <a:blip r:embed="rId9"/>
          <a:stretch>
            <a:fillRect/>
          </a:stretch>
        </p:blipFill>
        <p:spPr>
          <a:xfrm>
            <a:off x="5998464" y="4434840"/>
            <a:ext cx="333756" cy="333756"/>
          </a:xfrm>
          <a:prstGeom prst="rect">
            <a:avLst/>
          </a:prstGeom>
        </p:spPr>
      </p:pic>
      <p:sp>
        <p:nvSpPr>
          <p:cNvPr id="38" name="Text 29"/>
          <p:cNvSpPr/>
          <p:nvPr/>
        </p:nvSpPr>
        <p:spPr>
          <a:xfrm>
            <a:off x="5149901" y="4956048"/>
            <a:ext cx="1889150" cy="310896"/>
          </a:xfrm>
          <a:prstGeom prst="rect">
            <a:avLst/>
          </a:prstGeom>
          <a:noFill/>
          <a:ln/>
        </p:spPr>
        <p:txBody>
          <a:bodyPr wrap="square" rtlCol="0" anchor="ctr"/>
          <a:lstStyle/>
          <a:p>
            <a:pPr marL="0" indent="0" algn="ctr">
              <a:buNone/>
            </a:pPr>
            <a:r>
              <a:rPr lang="en-US" b="1" dirty="0">
                <a:solidFill>
                  <a:srgbClr val="0B5E8C"/>
                </a:solidFill>
                <a:latin typeface="Cambria" pitchFamily="34" charset="0"/>
                <a:ea typeface="Cambria" pitchFamily="34" charset="-122"/>
                <a:cs typeface="Cambria" pitchFamily="34" charset="-120"/>
              </a:rPr>
              <a:t>FHTC</a:t>
            </a:r>
            <a:endParaRPr lang="en-US" dirty="0"/>
          </a:p>
        </p:txBody>
      </p:sp>
      <p:sp>
        <p:nvSpPr>
          <p:cNvPr id="39" name="Text 30"/>
          <p:cNvSpPr/>
          <p:nvPr/>
        </p:nvSpPr>
        <p:spPr>
          <a:xfrm>
            <a:off x="5149901" y="5285232"/>
            <a:ext cx="1889150" cy="411480"/>
          </a:xfrm>
          <a:prstGeom prst="rect">
            <a:avLst/>
          </a:prstGeom>
          <a:noFill/>
          <a:ln/>
        </p:spPr>
        <p:txBody>
          <a:bodyPr wrap="square" rtlCol="0" anchor="ctr"/>
          <a:lstStyle/>
          <a:p>
            <a:pPr marL="0" indent="0" algn="ctr">
              <a:lnSpc>
                <a:spcPct val="110000"/>
              </a:lnSpc>
              <a:buNone/>
            </a:pPr>
            <a:r>
              <a:rPr lang="en-US" sz="1200" b="1" dirty="0">
                <a:solidFill>
                  <a:srgbClr val="5B6B79"/>
                </a:solidFill>
                <a:latin typeface="Calibri" pitchFamily="34" charset="0"/>
                <a:ea typeface="Calibri" pitchFamily="34" charset="-122"/>
                <a:cs typeface="Calibri" pitchFamily="34" charset="-120"/>
              </a:rPr>
              <a:t>FHTC Provided</a:t>
            </a:r>
            <a:endParaRPr lang="en-US" sz="1200" b="1" dirty="0"/>
          </a:p>
        </p:txBody>
      </p:sp>
      <p:sp>
        <p:nvSpPr>
          <p:cNvPr id="40" name="Shape 31"/>
          <p:cNvSpPr/>
          <p:nvPr/>
        </p:nvSpPr>
        <p:spPr>
          <a:xfrm>
            <a:off x="7295083" y="4206240"/>
            <a:ext cx="2035454" cy="1554480"/>
          </a:xfrm>
          <a:prstGeom prst="roundRect">
            <a:avLst>
              <a:gd name="adj" fmla="val 4706"/>
            </a:avLst>
          </a:prstGeom>
          <a:solidFill>
            <a:srgbClr val="FFFFFF"/>
          </a:solidFill>
          <a:ln w="12700">
            <a:solidFill>
              <a:srgbClr val="D9E3EC"/>
            </a:solidFill>
            <a:prstDash val="solid"/>
          </a:ln>
          <a:effectLst>
            <a:outerShdw blurRad="76200" dist="25400" dir="5400000" algn="bl" rotWithShape="0">
              <a:srgbClr val="1B2A4A">
                <a:alpha val="8000"/>
              </a:srgbClr>
            </a:outerShdw>
          </a:effectLst>
        </p:spPr>
      </p:sp>
      <p:sp>
        <p:nvSpPr>
          <p:cNvPr id="41" name="Shape 32"/>
          <p:cNvSpPr/>
          <p:nvPr/>
        </p:nvSpPr>
        <p:spPr>
          <a:xfrm>
            <a:off x="8075066" y="4389120"/>
            <a:ext cx="475488" cy="475488"/>
          </a:xfrm>
          <a:prstGeom prst="ellipse">
            <a:avLst/>
          </a:prstGeom>
          <a:solidFill>
            <a:srgbClr val="EAF2F8"/>
          </a:solidFill>
          <a:ln/>
        </p:spPr>
      </p:sp>
      <p:pic>
        <p:nvPicPr>
          <p:cNvPr id="42" name="Image 7" descr="icons/gaugeHigh_0B5E8C.png"/>
          <p:cNvPicPr>
            <a:picLocks noChangeAspect="1"/>
          </p:cNvPicPr>
          <p:nvPr/>
        </p:nvPicPr>
        <p:blipFill>
          <a:blip r:embed="rId10"/>
          <a:stretch>
            <a:fillRect/>
          </a:stretch>
        </p:blipFill>
        <p:spPr>
          <a:xfrm>
            <a:off x="8184794" y="4443984"/>
            <a:ext cx="365760" cy="365760"/>
          </a:xfrm>
          <a:prstGeom prst="rect">
            <a:avLst/>
          </a:prstGeom>
        </p:spPr>
      </p:pic>
      <p:sp>
        <p:nvSpPr>
          <p:cNvPr id="43" name="Text 33"/>
          <p:cNvSpPr/>
          <p:nvPr/>
        </p:nvSpPr>
        <p:spPr>
          <a:xfrm>
            <a:off x="7368235" y="4956048"/>
            <a:ext cx="1889150" cy="310896"/>
          </a:xfrm>
          <a:prstGeom prst="rect">
            <a:avLst/>
          </a:prstGeom>
          <a:noFill/>
          <a:ln/>
        </p:spPr>
        <p:txBody>
          <a:bodyPr wrap="square" rtlCol="0" anchor="ctr"/>
          <a:lstStyle/>
          <a:p>
            <a:pPr marL="0" indent="0" algn="ctr">
              <a:buNone/>
            </a:pPr>
            <a:r>
              <a:rPr lang="en-US" b="1" dirty="0">
                <a:solidFill>
                  <a:srgbClr val="0B5E8C"/>
                </a:solidFill>
                <a:latin typeface="Cambria" pitchFamily="34" charset="0"/>
                <a:ea typeface="Cambria" pitchFamily="34" charset="-122"/>
                <a:cs typeface="Cambria" pitchFamily="34" charset="-120"/>
              </a:rPr>
              <a:t>Coverage</a:t>
            </a:r>
            <a:endParaRPr lang="en-US" dirty="0"/>
          </a:p>
        </p:txBody>
      </p:sp>
      <p:sp>
        <p:nvSpPr>
          <p:cNvPr id="44" name="Text 34"/>
          <p:cNvSpPr/>
          <p:nvPr/>
        </p:nvSpPr>
        <p:spPr>
          <a:xfrm>
            <a:off x="7368235" y="5285232"/>
            <a:ext cx="1889150" cy="411480"/>
          </a:xfrm>
          <a:prstGeom prst="rect">
            <a:avLst/>
          </a:prstGeom>
          <a:noFill/>
          <a:ln/>
        </p:spPr>
        <p:txBody>
          <a:bodyPr wrap="square" rtlCol="0" anchor="ctr"/>
          <a:lstStyle/>
          <a:p>
            <a:pPr marL="0" indent="0" algn="ctr">
              <a:lnSpc>
                <a:spcPct val="110000"/>
              </a:lnSpc>
              <a:buNone/>
            </a:pPr>
            <a:r>
              <a:rPr lang="en-US" sz="1200" b="1" dirty="0">
                <a:solidFill>
                  <a:srgbClr val="5B6B79"/>
                </a:solidFill>
                <a:latin typeface="Calibri" pitchFamily="34" charset="0"/>
                <a:ea typeface="Calibri" pitchFamily="34" charset="-122"/>
                <a:cs typeface="Calibri" pitchFamily="34" charset="-120"/>
              </a:rPr>
              <a:t>Percentage Coverage</a:t>
            </a:r>
            <a:endParaRPr lang="en-US" sz="1200" b="1" dirty="0"/>
          </a:p>
        </p:txBody>
      </p:sp>
      <p:sp>
        <p:nvSpPr>
          <p:cNvPr id="45" name="Shape 35"/>
          <p:cNvSpPr/>
          <p:nvPr/>
        </p:nvSpPr>
        <p:spPr>
          <a:xfrm>
            <a:off x="9513418" y="4206240"/>
            <a:ext cx="2035454" cy="1554480"/>
          </a:xfrm>
          <a:prstGeom prst="roundRect">
            <a:avLst>
              <a:gd name="adj" fmla="val 4706"/>
            </a:avLst>
          </a:prstGeom>
          <a:solidFill>
            <a:srgbClr val="FFFFFF"/>
          </a:solidFill>
          <a:ln w="12700">
            <a:solidFill>
              <a:srgbClr val="D9E3EC"/>
            </a:solidFill>
            <a:prstDash val="solid"/>
          </a:ln>
          <a:effectLst>
            <a:outerShdw blurRad="76200" dist="25400" dir="5400000" algn="bl" rotWithShape="0">
              <a:srgbClr val="1B2A4A">
                <a:alpha val="8000"/>
              </a:srgbClr>
            </a:outerShdw>
          </a:effectLst>
        </p:spPr>
      </p:sp>
      <p:sp>
        <p:nvSpPr>
          <p:cNvPr id="46" name="Shape 36"/>
          <p:cNvSpPr/>
          <p:nvPr/>
        </p:nvSpPr>
        <p:spPr>
          <a:xfrm>
            <a:off x="10293401" y="4389120"/>
            <a:ext cx="475488" cy="475488"/>
          </a:xfrm>
          <a:prstGeom prst="ellipse">
            <a:avLst/>
          </a:prstGeom>
          <a:solidFill>
            <a:srgbClr val="EAF2F8"/>
          </a:solidFill>
          <a:ln/>
        </p:spPr>
      </p:sp>
      <p:pic>
        <p:nvPicPr>
          <p:cNvPr id="47" name="Image 8" descr="icons/chartPie_0B5E8C.png"/>
          <p:cNvPicPr>
            <a:picLocks noChangeAspect="1"/>
          </p:cNvPicPr>
          <p:nvPr/>
        </p:nvPicPr>
        <p:blipFill>
          <a:blip r:embed="rId11"/>
          <a:stretch>
            <a:fillRect/>
          </a:stretch>
        </p:blipFill>
        <p:spPr>
          <a:xfrm>
            <a:off x="10348265" y="4434840"/>
            <a:ext cx="365760" cy="365760"/>
          </a:xfrm>
          <a:prstGeom prst="rect">
            <a:avLst/>
          </a:prstGeom>
        </p:spPr>
      </p:pic>
      <p:sp>
        <p:nvSpPr>
          <p:cNvPr id="48" name="Text 37"/>
          <p:cNvSpPr/>
          <p:nvPr/>
        </p:nvSpPr>
        <p:spPr>
          <a:xfrm>
            <a:off x="9586570" y="4956048"/>
            <a:ext cx="1889150" cy="310896"/>
          </a:xfrm>
          <a:prstGeom prst="rect">
            <a:avLst/>
          </a:prstGeom>
          <a:noFill/>
          <a:ln/>
        </p:spPr>
        <p:txBody>
          <a:bodyPr wrap="square" rtlCol="0" anchor="ctr"/>
          <a:lstStyle/>
          <a:p>
            <a:pPr marL="0" indent="0" algn="ctr">
              <a:buNone/>
            </a:pPr>
            <a:r>
              <a:rPr lang="en-US" b="1" dirty="0">
                <a:solidFill>
                  <a:srgbClr val="0B5E8C"/>
                </a:solidFill>
                <a:latin typeface="Cambria" pitchFamily="34" charset="0"/>
                <a:ea typeface="Cambria" pitchFamily="34" charset="-122"/>
                <a:cs typeface="Cambria" pitchFamily="34" charset="-120"/>
              </a:rPr>
              <a:t>Source</a:t>
            </a:r>
            <a:endParaRPr lang="en-US" dirty="0"/>
          </a:p>
        </p:txBody>
      </p:sp>
      <p:sp>
        <p:nvSpPr>
          <p:cNvPr id="49" name="Text 38"/>
          <p:cNvSpPr/>
          <p:nvPr/>
        </p:nvSpPr>
        <p:spPr>
          <a:xfrm>
            <a:off x="9586570" y="5285232"/>
            <a:ext cx="1889150" cy="411480"/>
          </a:xfrm>
          <a:prstGeom prst="rect">
            <a:avLst/>
          </a:prstGeom>
          <a:noFill/>
          <a:ln/>
        </p:spPr>
        <p:txBody>
          <a:bodyPr wrap="square" rtlCol="0" anchor="ctr"/>
          <a:lstStyle/>
          <a:p>
            <a:pPr marL="0" indent="0" algn="ctr">
              <a:lnSpc>
                <a:spcPct val="110000"/>
              </a:lnSpc>
              <a:buNone/>
            </a:pPr>
            <a:r>
              <a:rPr lang="en-US" sz="1200" b="1" dirty="0">
                <a:solidFill>
                  <a:srgbClr val="5B6B79"/>
                </a:solidFill>
                <a:latin typeface="Calibri" pitchFamily="34" charset="0"/>
                <a:ea typeface="Calibri" pitchFamily="34" charset="-122"/>
                <a:cs typeface="Calibri" pitchFamily="34" charset="-120"/>
              </a:rPr>
              <a:t>Groundwater / Surface</a:t>
            </a:r>
            <a:endParaRPr lang="en-US" sz="1200" b="1" dirty="0"/>
          </a:p>
        </p:txBody>
      </p:sp>
      <p:sp>
        <p:nvSpPr>
          <p:cNvPr id="50" name="Text 39"/>
          <p:cNvSpPr/>
          <p:nvPr/>
        </p:nvSpPr>
        <p:spPr>
          <a:xfrm>
            <a:off x="640080" y="5989320"/>
            <a:ext cx="10908792" cy="274320"/>
          </a:xfrm>
          <a:prstGeom prst="rect">
            <a:avLst/>
          </a:prstGeom>
          <a:noFill/>
          <a:ln/>
        </p:spPr>
        <p:txBody>
          <a:bodyPr wrap="square" rtlCol="0" anchor="ctr"/>
          <a:lstStyle/>
          <a:p>
            <a:pPr marL="0" indent="0" algn="ctr">
              <a:buNone/>
            </a:pPr>
            <a:r>
              <a:rPr lang="en-US" sz="1200" i="1" dirty="0">
                <a:solidFill>
                  <a:schemeClr val="accent2">
                    <a:lumMod val="75000"/>
                  </a:schemeClr>
                </a:solidFill>
                <a:latin typeface="Calibri" pitchFamily="34" charset="0"/>
                <a:ea typeface="Calibri" pitchFamily="34" charset="-122"/>
                <a:cs typeface="Calibri" pitchFamily="34" charset="-120"/>
              </a:rPr>
              <a:t>Figures sourced directly from the underlying dataset and Excel dashboard · No values altered or estimated</a:t>
            </a:r>
            <a:endParaRPr lang="en-US" sz="1200" dirty="0">
              <a:solidFill>
                <a:schemeClr val="accent2">
                  <a:lumMod val="75000"/>
                </a:schemeClr>
              </a:solidFill>
            </a:endParaRPr>
          </a:p>
        </p:txBody>
      </p:sp>
      <p:sp>
        <p:nvSpPr>
          <p:cNvPr id="51" name="Text 40"/>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07</a:t>
            </a:r>
            <a:endParaRPr lang="en-US" sz="1000" dirty="0">
              <a:solidFill>
                <a:schemeClr val="bg1"/>
              </a:solidFill>
            </a:endParaRPr>
          </a:p>
        </p:txBody>
      </p:sp>
      <p:sp>
        <p:nvSpPr>
          <p:cNvPr id="52" name="Text 41"/>
          <p:cNvSpPr/>
          <p:nvPr/>
        </p:nvSpPr>
        <p:spPr>
          <a:xfrm>
            <a:off x="8899855" y="6400800"/>
            <a:ext cx="2560320" cy="274320"/>
          </a:xfrm>
          <a:prstGeom prst="rect">
            <a:avLst/>
          </a:prstGeom>
          <a:noFill/>
          <a:ln/>
        </p:spPr>
        <p:txBody>
          <a:bodyPr wrap="square" rtlCol="0" anchor="ctr"/>
          <a:lstStyle/>
          <a:p>
            <a:pPr marL="0" indent="0" algn="r">
              <a:buNone/>
            </a:pPr>
            <a:r>
              <a:rPr lang="en-US" sz="900" b="1" kern="0" spc="150" dirty="0">
                <a:solidFill>
                  <a:schemeClr val="bg1"/>
                </a:solidFill>
                <a:latin typeface="Calibri" pitchFamily="34" charset="0"/>
                <a:ea typeface="Calibri" pitchFamily="34" charset="-122"/>
                <a:cs typeface="Calibri" pitchFamily="34" charset="-120"/>
              </a:rPr>
              <a:t>DATASET</a:t>
            </a:r>
            <a:endParaRPr lang="en-US" sz="900"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11480"/>
            <a:ext cx="8229600" cy="320040"/>
          </a:xfrm>
          <a:prstGeom prst="rect">
            <a:avLst/>
          </a:prstGeom>
          <a:noFill/>
          <a:ln/>
        </p:spPr>
        <p:txBody>
          <a:bodyPr wrap="square" rtlCol="0" anchor="ctr"/>
          <a:lstStyle/>
          <a:p>
            <a:pPr marL="0" indent="0">
              <a:buNone/>
            </a:pPr>
            <a:r>
              <a:rPr lang="en-US" b="1" kern="0" spc="200" dirty="0">
                <a:solidFill>
                  <a:srgbClr val="E8763C"/>
                </a:solidFill>
                <a:latin typeface="Calibri" pitchFamily="34" charset="0"/>
                <a:ea typeface="Calibri" pitchFamily="34" charset="-122"/>
                <a:cs typeface="Calibri" pitchFamily="34" charset="-120"/>
              </a:rPr>
              <a:t>FRAMING THE ANALYSIS</a:t>
            </a:r>
            <a:endParaRPr lang="en-US" dirty="0"/>
          </a:p>
        </p:txBody>
      </p:sp>
      <p:sp>
        <p:nvSpPr>
          <p:cNvPr id="3" name="Text 1"/>
          <p:cNvSpPr/>
          <p:nvPr/>
        </p:nvSpPr>
        <p:spPr>
          <a:xfrm>
            <a:off x="640080" y="713232"/>
            <a:ext cx="10607040" cy="822960"/>
          </a:xfrm>
          <a:prstGeom prst="rect">
            <a:avLst/>
          </a:prstGeom>
          <a:noFill/>
          <a:ln/>
        </p:spPr>
        <p:txBody>
          <a:bodyPr wrap="square" rtlCol="0" anchor="ctr"/>
          <a:lstStyle/>
          <a:p>
            <a:pPr marL="0" indent="0">
              <a:buNone/>
            </a:pPr>
            <a:r>
              <a:rPr lang="en-US" sz="3600" b="1" u="sng" dirty="0">
                <a:solidFill>
                  <a:srgbClr val="1B2A4A"/>
                </a:solidFill>
                <a:latin typeface="Cambria" pitchFamily="34" charset="0"/>
                <a:ea typeface="Cambria" pitchFamily="34" charset="-122"/>
                <a:cs typeface="Cambria" pitchFamily="34" charset="-120"/>
              </a:rPr>
              <a:t>Business Questions</a:t>
            </a:r>
            <a:endParaRPr lang="en-US" sz="3600" u="sng" dirty="0"/>
          </a:p>
        </p:txBody>
      </p:sp>
      <p:sp>
        <p:nvSpPr>
          <p:cNvPr id="4" name="Text 2"/>
          <p:cNvSpPr/>
          <p:nvPr/>
        </p:nvSpPr>
        <p:spPr>
          <a:xfrm>
            <a:off x="640080" y="1481328"/>
            <a:ext cx="10607040" cy="365760"/>
          </a:xfrm>
          <a:prstGeom prst="rect">
            <a:avLst/>
          </a:prstGeom>
          <a:noFill/>
          <a:ln/>
        </p:spPr>
        <p:txBody>
          <a:bodyPr wrap="square" rtlCol="0" anchor="ctr"/>
          <a:lstStyle/>
          <a:p>
            <a:pPr marL="0" indent="0">
              <a:buNone/>
            </a:pPr>
            <a:r>
              <a:rPr lang="en-US" sz="1600" dirty="0">
                <a:solidFill>
                  <a:schemeClr val="bg1"/>
                </a:solidFill>
                <a:latin typeface="Calibri" pitchFamily="34" charset="0"/>
                <a:ea typeface="Calibri" pitchFamily="34" charset="-122"/>
                <a:cs typeface="Calibri" pitchFamily="34" charset="-120"/>
              </a:rPr>
              <a:t>Seven analytical questions guide the deep-dive analysis on the following slides.</a:t>
            </a:r>
            <a:endParaRPr lang="en-US" sz="1600" dirty="0">
              <a:solidFill>
                <a:schemeClr val="bg1"/>
              </a:solidFill>
            </a:endParaRPr>
          </a:p>
        </p:txBody>
      </p:sp>
      <p:sp>
        <p:nvSpPr>
          <p:cNvPr id="5" name="Shape 3"/>
          <p:cNvSpPr/>
          <p:nvPr/>
        </p:nvSpPr>
        <p:spPr>
          <a:xfrm>
            <a:off x="640080" y="2057400"/>
            <a:ext cx="10908792" cy="438912"/>
          </a:xfrm>
          <a:prstGeom prst="roundRect">
            <a:avLst>
              <a:gd name="adj" fmla="val 14583"/>
            </a:avLst>
          </a:prstGeom>
          <a:solidFill>
            <a:srgbClr val="FFFFFF"/>
          </a:solidFill>
          <a:ln w="12700">
            <a:solidFill>
              <a:srgbClr val="D9E3EC"/>
            </a:solidFill>
            <a:prstDash val="solid"/>
          </a:ln>
          <a:effectLst>
            <a:outerShdw blurRad="63500" dist="25400" dir="5400000" algn="bl" rotWithShape="0">
              <a:srgbClr val="1B2A4A">
                <a:alpha val="6000"/>
              </a:srgbClr>
            </a:outerShdw>
          </a:effectLst>
        </p:spPr>
      </p:sp>
      <p:sp>
        <p:nvSpPr>
          <p:cNvPr id="6" name="Shape 4"/>
          <p:cNvSpPr/>
          <p:nvPr/>
        </p:nvSpPr>
        <p:spPr>
          <a:xfrm>
            <a:off x="786384" y="2103120"/>
            <a:ext cx="347472" cy="347472"/>
          </a:xfrm>
          <a:prstGeom prst="ellipse">
            <a:avLst/>
          </a:prstGeom>
          <a:solidFill>
            <a:srgbClr val="EAF2F8"/>
          </a:solidFill>
          <a:ln/>
        </p:spPr>
      </p:sp>
      <p:sp>
        <p:nvSpPr>
          <p:cNvPr id="7" name="Text 5"/>
          <p:cNvSpPr/>
          <p:nvPr/>
        </p:nvSpPr>
        <p:spPr>
          <a:xfrm>
            <a:off x="786384" y="2103120"/>
            <a:ext cx="493776" cy="347472"/>
          </a:xfrm>
          <a:prstGeom prst="rect">
            <a:avLst/>
          </a:prstGeom>
          <a:noFill/>
          <a:ln/>
        </p:spPr>
        <p:txBody>
          <a:bodyPr wrap="square" rtlCol="0" anchor="ctr"/>
          <a:lstStyle/>
          <a:p>
            <a:pPr marL="0" indent="0" algn="ctr">
              <a:buNone/>
            </a:pPr>
            <a:r>
              <a:rPr lang="en-US" sz="1150" b="1" dirty="0">
                <a:solidFill>
                  <a:srgbClr val="0B5E8C"/>
                </a:solidFill>
                <a:latin typeface="Cambria" pitchFamily="34" charset="0"/>
                <a:ea typeface="Cambria" pitchFamily="34" charset="-122"/>
                <a:cs typeface="Cambria" pitchFamily="34" charset="-120"/>
              </a:rPr>
              <a:t>01</a:t>
            </a:r>
            <a:endParaRPr lang="en-US" sz="1150" dirty="0"/>
          </a:p>
        </p:txBody>
      </p:sp>
      <p:sp>
        <p:nvSpPr>
          <p:cNvPr id="8" name="Text 6"/>
          <p:cNvSpPr/>
          <p:nvPr/>
        </p:nvSpPr>
        <p:spPr>
          <a:xfrm>
            <a:off x="1280160" y="2057400"/>
            <a:ext cx="9966960" cy="438912"/>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What is the overall status of FHTC coverage?</a:t>
            </a:r>
            <a:endParaRPr lang="en-US" b="1" dirty="0"/>
          </a:p>
        </p:txBody>
      </p:sp>
      <p:sp>
        <p:nvSpPr>
          <p:cNvPr id="9" name="Shape 7"/>
          <p:cNvSpPr/>
          <p:nvPr/>
        </p:nvSpPr>
        <p:spPr>
          <a:xfrm>
            <a:off x="640080" y="2624328"/>
            <a:ext cx="10908792" cy="438912"/>
          </a:xfrm>
          <a:prstGeom prst="roundRect">
            <a:avLst>
              <a:gd name="adj" fmla="val 14583"/>
            </a:avLst>
          </a:prstGeom>
          <a:solidFill>
            <a:srgbClr val="FFFFFF"/>
          </a:solidFill>
          <a:ln w="12700">
            <a:solidFill>
              <a:srgbClr val="D9E3EC"/>
            </a:solidFill>
            <a:prstDash val="solid"/>
          </a:ln>
          <a:effectLst>
            <a:outerShdw blurRad="63500" dist="25400" dir="5400000" algn="bl" rotWithShape="0">
              <a:srgbClr val="1B2A4A">
                <a:alpha val="6000"/>
              </a:srgbClr>
            </a:outerShdw>
          </a:effectLst>
        </p:spPr>
      </p:sp>
      <p:sp>
        <p:nvSpPr>
          <p:cNvPr id="10" name="Shape 8"/>
          <p:cNvSpPr/>
          <p:nvPr/>
        </p:nvSpPr>
        <p:spPr>
          <a:xfrm>
            <a:off x="786384" y="2706624"/>
            <a:ext cx="347472" cy="310896"/>
          </a:xfrm>
          <a:prstGeom prst="ellipse">
            <a:avLst/>
          </a:prstGeom>
          <a:solidFill>
            <a:srgbClr val="EAF2F8"/>
          </a:solidFill>
          <a:ln/>
        </p:spPr>
      </p:sp>
      <p:sp>
        <p:nvSpPr>
          <p:cNvPr id="11" name="Text 9"/>
          <p:cNvSpPr/>
          <p:nvPr/>
        </p:nvSpPr>
        <p:spPr>
          <a:xfrm>
            <a:off x="786384" y="2670048"/>
            <a:ext cx="493776" cy="347472"/>
          </a:xfrm>
          <a:prstGeom prst="rect">
            <a:avLst/>
          </a:prstGeom>
          <a:noFill/>
          <a:ln/>
        </p:spPr>
        <p:txBody>
          <a:bodyPr wrap="square" rtlCol="0" anchor="ctr"/>
          <a:lstStyle/>
          <a:p>
            <a:pPr marL="0" indent="0" algn="ctr">
              <a:buNone/>
            </a:pPr>
            <a:r>
              <a:rPr lang="en-US" sz="1150" b="1" dirty="0">
                <a:solidFill>
                  <a:srgbClr val="0B5E8C"/>
                </a:solidFill>
                <a:latin typeface="Cambria" pitchFamily="34" charset="0"/>
                <a:ea typeface="Cambria" pitchFamily="34" charset="-122"/>
                <a:cs typeface="Cambria" pitchFamily="34" charset="-120"/>
              </a:rPr>
              <a:t>02</a:t>
            </a:r>
            <a:endParaRPr lang="en-US" sz="1150" dirty="0"/>
          </a:p>
        </p:txBody>
      </p:sp>
      <p:sp>
        <p:nvSpPr>
          <p:cNvPr id="12" name="Text 10"/>
          <p:cNvSpPr/>
          <p:nvPr/>
        </p:nvSpPr>
        <p:spPr>
          <a:xfrm>
            <a:off x="1280160" y="2624328"/>
            <a:ext cx="9966960" cy="438912"/>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How are FHTCs distributed by water source?</a:t>
            </a:r>
            <a:endParaRPr lang="en-US" b="1" dirty="0"/>
          </a:p>
        </p:txBody>
      </p:sp>
      <p:sp>
        <p:nvSpPr>
          <p:cNvPr id="13" name="Shape 11"/>
          <p:cNvSpPr/>
          <p:nvPr/>
        </p:nvSpPr>
        <p:spPr>
          <a:xfrm>
            <a:off x="640080" y="3191256"/>
            <a:ext cx="10908792" cy="438912"/>
          </a:xfrm>
          <a:prstGeom prst="roundRect">
            <a:avLst>
              <a:gd name="adj" fmla="val 14583"/>
            </a:avLst>
          </a:prstGeom>
          <a:solidFill>
            <a:srgbClr val="FFFFFF"/>
          </a:solidFill>
          <a:ln w="12700">
            <a:solidFill>
              <a:srgbClr val="D9E3EC"/>
            </a:solidFill>
            <a:prstDash val="solid"/>
          </a:ln>
          <a:effectLst>
            <a:outerShdw blurRad="63500" dist="25400" dir="5400000" algn="bl" rotWithShape="0">
              <a:srgbClr val="1B2A4A">
                <a:alpha val="6000"/>
              </a:srgbClr>
            </a:outerShdw>
          </a:effectLst>
        </p:spPr>
      </p:sp>
      <p:sp>
        <p:nvSpPr>
          <p:cNvPr id="14" name="Shape 12"/>
          <p:cNvSpPr/>
          <p:nvPr/>
        </p:nvSpPr>
        <p:spPr>
          <a:xfrm>
            <a:off x="786384" y="3236976"/>
            <a:ext cx="360000" cy="324000"/>
          </a:xfrm>
          <a:prstGeom prst="ellipse">
            <a:avLst/>
          </a:prstGeom>
          <a:solidFill>
            <a:srgbClr val="EAF2F8"/>
          </a:solidFill>
          <a:ln/>
        </p:spPr>
      </p:sp>
      <p:sp>
        <p:nvSpPr>
          <p:cNvPr id="15" name="Text 13"/>
          <p:cNvSpPr/>
          <p:nvPr/>
        </p:nvSpPr>
        <p:spPr>
          <a:xfrm>
            <a:off x="786384" y="3236976"/>
            <a:ext cx="360000" cy="347472"/>
          </a:xfrm>
          <a:prstGeom prst="rect">
            <a:avLst/>
          </a:prstGeom>
          <a:noFill/>
          <a:ln/>
        </p:spPr>
        <p:txBody>
          <a:bodyPr wrap="square" rtlCol="0" anchor="ctr"/>
          <a:lstStyle/>
          <a:p>
            <a:pPr marL="0" indent="0" algn="ctr">
              <a:buNone/>
            </a:pPr>
            <a:r>
              <a:rPr lang="en-US" sz="1150" b="1" dirty="0">
                <a:solidFill>
                  <a:srgbClr val="0B5E8C"/>
                </a:solidFill>
                <a:latin typeface="Cambria" pitchFamily="34" charset="0"/>
                <a:ea typeface="Cambria" pitchFamily="34" charset="-122"/>
                <a:cs typeface="Cambria" pitchFamily="34" charset="-120"/>
              </a:rPr>
              <a:t>03</a:t>
            </a:r>
            <a:endParaRPr lang="en-US" sz="1150" dirty="0"/>
          </a:p>
        </p:txBody>
      </p:sp>
      <p:sp>
        <p:nvSpPr>
          <p:cNvPr id="16" name="Text 14"/>
          <p:cNvSpPr/>
          <p:nvPr/>
        </p:nvSpPr>
        <p:spPr>
          <a:xfrm>
            <a:off x="1280160" y="3191256"/>
            <a:ext cx="9966960" cy="438912"/>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Which districts have the highest FHTC provision?</a:t>
            </a:r>
            <a:endParaRPr lang="en-US" b="1" dirty="0"/>
          </a:p>
        </p:txBody>
      </p:sp>
      <p:sp>
        <p:nvSpPr>
          <p:cNvPr id="17" name="Shape 15"/>
          <p:cNvSpPr/>
          <p:nvPr/>
        </p:nvSpPr>
        <p:spPr>
          <a:xfrm>
            <a:off x="640080" y="3758184"/>
            <a:ext cx="10908792" cy="438912"/>
          </a:xfrm>
          <a:prstGeom prst="roundRect">
            <a:avLst>
              <a:gd name="adj" fmla="val 14583"/>
            </a:avLst>
          </a:prstGeom>
          <a:solidFill>
            <a:srgbClr val="FFFFFF"/>
          </a:solidFill>
          <a:ln w="12700">
            <a:solidFill>
              <a:srgbClr val="D9E3EC"/>
            </a:solidFill>
            <a:prstDash val="solid"/>
          </a:ln>
          <a:effectLst>
            <a:outerShdw blurRad="63500" dist="25400" dir="5400000" algn="bl" rotWithShape="0">
              <a:srgbClr val="1B2A4A">
                <a:alpha val="6000"/>
              </a:srgbClr>
            </a:outerShdw>
          </a:effectLst>
        </p:spPr>
      </p:sp>
      <p:sp>
        <p:nvSpPr>
          <p:cNvPr id="18" name="Shape 16"/>
          <p:cNvSpPr/>
          <p:nvPr/>
        </p:nvSpPr>
        <p:spPr>
          <a:xfrm>
            <a:off x="786384" y="3803904"/>
            <a:ext cx="347472" cy="347472"/>
          </a:xfrm>
          <a:prstGeom prst="ellipse">
            <a:avLst/>
          </a:prstGeom>
          <a:solidFill>
            <a:srgbClr val="EAF2F8"/>
          </a:solidFill>
          <a:ln/>
        </p:spPr>
      </p:sp>
      <p:sp>
        <p:nvSpPr>
          <p:cNvPr id="19" name="Text 17"/>
          <p:cNvSpPr/>
          <p:nvPr/>
        </p:nvSpPr>
        <p:spPr>
          <a:xfrm>
            <a:off x="786384" y="3803904"/>
            <a:ext cx="360000" cy="324000"/>
          </a:xfrm>
          <a:prstGeom prst="rect">
            <a:avLst/>
          </a:prstGeom>
          <a:noFill/>
          <a:ln/>
        </p:spPr>
        <p:txBody>
          <a:bodyPr wrap="square" rtlCol="0" anchor="ctr"/>
          <a:lstStyle/>
          <a:p>
            <a:pPr marL="0" indent="0" algn="ctr">
              <a:buNone/>
            </a:pPr>
            <a:r>
              <a:rPr lang="en-US" sz="1150" b="1" dirty="0">
                <a:solidFill>
                  <a:srgbClr val="0B5E8C"/>
                </a:solidFill>
                <a:latin typeface="Cambria" pitchFamily="34" charset="0"/>
                <a:ea typeface="Cambria" pitchFamily="34" charset="-122"/>
                <a:cs typeface="Cambria" pitchFamily="34" charset="-120"/>
              </a:rPr>
              <a:t>04</a:t>
            </a:r>
            <a:endParaRPr lang="en-US" sz="1150" dirty="0"/>
          </a:p>
        </p:txBody>
      </p:sp>
      <p:sp>
        <p:nvSpPr>
          <p:cNvPr id="20" name="Text 18"/>
          <p:cNvSpPr/>
          <p:nvPr/>
        </p:nvSpPr>
        <p:spPr>
          <a:xfrm>
            <a:off x="1280160" y="3758184"/>
            <a:ext cx="9966960" cy="438912"/>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How has FHTC provision changed over time?</a:t>
            </a:r>
            <a:endParaRPr lang="en-US" b="1" dirty="0"/>
          </a:p>
        </p:txBody>
      </p:sp>
      <p:sp>
        <p:nvSpPr>
          <p:cNvPr id="21" name="Shape 19"/>
          <p:cNvSpPr/>
          <p:nvPr/>
        </p:nvSpPr>
        <p:spPr>
          <a:xfrm>
            <a:off x="640080" y="4325112"/>
            <a:ext cx="10908792" cy="438912"/>
          </a:xfrm>
          <a:prstGeom prst="roundRect">
            <a:avLst>
              <a:gd name="adj" fmla="val 14583"/>
            </a:avLst>
          </a:prstGeom>
          <a:solidFill>
            <a:srgbClr val="FFFFFF"/>
          </a:solidFill>
          <a:ln w="12700">
            <a:solidFill>
              <a:srgbClr val="D9E3EC"/>
            </a:solidFill>
            <a:prstDash val="solid"/>
          </a:ln>
          <a:effectLst>
            <a:outerShdw blurRad="63500" dist="25400" dir="5400000" algn="bl" rotWithShape="0">
              <a:srgbClr val="1B2A4A">
                <a:alpha val="6000"/>
              </a:srgbClr>
            </a:outerShdw>
          </a:effectLst>
        </p:spPr>
      </p:sp>
      <p:sp>
        <p:nvSpPr>
          <p:cNvPr id="22" name="Shape 20"/>
          <p:cNvSpPr/>
          <p:nvPr/>
        </p:nvSpPr>
        <p:spPr>
          <a:xfrm>
            <a:off x="786384" y="4370832"/>
            <a:ext cx="347472" cy="347472"/>
          </a:xfrm>
          <a:prstGeom prst="ellipse">
            <a:avLst/>
          </a:prstGeom>
          <a:solidFill>
            <a:srgbClr val="EAF2F8"/>
          </a:solidFill>
          <a:ln/>
        </p:spPr>
      </p:sp>
      <p:sp>
        <p:nvSpPr>
          <p:cNvPr id="23" name="Text 21"/>
          <p:cNvSpPr/>
          <p:nvPr/>
        </p:nvSpPr>
        <p:spPr>
          <a:xfrm>
            <a:off x="786384" y="4370832"/>
            <a:ext cx="360000" cy="324000"/>
          </a:xfrm>
          <a:prstGeom prst="rect">
            <a:avLst/>
          </a:prstGeom>
          <a:noFill/>
          <a:ln/>
        </p:spPr>
        <p:txBody>
          <a:bodyPr wrap="square" rtlCol="0" anchor="ctr"/>
          <a:lstStyle/>
          <a:p>
            <a:pPr marL="0" indent="0" algn="ctr">
              <a:buNone/>
            </a:pPr>
            <a:r>
              <a:rPr lang="en-US" sz="1150" b="1" dirty="0">
                <a:solidFill>
                  <a:srgbClr val="0B5E8C"/>
                </a:solidFill>
                <a:latin typeface="Cambria" pitchFamily="34" charset="0"/>
                <a:ea typeface="Cambria" pitchFamily="34" charset="-122"/>
                <a:cs typeface="Cambria" pitchFamily="34" charset="-120"/>
              </a:rPr>
              <a:t>05</a:t>
            </a:r>
            <a:endParaRPr lang="en-US" sz="1150" dirty="0"/>
          </a:p>
        </p:txBody>
      </p:sp>
      <p:sp>
        <p:nvSpPr>
          <p:cNvPr id="24" name="Text 22"/>
          <p:cNvSpPr/>
          <p:nvPr/>
        </p:nvSpPr>
        <p:spPr>
          <a:xfrm>
            <a:off x="1280160" y="4325112"/>
            <a:ext cx="9966960" cy="438912"/>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Which districts show stronger or weaker coverage performance?</a:t>
            </a:r>
            <a:endParaRPr lang="en-US" b="1" dirty="0"/>
          </a:p>
        </p:txBody>
      </p:sp>
      <p:sp>
        <p:nvSpPr>
          <p:cNvPr id="25" name="Shape 23"/>
          <p:cNvSpPr/>
          <p:nvPr/>
        </p:nvSpPr>
        <p:spPr>
          <a:xfrm>
            <a:off x="640080" y="4892040"/>
            <a:ext cx="10908792" cy="438912"/>
          </a:xfrm>
          <a:prstGeom prst="roundRect">
            <a:avLst>
              <a:gd name="adj" fmla="val 14583"/>
            </a:avLst>
          </a:prstGeom>
          <a:solidFill>
            <a:srgbClr val="FFFFFF"/>
          </a:solidFill>
          <a:ln w="12700">
            <a:solidFill>
              <a:srgbClr val="D9E3EC"/>
            </a:solidFill>
            <a:prstDash val="solid"/>
          </a:ln>
          <a:effectLst>
            <a:outerShdw blurRad="63500" dist="25400" dir="5400000" algn="bl" rotWithShape="0">
              <a:srgbClr val="1B2A4A">
                <a:alpha val="6000"/>
              </a:srgbClr>
            </a:outerShdw>
          </a:effectLst>
        </p:spPr>
      </p:sp>
      <p:sp>
        <p:nvSpPr>
          <p:cNvPr id="26" name="Shape 24"/>
          <p:cNvSpPr/>
          <p:nvPr/>
        </p:nvSpPr>
        <p:spPr>
          <a:xfrm>
            <a:off x="786384" y="4937760"/>
            <a:ext cx="360000" cy="324000"/>
          </a:xfrm>
          <a:prstGeom prst="ellipse">
            <a:avLst/>
          </a:prstGeom>
          <a:solidFill>
            <a:srgbClr val="EAF2F8"/>
          </a:solidFill>
          <a:ln/>
        </p:spPr>
      </p:sp>
      <p:sp>
        <p:nvSpPr>
          <p:cNvPr id="27" name="Text 25"/>
          <p:cNvSpPr/>
          <p:nvPr/>
        </p:nvSpPr>
        <p:spPr>
          <a:xfrm>
            <a:off x="786384" y="4937760"/>
            <a:ext cx="360000" cy="347472"/>
          </a:xfrm>
          <a:prstGeom prst="rect">
            <a:avLst/>
          </a:prstGeom>
          <a:noFill/>
          <a:ln/>
        </p:spPr>
        <p:txBody>
          <a:bodyPr wrap="square" rtlCol="0" anchor="ctr"/>
          <a:lstStyle/>
          <a:p>
            <a:pPr marL="0" indent="0" algn="ctr">
              <a:buNone/>
            </a:pPr>
            <a:r>
              <a:rPr lang="en-US" sz="1150" b="1" dirty="0">
                <a:solidFill>
                  <a:srgbClr val="0B5E8C"/>
                </a:solidFill>
                <a:latin typeface="Cambria" pitchFamily="34" charset="0"/>
                <a:ea typeface="Cambria" pitchFamily="34" charset="-122"/>
                <a:cs typeface="Cambria" pitchFamily="34" charset="-120"/>
              </a:rPr>
              <a:t>06</a:t>
            </a:r>
            <a:endParaRPr lang="en-US" sz="1150" dirty="0"/>
          </a:p>
        </p:txBody>
      </p:sp>
      <p:sp>
        <p:nvSpPr>
          <p:cNvPr id="28" name="Text 26"/>
          <p:cNvSpPr/>
          <p:nvPr/>
        </p:nvSpPr>
        <p:spPr>
          <a:xfrm>
            <a:off x="1280160" y="4892040"/>
            <a:ext cx="9966960" cy="438912"/>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Does higher FHTC provision necessarily correspond to higher coverage?</a:t>
            </a:r>
            <a:endParaRPr lang="en-US" b="1" dirty="0"/>
          </a:p>
        </p:txBody>
      </p:sp>
      <p:sp>
        <p:nvSpPr>
          <p:cNvPr id="29" name="Shape 27"/>
          <p:cNvSpPr/>
          <p:nvPr/>
        </p:nvSpPr>
        <p:spPr>
          <a:xfrm>
            <a:off x="640080" y="5458968"/>
            <a:ext cx="10908792" cy="438912"/>
          </a:xfrm>
          <a:prstGeom prst="roundRect">
            <a:avLst>
              <a:gd name="adj" fmla="val 14583"/>
            </a:avLst>
          </a:prstGeom>
          <a:solidFill>
            <a:srgbClr val="FFFFFF"/>
          </a:solidFill>
          <a:ln w="12700">
            <a:solidFill>
              <a:srgbClr val="D9E3EC"/>
            </a:solidFill>
            <a:prstDash val="solid"/>
          </a:ln>
          <a:effectLst>
            <a:outerShdw blurRad="63500" dist="25400" dir="5400000" algn="bl" rotWithShape="0">
              <a:srgbClr val="1B2A4A">
                <a:alpha val="6000"/>
              </a:srgbClr>
            </a:outerShdw>
          </a:effectLst>
        </p:spPr>
      </p:sp>
      <p:sp>
        <p:nvSpPr>
          <p:cNvPr id="30" name="Shape 28"/>
          <p:cNvSpPr/>
          <p:nvPr/>
        </p:nvSpPr>
        <p:spPr>
          <a:xfrm>
            <a:off x="786384" y="5504688"/>
            <a:ext cx="347472" cy="347472"/>
          </a:xfrm>
          <a:prstGeom prst="ellipse">
            <a:avLst/>
          </a:prstGeom>
          <a:solidFill>
            <a:srgbClr val="EAF2F8"/>
          </a:solidFill>
          <a:ln/>
        </p:spPr>
      </p:sp>
      <p:sp>
        <p:nvSpPr>
          <p:cNvPr id="31" name="Text 29"/>
          <p:cNvSpPr/>
          <p:nvPr/>
        </p:nvSpPr>
        <p:spPr>
          <a:xfrm>
            <a:off x="786384" y="5504688"/>
            <a:ext cx="360000" cy="324000"/>
          </a:xfrm>
          <a:prstGeom prst="rect">
            <a:avLst/>
          </a:prstGeom>
          <a:noFill/>
          <a:ln/>
        </p:spPr>
        <p:txBody>
          <a:bodyPr wrap="square" rtlCol="0" anchor="ctr"/>
          <a:lstStyle/>
          <a:p>
            <a:pPr marL="0" indent="0" algn="ctr">
              <a:buNone/>
            </a:pPr>
            <a:r>
              <a:rPr lang="en-US" sz="1150" b="1" dirty="0">
                <a:solidFill>
                  <a:srgbClr val="0B5E8C"/>
                </a:solidFill>
                <a:latin typeface="Cambria" pitchFamily="34" charset="0"/>
                <a:ea typeface="Cambria" pitchFamily="34" charset="-122"/>
                <a:cs typeface="Cambria" pitchFamily="34" charset="-120"/>
              </a:rPr>
              <a:t>07</a:t>
            </a:r>
            <a:endParaRPr lang="en-US" sz="1150" dirty="0"/>
          </a:p>
        </p:txBody>
      </p:sp>
      <p:sp>
        <p:nvSpPr>
          <p:cNvPr id="32" name="Text 30"/>
          <p:cNvSpPr/>
          <p:nvPr/>
        </p:nvSpPr>
        <p:spPr>
          <a:xfrm>
            <a:off x="1280160" y="5458968"/>
            <a:ext cx="9966960" cy="438912"/>
          </a:xfrm>
          <a:prstGeom prst="rect">
            <a:avLst/>
          </a:prstGeom>
          <a:noFill/>
          <a:ln/>
        </p:spPr>
        <p:txBody>
          <a:bodyPr wrap="square" rtlCol="0" anchor="ctr"/>
          <a:lstStyle/>
          <a:p>
            <a:pPr marL="0" indent="0">
              <a:buNone/>
            </a:pPr>
            <a:r>
              <a:rPr lang="en-US" b="1" dirty="0">
                <a:solidFill>
                  <a:srgbClr val="1B2A4A"/>
                </a:solidFill>
                <a:latin typeface="Calibri" pitchFamily="34" charset="0"/>
                <a:ea typeface="Calibri" pitchFamily="34" charset="-122"/>
                <a:cs typeface="Calibri" pitchFamily="34" charset="-120"/>
              </a:rPr>
              <a:t>Which districts should receive greater monitoring attention?</a:t>
            </a:r>
            <a:endParaRPr lang="en-US" b="1" dirty="0"/>
          </a:p>
        </p:txBody>
      </p:sp>
      <p:sp>
        <p:nvSpPr>
          <p:cNvPr id="33" name="Text 31"/>
          <p:cNvSpPr/>
          <p:nvPr/>
        </p:nvSpPr>
        <p:spPr>
          <a:xfrm>
            <a:off x="11460175" y="6453963"/>
            <a:ext cx="548640" cy="167994"/>
          </a:xfrm>
          <a:prstGeom prst="rect">
            <a:avLst/>
          </a:prstGeom>
          <a:noFill/>
          <a:ln/>
        </p:spPr>
        <p:txBody>
          <a:bodyPr wrap="square"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08</a:t>
            </a:r>
            <a:endParaRPr lang="en-US" sz="1000" dirty="0">
              <a:solidFill>
                <a:schemeClr val="bg1"/>
              </a:solidFill>
            </a:endParaRPr>
          </a:p>
        </p:txBody>
      </p:sp>
      <p:sp>
        <p:nvSpPr>
          <p:cNvPr id="34" name="Text 32"/>
          <p:cNvSpPr/>
          <p:nvPr/>
        </p:nvSpPr>
        <p:spPr>
          <a:xfrm>
            <a:off x="8899855" y="6400800"/>
            <a:ext cx="2560320" cy="274320"/>
          </a:xfrm>
          <a:prstGeom prst="rect">
            <a:avLst/>
          </a:prstGeom>
          <a:noFill/>
          <a:ln/>
        </p:spPr>
        <p:txBody>
          <a:bodyPr wrap="square" rtlCol="0" anchor="ctr"/>
          <a:lstStyle/>
          <a:p>
            <a:pPr marL="0" indent="0" algn="r">
              <a:buNone/>
            </a:pPr>
            <a:r>
              <a:rPr lang="en-US" sz="900" b="1" kern="0" spc="150" dirty="0">
                <a:solidFill>
                  <a:schemeClr val="bg1"/>
                </a:solidFill>
                <a:latin typeface="Calibri" pitchFamily="34" charset="0"/>
                <a:ea typeface="Calibri" pitchFamily="34" charset="-122"/>
                <a:cs typeface="Calibri" pitchFamily="34" charset="-120"/>
              </a:rPr>
              <a:t>BUSINESS QUESTIONS</a:t>
            </a:r>
            <a:endParaRPr lang="en-US" sz="90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1B2A4A"/>
          </a:solidFill>
          <a:ln/>
        </p:spPr>
      </p:sp>
      <p:sp>
        <p:nvSpPr>
          <p:cNvPr id="3" name="Text 1"/>
          <p:cNvSpPr/>
          <p:nvPr/>
        </p:nvSpPr>
        <p:spPr>
          <a:xfrm>
            <a:off x="640080" y="292608"/>
            <a:ext cx="8229600" cy="320040"/>
          </a:xfrm>
          <a:prstGeom prst="rect">
            <a:avLst/>
          </a:prstGeom>
          <a:noFill/>
          <a:ln/>
        </p:spPr>
        <p:txBody>
          <a:bodyPr wrap="square" rtlCol="0" anchor="ctr"/>
          <a:lstStyle/>
          <a:p>
            <a:pPr marL="0" indent="0">
              <a:buNone/>
            </a:pPr>
            <a:r>
              <a:rPr lang="en-US" sz="2000" b="1" kern="0" spc="200" dirty="0">
                <a:solidFill>
                  <a:srgbClr val="E8763C"/>
                </a:solidFill>
                <a:latin typeface="Calibri" pitchFamily="34" charset="0"/>
                <a:ea typeface="Calibri" pitchFamily="34" charset="-122"/>
                <a:cs typeface="Calibri" pitchFamily="34" charset="-120"/>
              </a:rPr>
              <a:t>BUSINESS QUESTION 1</a:t>
            </a:r>
            <a:endParaRPr lang="en-US" sz="2000" dirty="0"/>
          </a:p>
        </p:txBody>
      </p:sp>
      <p:sp>
        <p:nvSpPr>
          <p:cNvPr id="4" name="Text 2"/>
          <p:cNvSpPr/>
          <p:nvPr/>
        </p:nvSpPr>
        <p:spPr>
          <a:xfrm>
            <a:off x="640080" y="621792"/>
            <a:ext cx="10881360" cy="731520"/>
          </a:xfrm>
          <a:prstGeom prst="rect">
            <a:avLst/>
          </a:prstGeom>
          <a:noFill/>
          <a:ln/>
        </p:spPr>
        <p:txBody>
          <a:bodyPr wrap="square" rtlCol="0" anchor="t"/>
          <a:lstStyle/>
          <a:p>
            <a:pPr marL="0" indent="0">
              <a:buNone/>
            </a:pPr>
            <a:r>
              <a:rPr lang="en-US" sz="2000" b="1" i="1" dirty="0">
                <a:solidFill>
                  <a:srgbClr val="FFFFFF"/>
                </a:solidFill>
                <a:latin typeface="Cambria" pitchFamily="34" charset="0"/>
                <a:ea typeface="Cambria" pitchFamily="34" charset="-122"/>
                <a:cs typeface="Cambria" pitchFamily="34" charset="-120"/>
              </a:rPr>
              <a:t>"What is the overall status of Functional Household Tap Connection (FHTC) coverage?"</a:t>
            </a:r>
            <a:endParaRPr lang="en-US" sz="2000" dirty="0"/>
          </a:p>
        </p:txBody>
      </p:sp>
      <p:sp>
        <p:nvSpPr>
          <p:cNvPr id="5" name="Shape 3"/>
          <p:cNvSpPr/>
          <p:nvPr/>
        </p:nvSpPr>
        <p:spPr>
          <a:xfrm>
            <a:off x="822960" y="1783080"/>
            <a:ext cx="2331720" cy="868680"/>
          </a:xfrm>
          <a:prstGeom prst="roundRect">
            <a:avLst>
              <a:gd name="adj" fmla="val 8421"/>
            </a:avLst>
          </a:prstGeom>
          <a:solidFill>
            <a:srgbClr val="FFFFFF"/>
          </a:solidFill>
          <a:ln w="12700">
            <a:solidFill>
              <a:srgbClr val="D9E3EC"/>
            </a:solidFill>
            <a:prstDash val="solid"/>
          </a:ln>
          <a:effectLst>
            <a:outerShdw blurRad="63500" dist="25400" dir="5400000" algn="bl" rotWithShape="0">
              <a:srgbClr val="1B2A4A">
                <a:alpha val="8000"/>
              </a:srgbClr>
            </a:outerShdw>
          </a:effectLst>
        </p:spPr>
      </p:sp>
      <p:sp>
        <p:nvSpPr>
          <p:cNvPr id="6" name="Text 4"/>
          <p:cNvSpPr/>
          <p:nvPr/>
        </p:nvSpPr>
        <p:spPr>
          <a:xfrm>
            <a:off x="960120" y="1856232"/>
            <a:ext cx="2057400" cy="457200"/>
          </a:xfrm>
          <a:prstGeom prst="rect">
            <a:avLst/>
          </a:prstGeom>
          <a:noFill/>
          <a:ln/>
        </p:spPr>
        <p:txBody>
          <a:bodyPr wrap="square" rtlCol="0" anchor="ctr"/>
          <a:lstStyle/>
          <a:p>
            <a:pPr marL="0" indent="0">
              <a:buNone/>
            </a:pPr>
            <a:r>
              <a:rPr lang="en-US" sz="2400" b="1" dirty="0">
                <a:solidFill>
                  <a:srgbClr val="0B5E8C"/>
                </a:solidFill>
                <a:latin typeface="Cambria" pitchFamily="34" charset="0"/>
                <a:ea typeface="Cambria" pitchFamily="34" charset="-122"/>
                <a:cs typeface="Cambria" pitchFamily="34" charset="-120"/>
              </a:rPr>
              <a:t>12.66M</a:t>
            </a:r>
            <a:endParaRPr lang="en-US" sz="2400" dirty="0"/>
          </a:p>
        </p:txBody>
      </p:sp>
      <p:sp>
        <p:nvSpPr>
          <p:cNvPr id="7" name="Text 5"/>
          <p:cNvSpPr/>
          <p:nvPr/>
        </p:nvSpPr>
        <p:spPr>
          <a:xfrm>
            <a:off x="960120" y="2313432"/>
            <a:ext cx="2057400" cy="274320"/>
          </a:xfrm>
          <a:prstGeom prst="rect">
            <a:avLst/>
          </a:prstGeom>
          <a:noFill/>
          <a:ln/>
        </p:spPr>
        <p:txBody>
          <a:bodyPr wrap="square" rtlCol="0" anchor="ctr"/>
          <a:lstStyle/>
          <a:p>
            <a:pPr marL="0" indent="0">
              <a:buNone/>
            </a:pPr>
            <a:r>
              <a:rPr lang="en-US" sz="1200" b="1" dirty="0">
                <a:solidFill>
                  <a:srgbClr val="5B6B79"/>
                </a:solidFill>
                <a:latin typeface="Calibri" pitchFamily="34" charset="0"/>
                <a:ea typeface="Calibri" pitchFamily="34" charset="-122"/>
                <a:cs typeface="Calibri" pitchFamily="34" charset="-120"/>
              </a:rPr>
              <a:t>Total FHTC</a:t>
            </a:r>
            <a:endParaRPr lang="en-US" sz="1200" b="1" dirty="0"/>
          </a:p>
        </p:txBody>
      </p:sp>
      <p:sp>
        <p:nvSpPr>
          <p:cNvPr id="8" name="Shape 6"/>
          <p:cNvSpPr/>
          <p:nvPr/>
        </p:nvSpPr>
        <p:spPr>
          <a:xfrm>
            <a:off x="822960" y="2834640"/>
            <a:ext cx="2331720" cy="868680"/>
          </a:xfrm>
          <a:prstGeom prst="roundRect">
            <a:avLst>
              <a:gd name="adj" fmla="val 8421"/>
            </a:avLst>
          </a:prstGeom>
          <a:solidFill>
            <a:srgbClr val="FFFFFF"/>
          </a:solidFill>
          <a:ln w="12700">
            <a:solidFill>
              <a:srgbClr val="D9E3EC"/>
            </a:solidFill>
            <a:prstDash val="solid"/>
          </a:ln>
          <a:effectLst>
            <a:outerShdw blurRad="63500" dist="25400" dir="5400000" algn="bl" rotWithShape="0">
              <a:srgbClr val="1B2A4A">
                <a:alpha val="8000"/>
              </a:srgbClr>
            </a:outerShdw>
          </a:effectLst>
        </p:spPr>
      </p:sp>
      <p:sp>
        <p:nvSpPr>
          <p:cNvPr id="9" name="Text 7"/>
          <p:cNvSpPr/>
          <p:nvPr/>
        </p:nvSpPr>
        <p:spPr>
          <a:xfrm>
            <a:off x="960120" y="2907792"/>
            <a:ext cx="2057400" cy="457200"/>
          </a:xfrm>
          <a:prstGeom prst="rect">
            <a:avLst/>
          </a:prstGeom>
          <a:noFill/>
          <a:ln/>
        </p:spPr>
        <p:txBody>
          <a:bodyPr wrap="square" rtlCol="0" anchor="ctr"/>
          <a:lstStyle/>
          <a:p>
            <a:pPr marL="0" indent="0">
              <a:buNone/>
            </a:pPr>
            <a:r>
              <a:rPr lang="en-US" sz="2400" b="1" dirty="0">
                <a:solidFill>
                  <a:srgbClr val="0B5E8C"/>
                </a:solidFill>
                <a:latin typeface="Cambria" pitchFamily="34" charset="0"/>
                <a:ea typeface="Cambria" pitchFamily="34" charset="-122"/>
                <a:cs typeface="Cambria" pitchFamily="34" charset="-120"/>
              </a:rPr>
              <a:t>7.94M</a:t>
            </a:r>
            <a:endParaRPr lang="en-US" sz="2400" dirty="0"/>
          </a:p>
        </p:txBody>
      </p:sp>
      <p:sp>
        <p:nvSpPr>
          <p:cNvPr id="10" name="Text 8"/>
          <p:cNvSpPr/>
          <p:nvPr/>
        </p:nvSpPr>
        <p:spPr>
          <a:xfrm>
            <a:off x="960120" y="3364992"/>
            <a:ext cx="2057400" cy="274320"/>
          </a:xfrm>
          <a:prstGeom prst="rect">
            <a:avLst/>
          </a:prstGeom>
          <a:noFill/>
          <a:ln/>
        </p:spPr>
        <p:txBody>
          <a:bodyPr wrap="square" rtlCol="0" anchor="ctr"/>
          <a:lstStyle/>
          <a:p>
            <a:pPr marL="0" indent="0">
              <a:buNone/>
            </a:pPr>
            <a:r>
              <a:rPr lang="en-US" sz="1200" b="1" dirty="0">
                <a:solidFill>
                  <a:srgbClr val="5B6B79"/>
                </a:solidFill>
                <a:latin typeface="Calibri" pitchFamily="34" charset="0"/>
                <a:ea typeface="Calibri" pitchFamily="34" charset="-122"/>
                <a:cs typeface="Calibri" pitchFamily="34" charset="-120"/>
              </a:rPr>
              <a:t>FHTC Provided</a:t>
            </a:r>
            <a:endParaRPr lang="en-US" sz="1200" b="1" dirty="0"/>
          </a:p>
        </p:txBody>
      </p:sp>
      <p:sp>
        <p:nvSpPr>
          <p:cNvPr id="11" name="Shape 9"/>
          <p:cNvSpPr/>
          <p:nvPr/>
        </p:nvSpPr>
        <p:spPr>
          <a:xfrm>
            <a:off x="822960" y="3886200"/>
            <a:ext cx="2331720" cy="868680"/>
          </a:xfrm>
          <a:prstGeom prst="roundRect">
            <a:avLst>
              <a:gd name="adj" fmla="val 8421"/>
            </a:avLst>
          </a:prstGeom>
          <a:solidFill>
            <a:srgbClr val="FFFFFF"/>
          </a:solidFill>
          <a:ln w="12700">
            <a:solidFill>
              <a:srgbClr val="D9E3EC"/>
            </a:solidFill>
            <a:prstDash val="solid"/>
          </a:ln>
          <a:effectLst>
            <a:outerShdw blurRad="63500" dist="25400" dir="5400000" algn="bl" rotWithShape="0">
              <a:srgbClr val="1B2A4A">
                <a:alpha val="8000"/>
              </a:srgbClr>
            </a:outerShdw>
          </a:effectLst>
        </p:spPr>
      </p:sp>
      <p:sp>
        <p:nvSpPr>
          <p:cNvPr id="12" name="Text 10"/>
          <p:cNvSpPr/>
          <p:nvPr/>
        </p:nvSpPr>
        <p:spPr>
          <a:xfrm>
            <a:off x="960120" y="3959352"/>
            <a:ext cx="2057400" cy="457200"/>
          </a:xfrm>
          <a:prstGeom prst="rect">
            <a:avLst/>
          </a:prstGeom>
          <a:noFill/>
          <a:ln/>
        </p:spPr>
        <p:txBody>
          <a:bodyPr wrap="square" rtlCol="0" anchor="ctr"/>
          <a:lstStyle/>
          <a:p>
            <a:pPr marL="0" indent="0">
              <a:buNone/>
            </a:pPr>
            <a:r>
              <a:rPr lang="en-US" sz="2400" b="1" dirty="0">
                <a:solidFill>
                  <a:srgbClr val="0B5E8C"/>
                </a:solidFill>
                <a:latin typeface="Cambria" pitchFamily="34" charset="0"/>
                <a:ea typeface="Cambria" pitchFamily="34" charset="-122"/>
                <a:cs typeface="Cambria" pitchFamily="34" charset="-120"/>
              </a:rPr>
              <a:t>195</a:t>
            </a:r>
            <a:endParaRPr lang="en-US" sz="2400" dirty="0"/>
          </a:p>
        </p:txBody>
      </p:sp>
      <p:sp>
        <p:nvSpPr>
          <p:cNvPr id="13" name="Text 11"/>
          <p:cNvSpPr/>
          <p:nvPr/>
        </p:nvSpPr>
        <p:spPr>
          <a:xfrm>
            <a:off x="960120" y="4416552"/>
            <a:ext cx="2057400" cy="274320"/>
          </a:xfrm>
          <a:prstGeom prst="rect">
            <a:avLst/>
          </a:prstGeom>
          <a:noFill/>
          <a:ln/>
        </p:spPr>
        <p:txBody>
          <a:bodyPr wrap="square" rtlCol="0" anchor="ctr"/>
          <a:lstStyle/>
          <a:p>
            <a:pPr marL="0" indent="0">
              <a:buNone/>
            </a:pPr>
            <a:r>
              <a:rPr lang="en-US" sz="1200" b="1" dirty="0">
                <a:solidFill>
                  <a:srgbClr val="5B6B79"/>
                </a:solidFill>
                <a:latin typeface="Calibri" pitchFamily="34" charset="0"/>
                <a:ea typeface="Calibri" pitchFamily="34" charset="-122"/>
                <a:cs typeface="Calibri" pitchFamily="34" charset="-120"/>
              </a:rPr>
              <a:t>Count Area</a:t>
            </a:r>
            <a:endParaRPr lang="en-US" sz="1200" b="1" dirty="0"/>
          </a:p>
        </p:txBody>
      </p:sp>
      <p:sp>
        <p:nvSpPr>
          <p:cNvPr id="14" name="Shape 12"/>
          <p:cNvSpPr/>
          <p:nvPr/>
        </p:nvSpPr>
        <p:spPr>
          <a:xfrm>
            <a:off x="6702552" y="1783080"/>
            <a:ext cx="4846320" cy="3108960"/>
          </a:xfrm>
          <a:prstGeom prst="roundRect">
            <a:avLst>
              <a:gd name="adj" fmla="val 2941"/>
            </a:avLst>
          </a:prstGeom>
          <a:solidFill>
            <a:srgbClr val="1B2A4A"/>
          </a:solidFill>
          <a:ln/>
          <a:effectLst>
            <a:outerShdw blurRad="127000" dist="50800" dir="5400000" algn="bl" rotWithShape="0">
              <a:srgbClr val="000000">
                <a:alpha val="20000"/>
              </a:srgbClr>
            </a:outerShdw>
          </a:effectLst>
        </p:spPr>
      </p:sp>
      <p:sp>
        <p:nvSpPr>
          <p:cNvPr id="15" name="Text 13"/>
          <p:cNvSpPr/>
          <p:nvPr/>
        </p:nvSpPr>
        <p:spPr>
          <a:xfrm>
            <a:off x="6675120" y="2286000"/>
            <a:ext cx="4846320" cy="1371600"/>
          </a:xfrm>
          <a:prstGeom prst="rect">
            <a:avLst/>
          </a:prstGeom>
          <a:noFill/>
          <a:ln/>
        </p:spPr>
        <p:txBody>
          <a:bodyPr wrap="square" rtlCol="0" anchor="ctr"/>
          <a:lstStyle/>
          <a:p>
            <a:pPr marL="0" indent="0" algn="ctr">
              <a:buNone/>
            </a:pPr>
            <a:r>
              <a:rPr lang="en-US" sz="6800" b="1" dirty="0">
                <a:solidFill>
                  <a:srgbClr val="FFFFFF"/>
                </a:solidFill>
                <a:latin typeface="Cambria" pitchFamily="34" charset="0"/>
                <a:ea typeface="Cambria" pitchFamily="34" charset="-122"/>
                <a:cs typeface="Cambria" pitchFamily="34" charset="-120"/>
              </a:rPr>
              <a:t>59.3%</a:t>
            </a:r>
            <a:endParaRPr lang="en-US" sz="6800" dirty="0"/>
          </a:p>
        </p:txBody>
      </p:sp>
      <p:sp>
        <p:nvSpPr>
          <p:cNvPr id="16" name="Text 14"/>
          <p:cNvSpPr/>
          <p:nvPr/>
        </p:nvSpPr>
        <p:spPr>
          <a:xfrm>
            <a:off x="6675120" y="3657600"/>
            <a:ext cx="4846320" cy="365760"/>
          </a:xfrm>
          <a:prstGeom prst="rect">
            <a:avLst/>
          </a:prstGeom>
          <a:noFill/>
          <a:ln/>
        </p:spPr>
        <p:txBody>
          <a:bodyPr wrap="square" rtlCol="0" anchor="ctr"/>
          <a:lstStyle/>
          <a:p>
            <a:pPr marL="0" indent="0" algn="ctr">
              <a:buNone/>
            </a:pPr>
            <a:r>
              <a:rPr lang="en-US" b="1" kern="0" spc="150" dirty="0">
                <a:solidFill>
                  <a:srgbClr val="E8763C"/>
                </a:solidFill>
                <a:latin typeface="Calibri" pitchFamily="34" charset="0"/>
                <a:ea typeface="Calibri" pitchFamily="34" charset="-122"/>
                <a:cs typeface="Calibri" pitchFamily="34" charset="-120"/>
              </a:rPr>
              <a:t>AVERAGE FHTC COVERAGE</a:t>
            </a:r>
            <a:endParaRPr lang="en-US" dirty="0"/>
          </a:p>
        </p:txBody>
      </p:sp>
      <p:sp>
        <p:nvSpPr>
          <p:cNvPr id="17" name="Shape 15"/>
          <p:cNvSpPr/>
          <p:nvPr/>
        </p:nvSpPr>
        <p:spPr>
          <a:xfrm>
            <a:off x="7406640" y="4114800"/>
            <a:ext cx="3383280" cy="0"/>
          </a:xfrm>
          <a:prstGeom prst="line">
            <a:avLst/>
          </a:prstGeom>
          <a:noFill/>
          <a:ln w="12700">
            <a:solidFill>
              <a:srgbClr val="33507F"/>
            </a:solidFill>
            <a:prstDash val="solid"/>
          </a:ln>
        </p:spPr>
      </p:sp>
      <p:sp>
        <p:nvSpPr>
          <p:cNvPr id="18" name="Text 16"/>
          <p:cNvSpPr/>
          <p:nvPr/>
        </p:nvSpPr>
        <p:spPr>
          <a:xfrm>
            <a:off x="6702553" y="4251960"/>
            <a:ext cx="4666182" cy="548640"/>
          </a:xfrm>
          <a:prstGeom prst="rect">
            <a:avLst/>
          </a:prstGeom>
          <a:noFill/>
          <a:ln/>
        </p:spPr>
        <p:txBody>
          <a:bodyPr wrap="square" rtlCol="0" anchor="ctr"/>
          <a:lstStyle/>
          <a:p>
            <a:pPr marL="0" indent="0" algn="ctr">
              <a:buNone/>
            </a:pPr>
            <a:r>
              <a:rPr lang="en-US" sz="1400" b="1" i="1" dirty="0">
                <a:solidFill>
                  <a:srgbClr val="D7E6F0"/>
                </a:solidFill>
                <a:latin typeface="Calibri" pitchFamily="34" charset="0"/>
                <a:ea typeface="Calibri" pitchFamily="34" charset="-122"/>
                <a:cs typeface="Calibri" pitchFamily="34" charset="-120"/>
              </a:rPr>
              <a:t>7,943,000 FHTCs provided out of 12,655,500 total FHTC requirement</a:t>
            </a:r>
            <a:endParaRPr lang="en-US" sz="1400" b="1" dirty="0"/>
          </a:p>
        </p:txBody>
      </p:sp>
      <p:sp>
        <p:nvSpPr>
          <p:cNvPr id="19" name="Shape 17"/>
          <p:cNvSpPr/>
          <p:nvPr/>
        </p:nvSpPr>
        <p:spPr>
          <a:xfrm>
            <a:off x="641451" y="5044724"/>
            <a:ext cx="10908792" cy="1481328"/>
          </a:xfrm>
          <a:prstGeom prst="roundRect">
            <a:avLst>
              <a:gd name="adj" fmla="val 4938"/>
            </a:avLst>
          </a:prstGeom>
          <a:solidFill>
            <a:srgbClr val="FFFFFF"/>
          </a:solidFill>
          <a:ln w="12700">
            <a:solidFill>
              <a:srgbClr val="D9E3EC"/>
            </a:solidFill>
            <a:prstDash val="solid"/>
          </a:ln>
          <a:effectLst>
            <a:outerShdw blurRad="76200" dist="25400" dir="5400000" algn="bl" rotWithShape="0">
              <a:srgbClr val="1B2A4A">
                <a:alpha val="8000"/>
              </a:srgbClr>
            </a:outerShdw>
          </a:effectLst>
        </p:spPr>
      </p:sp>
      <p:sp>
        <p:nvSpPr>
          <p:cNvPr id="20" name="Text 18"/>
          <p:cNvSpPr/>
          <p:nvPr/>
        </p:nvSpPr>
        <p:spPr>
          <a:xfrm>
            <a:off x="822960" y="5202936"/>
            <a:ext cx="336194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KEY FINDING</a:t>
            </a:r>
            <a:endParaRPr lang="en-US" sz="1200" b="1" dirty="0"/>
          </a:p>
        </p:txBody>
      </p:sp>
      <p:sp>
        <p:nvSpPr>
          <p:cNvPr id="21" name="Text 19"/>
          <p:cNvSpPr/>
          <p:nvPr/>
        </p:nvSpPr>
        <p:spPr>
          <a:xfrm>
            <a:off x="822960" y="5440680"/>
            <a:ext cx="3361944" cy="1005840"/>
          </a:xfrm>
          <a:prstGeom prst="rect">
            <a:avLst/>
          </a:prstGeom>
          <a:noFill/>
          <a:ln/>
        </p:spPr>
        <p:txBody>
          <a:bodyPr wrap="square" rtlCol="0" anchor="ctr"/>
          <a:lstStyle/>
          <a:p>
            <a:pPr marL="0" indent="0">
              <a:lnSpc>
                <a:spcPct val="110000"/>
              </a:lnSpc>
              <a:buNone/>
            </a:pPr>
            <a:r>
              <a:rPr lang="en-US" b="1" dirty="0">
                <a:solidFill>
                  <a:srgbClr val="0B5E8C"/>
                </a:solidFill>
                <a:latin typeface="Cambria" pitchFamily="34" charset="0"/>
                <a:ea typeface="Cambria" pitchFamily="34" charset="-122"/>
                <a:cs typeface="Cambria" pitchFamily="34" charset="-120"/>
              </a:rPr>
              <a:t>59.3% Coverage</a:t>
            </a:r>
            <a:endParaRPr lang="en-US" dirty="0"/>
          </a:p>
        </p:txBody>
      </p:sp>
      <p:sp>
        <p:nvSpPr>
          <p:cNvPr id="22" name="Shape 20"/>
          <p:cNvSpPr/>
          <p:nvPr/>
        </p:nvSpPr>
        <p:spPr>
          <a:xfrm>
            <a:off x="4459224" y="5221224"/>
            <a:ext cx="0" cy="1188720"/>
          </a:xfrm>
          <a:prstGeom prst="line">
            <a:avLst/>
          </a:prstGeom>
          <a:noFill/>
          <a:ln w="12700">
            <a:solidFill>
              <a:srgbClr val="D9E3EC"/>
            </a:solidFill>
            <a:prstDash val="solid"/>
          </a:ln>
        </p:spPr>
      </p:sp>
      <p:sp>
        <p:nvSpPr>
          <p:cNvPr id="23" name="Text 21"/>
          <p:cNvSpPr/>
          <p:nvPr/>
        </p:nvSpPr>
        <p:spPr>
          <a:xfrm>
            <a:off x="4687824" y="5202936"/>
            <a:ext cx="317906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INSIGHT</a:t>
            </a:r>
            <a:endParaRPr lang="en-US" sz="1200" dirty="0"/>
          </a:p>
        </p:txBody>
      </p:sp>
      <p:sp>
        <p:nvSpPr>
          <p:cNvPr id="24" name="Text 22"/>
          <p:cNvSpPr/>
          <p:nvPr/>
        </p:nvSpPr>
        <p:spPr>
          <a:xfrm>
            <a:off x="4687824" y="5440680"/>
            <a:ext cx="3179064" cy="1005840"/>
          </a:xfrm>
          <a:prstGeom prst="rect">
            <a:avLst/>
          </a:prstGeom>
          <a:noFill/>
          <a:ln/>
        </p:spPr>
        <p:txBody>
          <a:bodyPr wrap="square" rtlCol="0" anchor="ctr"/>
          <a:lstStyle/>
          <a:p>
            <a:pPr marL="0" indent="0">
              <a:lnSpc>
                <a:spcPct val="120000"/>
              </a:lnSpc>
              <a:buNone/>
            </a:pPr>
            <a:r>
              <a:rPr lang="en-US" sz="1200" b="1" dirty="0">
                <a:solidFill>
                  <a:srgbClr val="1B2A4A"/>
                </a:solidFill>
                <a:latin typeface="Calibri" pitchFamily="34" charset="0"/>
                <a:ea typeface="Calibri" pitchFamily="34" charset="-122"/>
                <a:cs typeface="Calibri" pitchFamily="34" charset="-120"/>
              </a:rPr>
              <a:t>7.943 million FHTCs have been provided against 12.656 million total FHTCs, resulting in approximately 59.3% average coverage across the analyzed records.</a:t>
            </a:r>
            <a:endParaRPr lang="en-US" sz="1200" b="1" dirty="0"/>
          </a:p>
        </p:txBody>
      </p:sp>
      <p:sp>
        <p:nvSpPr>
          <p:cNvPr id="25" name="Shape 23"/>
          <p:cNvSpPr/>
          <p:nvPr/>
        </p:nvSpPr>
        <p:spPr>
          <a:xfrm>
            <a:off x="8095488" y="5221224"/>
            <a:ext cx="0" cy="1188720"/>
          </a:xfrm>
          <a:prstGeom prst="line">
            <a:avLst/>
          </a:prstGeom>
          <a:noFill/>
          <a:ln w="12700">
            <a:solidFill>
              <a:srgbClr val="D9E3EC"/>
            </a:solidFill>
            <a:prstDash val="solid"/>
          </a:ln>
        </p:spPr>
      </p:sp>
      <p:sp>
        <p:nvSpPr>
          <p:cNvPr id="26" name="Text 24"/>
          <p:cNvSpPr/>
          <p:nvPr/>
        </p:nvSpPr>
        <p:spPr>
          <a:xfrm>
            <a:off x="8324088" y="5202936"/>
            <a:ext cx="322478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BUSINESS IMPLICATION</a:t>
            </a:r>
            <a:endParaRPr lang="en-US" sz="1200" dirty="0"/>
          </a:p>
        </p:txBody>
      </p:sp>
      <p:sp>
        <p:nvSpPr>
          <p:cNvPr id="27" name="Text 25"/>
          <p:cNvSpPr/>
          <p:nvPr/>
        </p:nvSpPr>
        <p:spPr>
          <a:xfrm>
            <a:off x="8324088" y="5440680"/>
            <a:ext cx="3224784" cy="1005840"/>
          </a:xfrm>
          <a:prstGeom prst="rect">
            <a:avLst/>
          </a:prstGeom>
          <a:noFill/>
          <a:ln/>
        </p:spPr>
        <p:txBody>
          <a:bodyPr wrap="square" rtlCol="0" anchor="ctr"/>
          <a:lstStyle/>
          <a:p>
            <a:pPr marL="0" indent="0">
              <a:lnSpc>
                <a:spcPct val="120000"/>
              </a:lnSpc>
              <a:buNone/>
            </a:pPr>
            <a:r>
              <a:rPr lang="en-US" sz="1200" b="1" dirty="0">
                <a:solidFill>
                  <a:srgbClr val="1B2A4A"/>
                </a:solidFill>
                <a:latin typeface="Calibri" pitchFamily="34" charset="0"/>
                <a:ea typeface="Calibri" pitchFamily="34" charset="-122"/>
                <a:cs typeface="Calibri" pitchFamily="34" charset="-120"/>
              </a:rPr>
              <a:t>While substantial progress has been made, approximately 40.7% of the total FHTC requirement remains uncovered, indicating scope for further expansion.</a:t>
            </a:r>
            <a:endParaRPr lang="en-US" sz="1200" b="1" dirty="0"/>
          </a:p>
        </p:txBody>
      </p:sp>
      <p:sp>
        <p:nvSpPr>
          <p:cNvPr id="28" name="Text 26"/>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09</a:t>
            </a:r>
            <a:endParaRPr lang="en-US" sz="1000" dirty="0"/>
          </a:p>
        </p:txBody>
      </p:sp>
      <p:sp>
        <p:nvSpPr>
          <p:cNvPr id="29" name="Text 27"/>
          <p:cNvSpPr/>
          <p:nvPr/>
        </p:nvSpPr>
        <p:spPr>
          <a:xfrm>
            <a:off x="9509760" y="6526691"/>
            <a:ext cx="2560320" cy="274320"/>
          </a:xfrm>
          <a:prstGeom prst="rect">
            <a:avLst/>
          </a:prstGeom>
          <a:noFill/>
          <a:ln/>
        </p:spPr>
        <p:txBody>
          <a:bodyPr wrap="square" rtlCol="0" anchor="ctr"/>
          <a:lstStyle/>
          <a:p>
            <a:pPr marL="0" indent="0" algn="r">
              <a:buNone/>
            </a:pPr>
            <a:r>
              <a:rPr lang="en-US" sz="900" b="1" kern="0" spc="150" dirty="0">
                <a:solidFill>
                  <a:schemeClr val="bg1"/>
                </a:solidFill>
                <a:latin typeface="Calibri" pitchFamily="34" charset="0"/>
                <a:ea typeface="Calibri" pitchFamily="34" charset="-122"/>
                <a:cs typeface="Calibri" pitchFamily="34" charset="-120"/>
              </a:rPr>
              <a:t>BQ 1</a:t>
            </a:r>
            <a:endParaRPr lang="en-US" sz="9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1B2A4A"/>
          </a:solidFill>
          <a:ln/>
        </p:spPr>
      </p:sp>
      <p:sp>
        <p:nvSpPr>
          <p:cNvPr id="3" name="Text 1"/>
          <p:cNvSpPr/>
          <p:nvPr/>
        </p:nvSpPr>
        <p:spPr>
          <a:xfrm>
            <a:off x="640080" y="292608"/>
            <a:ext cx="8229600" cy="320040"/>
          </a:xfrm>
          <a:prstGeom prst="rect">
            <a:avLst/>
          </a:prstGeom>
          <a:noFill/>
          <a:ln/>
        </p:spPr>
        <p:txBody>
          <a:bodyPr wrap="square" rtlCol="0" anchor="ctr"/>
          <a:lstStyle/>
          <a:p>
            <a:pPr marL="0" indent="0">
              <a:buNone/>
            </a:pPr>
            <a:r>
              <a:rPr lang="en-US" sz="2400" b="1" kern="0" spc="200" dirty="0">
                <a:solidFill>
                  <a:srgbClr val="E8763C"/>
                </a:solidFill>
                <a:latin typeface="Calibri" pitchFamily="34" charset="0"/>
                <a:ea typeface="Calibri" pitchFamily="34" charset="-122"/>
                <a:cs typeface="Calibri" pitchFamily="34" charset="-120"/>
              </a:rPr>
              <a:t>BUSINESS QUESTION 2</a:t>
            </a:r>
            <a:endParaRPr lang="en-US" sz="2400" dirty="0"/>
          </a:p>
        </p:txBody>
      </p:sp>
      <p:sp>
        <p:nvSpPr>
          <p:cNvPr id="4" name="Text 2"/>
          <p:cNvSpPr/>
          <p:nvPr/>
        </p:nvSpPr>
        <p:spPr>
          <a:xfrm>
            <a:off x="640080" y="621792"/>
            <a:ext cx="10881360" cy="731520"/>
          </a:xfrm>
          <a:prstGeom prst="rect">
            <a:avLst/>
          </a:prstGeom>
          <a:noFill/>
          <a:ln/>
        </p:spPr>
        <p:txBody>
          <a:bodyPr wrap="square" rtlCol="0" anchor="t"/>
          <a:lstStyle/>
          <a:p>
            <a:pPr marL="0" indent="0">
              <a:buNone/>
            </a:pPr>
            <a:r>
              <a:rPr lang="en-US" sz="2000" b="1" i="1" dirty="0">
                <a:solidFill>
                  <a:srgbClr val="FFFFFF"/>
                </a:solidFill>
                <a:latin typeface="Cambria" pitchFamily="34" charset="0"/>
                <a:ea typeface="Cambria" pitchFamily="34" charset="-122"/>
                <a:cs typeface="Cambria" pitchFamily="34" charset="-120"/>
              </a:rPr>
              <a:t>"How are FHTC records distributed between Groundwater and Surface Water sources?"</a:t>
            </a:r>
            <a:endParaRPr lang="en-US" sz="2000" dirty="0"/>
          </a:p>
        </p:txBody>
      </p:sp>
      <p:graphicFrame>
        <p:nvGraphicFramePr>
          <p:cNvPr id="5" name="Chart 0"/>
          <p:cNvGraphicFramePr/>
          <p:nvPr>
            <p:extLst>
              <p:ext uri="{D42A27DB-BD31-4B8C-83A1-F6EECF244321}">
                <p14:modId xmlns:p14="http://schemas.microsoft.com/office/powerpoint/2010/main" val="1026545111"/>
              </p:ext>
            </p:extLst>
          </p:nvPr>
        </p:nvGraphicFramePr>
        <p:xfrm>
          <a:off x="822960" y="1417320"/>
          <a:ext cx="4389120" cy="3593592"/>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728822" y="1799242"/>
            <a:ext cx="5852160" cy="3108960"/>
          </a:xfrm>
          <a:prstGeom prst="roundRect">
            <a:avLst>
              <a:gd name="adj" fmla="val 2941"/>
            </a:avLst>
          </a:prstGeom>
          <a:solidFill>
            <a:srgbClr val="1B2A4A"/>
          </a:solidFill>
          <a:ln/>
          <a:effectLst>
            <a:outerShdw blurRad="127000" dist="50800" dir="5400000" algn="bl" rotWithShape="0">
              <a:srgbClr val="000000">
                <a:alpha val="20000"/>
              </a:srgbClr>
            </a:outerShdw>
          </a:effectLst>
        </p:spPr>
      </p:sp>
      <p:sp>
        <p:nvSpPr>
          <p:cNvPr id="7" name="Text 4"/>
          <p:cNvSpPr/>
          <p:nvPr/>
        </p:nvSpPr>
        <p:spPr>
          <a:xfrm>
            <a:off x="5669280" y="2148840"/>
            <a:ext cx="5852160" cy="914400"/>
          </a:xfrm>
          <a:prstGeom prst="rect">
            <a:avLst/>
          </a:prstGeom>
          <a:noFill/>
          <a:ln/>
        </p:spPr>
        <p:txBody>
          <a:bodyPr wrap="square"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50.3% vs 49.7%</a:t>
            </a:r>
            <a:endParaRPr lang="en-US" sz="4200" dirty="0"/>
          </a:p>
        </p:txBody>
      </p:sp>
      <p:sp>
        <p:nvSpPr>
          <p:cNvPr id="8" name="Text 5"/>
          <p:cNvSpPr/>
          <p:nvPr/>
        </p:nvSpPr>
        <p:spPr>
          <a:xfrm>
            <a:off x="5669280" y="3017520"/>
            <a:ext cx="5852160" cy="365760"/>
          </a:xfrm>
          <a:prstGeom prst="rect">
            <a:avLst/>
          </a:prstGeom>
          <a:noFill/>
          <a:ln/>
        </p:spPr>
        <p:txBody>
          <a:bodyPr wrap="square" rtlCol="0" anchor="ctr"/>
          <a:lstStyle/>
          <a:p>
            <a:pPr marL="0" indent="0" algn="ctr">
              <a:buNone/>
            </a:pPr>
            <a:r>
              <a:rPr lang="en-US" sz="1600" b="1" kern="0" spc="120" dirty="0">
                <a:solidFill>
                  <a:srgbClr val="E8763C"/>
                </a:solidFill>
                <a:latin typeface="Calibri" pitchFamily="34" charset="0"/>
                <a:ea typeface="Calibri" pitchFamily="34" charset="-122"/>
                <a:cs typeface="Calibri" pitchFamily="34" charset="-120"/>
              </a:rPr>
              <a:t>SURFACE WATER  vs  GROUNDWATER</a:t>
            </a:r>
            <a:endParaRPr lang="en-US" sz="1600" dirty="0"/>
          </a:p>
        </p:txBody>
      </p:sp>
      <p:sp>
        <p:nvSpPr>
          <p:cNvPr id="9" name="Shape 6"/>
          <p:cNvSpPr/>
          <p:nvPr/>
        </p:nvSpPr>
        <p:spPr>
          <a:xfrm>
            <a:off x="6583680" y="3520440"/>
            <a:ext cx="4023360" cy="0"/>
          </a:xfrm>
          <a:prstGeom prst="line">
            <a:avLst/>
          </a:prstGeom>
          <a:noFill/>
          <a:ln w="12700">
            <a:solidFill>
              <a:srgbClr val="33507F"/>
            </a:solidFill>
            <a:prstDash val="solid"/>
          </a:ln>
        </p:spPr>
      </p:sp>
      <p:sp>
        <p:nvSpPr>
          <p:cNvPr id="10" name="Text 7"/>
          <p:cNvSpPr/>
          <p:nvPr/>
        </p:nvSpPr>
        <p:spPr>
          <a:xfrm>
            <a:off x="6126480" y="3703320"/>
            <a:ext cx="2377440" cy="320040"/>
          </a:xfrm>
          <a:prstGeom prst="rect">
            <a:avLst/>
          </a:prstGeom>
          <a:noFill/>
          <a:ln/>
        </p:spPr>
        <p:txBody>
          <a:bodyPr wrap="square" rtlCol="0" anchor="ctr"/>
          <a:lstStyle/>
          <a:p>
            <a:pPr marL="0" indent="0">
              <a:buNone/>
            </a:pPr>
            <a:r>
              <a:rPr lang="en-US" sz="1400" b="1" dirty="0">
                <a:solidFill>
                  <a:srgbClr val="D7E6F0"/>
                </a:solidFill>
                <a:latin typeface="Calibri" pitchFamily="34" charset="0"/>
                <a:ea typeface="Calibri" pitchFamily="34" charset="-122"/>
                <a:cs typeface="Calibri" pitchFamily="34" charset="-120"/>
              </a:rPr>
              <a:t>Surface Water</a:t>
            </a:r>
            <a:endParaRPr lang="en-US" sz="1400" b="1" dirty="0"/>
          </a:p>
        </p:txBody>
      </p:sp>
      <p:sp>
        <p:nvSpPr>
          <p:cNvPr id="11" name="Text 8"/>
          <p:cNvSpPr/>
          <p:nvPr/>
        </p:nvSpPr>
        <p:spPr>
          <a:xfrm>
            <a:off x="8595360" y="3703320"/>
            <a:ext cx="2468880" cy="320040"/>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98 records</a:t>
            </a:r>
            <a:endParaRPr lang="en-US" sz="1400" b="1" dirty="0"/>
          </a:p>
        </p:txBody>
      </p:sp>
      <p:sp>
        <p:nvSpPr>
          <p:cNvPr id="12" name="Text 9"/>
          <p:cNvSpPr/>
          <p:nvPr/>
        </p:nvSpPr>
        <p:spPr>
          <a:xfrm>
            <a:off x="6126480" y="4069080"/>
            <a:ext cx="2377440" cy="320040"/>
          </a:xfrm>
          <a:prstGeom prst="rect">
            <a:avLst/>
          </a:prstGeom>
          <a:noFill/>
          <a:ln/>
        </p:spPr>
        <p:txBody>
          <a:bodyPr wrap="square" rtlCol="0" anchor="ctr"/>
          <a:lstStyle/>
          <a:p>
            <a:pPr marL="0" indent="0">
              <a:buNone/>
            </a:pPr>
            <a:r>
              <a:rPr lang="en-US" sz="1400" b="1" dirty="0">
                <a:solidFill>
                  <a:srgbClr val="D7E6F0"/>
                </a:solidFill>
                <a:latin typeface="Calibri" pitchFamily="34" charset="0"/>
                <a:ea typeface="Calibri" pitchFamily="34" charset="-122"/>
                <a:cs typeface="Calibri" pitchFamily="34" charset="-120"/>
              </a:rPr>
              <a:t>Groundwater</a:t>
            </a:r>
            <a:endParaRPr lang="en-US" sz="1400" b="1" dirty="0"/>
          </a:p>
        </p:txBody>
      </p:sp>
      <p:sp>
        <p:nvSpPr>
          <p:cNvPr id="13" name="Text 10"/>
          <p:cNvSpPr/>
          <p:nvPr/>
        </p:nvSpPr>
        <p:spPr>
          <a:xfrm>
            <a:off x="8595360" y="4069080"/>
            <a:ext cx="2468880" cy="320040"/>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97 records</a:t>
            </a:r>
            <a:endParaRPr lang="en-US" sz="1400" b="1" dirty="0"/>
          </a:p>
        </p:txBody>
      </p:sp>
      <p:sp>
        <p:nvSpPr>
          <p:cNvPr id="14" name="Text 11"/>
          <p:cNvSpPr/>
          <p:nvPr/>
        </p:nvSpPr>
        <p:spPr>
          <a:xfrm>
            <a:off x="6126480" y="4434840"/>
            <a:ext cx="2377440" cy="320040"/>
          </a:xfrm>
          <a:prstGeom prst="rect">
            <a:avLst/>
          </a:prstGeom>
          <a:noFill/>
          <a:ln/>
        </p:spPr>
        <p:txBody>
          <a:bodyPr wrap="square" rtlCol="0" anchor="ctr"/>
          <a:lstStyle/>
          <a:p>
            <a:pPr marL="0" indent="0">
              <a:buNone/>
            </a:pPr>
            <a:r>
              <a:rPr lang="en-US" sz="1400" b="1" dirty="0">
                <a:solidFill>
                  <a:srgbClr val="D7E6F0"/>
                </a:solidFill>
                <a:latin typeface="Calibri" pitchFamily="34" charset="0"/>
                <a:ea typeface="Calibri" pitchFamily="34" charset="-122"/>
                <a:cs typeface="Calibri" pitchFamily="34" charset="-120"/>
              </a:rPr>
              <a:t>Total</a:t>
            </a:r>
            <a:endParaRPr lang="en-US" sz="1400" b="1" dirty="0"/>
          </a:p>
        </p:txBody>
      </p:sp>
      <p:sp>
        <p:nvSpPr>
          <p:cNvPr id="15" name="Text 12"/>
          <p:cNvSpPr/>
          <p:nvPr/>
        </p:nvSpPr>
        <p:spPr>
          <a:xfrm>
            <a:off x="8595360" y="4434840"/>
            <a:ext cx="2468880" cy="320040"/>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195 records</a:t>
            </a:r>
            <a:endParaRPr lang="en-US" sz="1400" b="1" dirty="0"/>
          </a:p>
        </p:txBody>
      </p:sp>
      <p:sp>
        <p:nvSpPr>
          <p:cNvPr id="16" name="Shape 13"/>
          <p:cNvSpPr/>
          <p:nvPr/>
        </p:nvSpPr>
        <p:spPr>
          <a:xfrm>
            <a:off x="698112" y="5036218"/>
            <a:ext cx="10908792" cy="1481328"/>
          </a:xfrm>
          <a:prstGeom prst="roundRect">
            <a:avLst>
              <a:gd name="adj" fmla="val 4938"/>
            </a:avLst>
          </a:prstGeom>
          <a:solidFill>
            <a:srgbClr val="FFFFFF"/>
          </a:solidFill>
          <a:ln w="12700">
            <a:solidFill>
              <a:srgbClr val="D9E3EC"/>
            </a:solidFill>
            <a:prstDash val="solid"/>
          </a:ln>
          <a:effectLst>
            <a:outerShdw blurRad="76200" dist="25400" dir="5400000" algn="bl" rotWithShape="0">
              <a:srgbClr val="1B2A4A">
                <a:alpha val="8000"/>
              </a:srgbClr>
            </a:outerShdw>
          </a:effectLst>
        </p:spPr>
      </p:sp>
      <p:sp>
        <p:nvSpPr>
          <p:cNvPr id="17" name="Text 14"/>
          <p:cNvSpPr/>
          <p:nvPr/>
        </p:nvSpPr>
        <p:spPr>
          <a:xfrm>
            <a:off x="822960" y="5202936"/>
            <a:ext cx="336194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KEY FINDING</a:t>
            </a:r>
            <a:endParaRPr lang="en-US" sz="1200" dirty="0"/>
          </a:p>
        </p:txBody>
      </p:sp>
      <p:sp>
        <p:nvSpPr>
          <p:cNvPr id="18" name="Text 15"/>
          <p:cNvSpPr/>
          <p:nvPr/>
        </p:nvSpPr>
        <p:spPr>
          <a:xfrm>
            <a:off x="822960" y="5440680"/>
            <a:ext cx="3361944" cy="1005840"/>
          </a:xfrm>
          <a:prstGeom prst="rect">
            <a:avLst/>
          </a:prstGeom>
          <a:noFill/>
          <a:ln/>
        </p:spPr>
        <p:txBody>
          <a:bodyPr wrap="square" rtlCol="0" anchor="ctr"/>
          <a:lstStyle/>
          <a:p>
            <a:pPr marL="0" indent="0">
              <a:lnSpc>
                <a:spcPct val="110000"/>
              </a:lnSpc>
              <a:buNone/>
            </a:pPr>
            <a:r>
              <a:rPr lang="en-US" sz="2000" b="1" dirty="0">
                <a:solidFill>
                  <a:srgbClr val="0B5E8C"/>
                </a:solidFill>
                <a:latin typeface="Cambria" pitchFamily="34" charset="0"/>
                <a:ea typeface="Cambria" pitchFamily="34" charset="-122"/>
                <a:cs typeface="Cambria" pitchFamily="34" charset="-120"/>
              </a:rPr>
              <a:t>50.3% Surface vs 49.7% Groundwater</a:t>
            </a:r>
            <a:endParaRPr lang="en-US" sz="2000" dirty="0"/>
          </a:p>
        </p:txBody>
      </p:sp>
      <p:sp>
        <p:nvSpPr>
          <p:cNvPr id="19" name="Shape 16"/>
          <p:cNvSpPr/>
          <p:nvPr/>
        </p:nvSpPr>
        <p:spPr>
          <a:xfrm>
            <a:off x="4459224" y="5221224"/>
            <a:ext cx="0" cy="1188720"/>
          </a:xfrm>
          <a:prstGeom prst="line">
            <a:avLst/>
          </a:prstGeom>
          <a:noFill/>
          <a:ln w="12700">
            <a:solidFill>
              <a:srgbClr val="D9E3EC"/>
            </a:solidFill>
            <a:prstDash val="solid"/>
          </a:ln>
        </p:spPr>
      </p:sp>
      <p:sp>
        <p:nvSpPr>
          <p:cNvPr id="20" name="Text 17"/>
          <p:cNvSpPr/>
          <p:nvPr/>
        </p:nvSpPr>
        <p:spPr>
          <a:xfrm>
            <a:off x="4687824" y="5202936"/>
            <a:ext cx="317906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INSIGHT</a:t>
            </a:r>
            <a:endParaRPr lang="en-US" sz="1200" dirty="0"/>
          </a:p>
        </p:txBody>
      </p:sp>
      <p:sp>
        <p:nvSpPr>
          <p:cNvPr id="21" name="Text 18"/>
          <p:cNvSpPr/>
          <p:nvPr/>
        </p:nvSpPr>
        <p:spPr>
          <a:xfrm>
            <a:off x="4687824" y="5440680"/>
            <a:ext cx="3179064" cy="1005840"/>
          </a:xfrm>
          <a:prstGeom prst="rect">
            <a:avLst/>
          </a:prstGeom>
          <a:noFill/>
          <a:ln/>
        </p:spPr>
        <p:txBody>
          <a:bodyPr wrap="square" rtlCol="0" anchor="ctr"/>
          <a:lstStyle/>
          <a:p>
            <a:pPr marL="0" indent="0">
              <a:lnSpc>
                <a:spcPct val="120000"/>
              </a:lnSpc>
              <a:buNone/>
            </a:pPr>
            <a:r>
              <a:rPr lang="en-US" sz="1200" b="1" dirty="0">
                <a:solidFill>
                  <a:srgbClr val="1B2A4A"/>
                </a:solidFill>
                <a:latin typeface="Calibri" pitchFamily="34" charset="0"/>
                <a:ea typeface="Calibri" pitchFamily="34" charset="-122"/>
                <a:cs typeface="Calibri" pitchFamily="34" charset="-120"/>
              </a:rPr>
              <a:t>The source distribution is almost evenly split, with 98 Surface Water records and 97 Groundwater records.</a:t>
            </a:r>
            <a:endParaRPr lang="en-US" sz="1200" b="1" dirty="0"/>
          </a:p>
        </p:txBody>
      </p:sp>
      <p:sp>
        <p:nvSpPr>
          <p:cNvPr id="22" name="Shape 19"/>
          <p:cNvSpPr/>
          <p:nvPr/>
        </p:nvSpPr>
        <p:spPr>
          <a:xfrm>
            <a:off x="8095488" y="5221224"/>
            <a:ext cx="0" cy="1188720"/>
          </a:xfrm>
          <a:prstGeom prst="line">
            <a:avLst/>
          </a:prstGeom>
          <a:noFill/>
          <a:ln w="12700">
            <a:solidFill>
              <a:srgbClr val="D9E3EC"/>
            </a:solidFill>
            <a:prstDash val="solid"/>
          </a:ln>
        </p:spPr>
      </p:sp>
      <p:sp>
        <p:nvSpPr>
          <p:cNvPr id="23" name="Text 20"/>
          <p:cNvSpPr/>
          <p:nvPr/>
        </p:nvSpPr>
        <p:spPr>
          <a:xfrm>
            <a:off x="8324088" y="5202936"/>
            <a:ext cx="322478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BUSINESS IMPLICATION</a:t>
            </a:r>
            <a:endParaRPr lang="en-US" sz="1200" dirty="0"/>
          </a:p>
        </p:txBody>
      </p:sp>
      <p:sp>
        <p:nvSpPr>
          <p:cNvPr id="24" name="Text 21"/>
          <p:cNvSpPr/>
          <p:nvPr/>
        </p:nvSpPr>
        <p:spPr>
          <a:xfrm>
            <a:off x="8324088" y="5440680"/>
            <a:ext cx="3224784" cy="1005840"/>
          </a:xfrm>
          <a:prstGeom prst="rect">
            <a:avLst/>
          </a:prstGeom>
          <a:noFill/>
          <a:ln/>
        </p:spPr>
        <p:txBody>
          <a:bodyPr wrap="square" rtlCol="0" anchor="ctr"/>
          <a:lstStyle/>
          <a:p>
            <a:pPr marL="0" indent="0">
              <a:lnSpc>
                <a:spcPct val="120000"/>
              </a:lnSpc>
              <a:buNone/>
            </a:pPr>
            <a:r>
              <a:rPr lang="en-US" sz="1200" b="1" dirty="0">
                <a:solidFill>
                  <a:srgbClr val="1B2A4A"/>
                </a:solidFill>
                <a:latin typeface="Calibri" pitchFamily="34" charset="0"/>
                <a:ea typeface="Calibri" pitchFamily="34" charset="-122"/>
                <a:cs typeface="Calibri" pitchFamily="34" charset="-120"/>
              </a:rPr>
              <a:t>The near-balanced source mix indicates that implementation is utilizing both groundwater and surface-water sources rather than relying predominantly on one source category.</a:t>
            </a:r>
            <a:endParaRPr lang="en-US" sz="1200" b="1" dirty="0"/>
          </a:p>
        </p:txBody>
      </p:sp>
      <p:sp>
        <p:nvSpPr>
          <p:cNvPr id="25" name="Text 2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10</a:t>
            </a:r>
            <a:endParaRPr lang="en-US" sz="1000" dirty="0"/>
          </a:p>
        </p:txBody>
      </p:sp>
      <p:sp>
        <p:nvSpPr>
          <p:cNvPr id="26" name="Text 23"/>
          <p:cNvSpPr/>
          <p:nvPr/>
        </p:nvSpPr>
        <p:spPr>
          <a:xfrm>
            <a:off x="9622656" y="6472889"/>
            <a:ext cx="2560320" cy="274320"/>
          </a:xfrm>
          <a:prstGeom prst="rect">
            <a:avLst/>
          </a:prstGeom>
          <a:noFill/>
          <a:ln/>
        </p:spPr>
        <p:txBody>
          <a:bodyPr wrap="square" rtlCol="0" anchor="ctr"/>
          <a:lstStyle/>
          <a:p>
            <a:pPr marL="0" indent="0" algn="r">
              <a:buNone/>
            </a:pPr>
            <a:r>
              <a:rPr lang="en-US" sz="900" b="1" kern="0" spc="150" dirty="0">
                <a:solidFill>
                  <a:schemeClr val="bg1"/>
                </a:solidFill>
                <a:latin typeface="Calibri" pitchFamily="34" charset="0"/>
                <a:ea typeface="Calibri" pitchFamily="34" charset="-122"/>
                <a:cs typeface="Calibri" pitchFamily="34" charset="-120"/>
              </a:rPr>
              <a:t>BQ 2</a:t>
            </a:r>
            <a:endParaRPr lang="en-US" sz="90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1B2A4A"/>
          </a:solidFill>
          <a:ln/>
        </p:spPr>
      </p:sp>
      <p:sp>
        <p:nvSpPr>
          <p:cNvPr id="3" name="Text 1"/>
          <p:cNvSpPr/>
          <p:nvPr/>
        </p:nvSpPr>
        <p:spPr>
          <a:xfrm>
            <a:off x="640080" y="292608"/>
            <a:ext cx="8229600" cy="320040"/>
          </a:xfrm>
          <a:prstGeom prst="rect">
            <a:avLst/>
          </a:prstGeom>
          <a:noFill/>
          <a:ln/>
        </p:spPr>
        <p:txBody>
          <a:bodyPr wrap="square" rtlCol="0" anchor="ctr"/>
          <a:lstStyle/>
          <a:p>
            <a:pPr marL="0" indent="0">
              <a:buNone/>
            </a:pPr>
            <a:r>
              <a:rPr lang="en-US" sz="2000" b="1" kern="0" spc="200" dirty="0">
                <a:solidFill>
                  <a:srgbClr val="E8763C"/>
                </a:solidFill>
                <a:latin typeface="Calibri" pitchFamily="34" charset="0"/>
                <a:ea typeface="Calibri" pitchFamily="34" charset="-122"/>
                <a:cs typeface="Calibri" pitchFamily="34" charset="-120"/>
              </a:rPr>
              <a:t>BUSINESS QUESTION 3</a:t>
            </a:r>
            <a:endParaRPr lang="en-US" sz="2000" dirty="0"/>
          </a:p>
        </p:txBody>
      </p:sp>
      <p:sp>
        <p:nvSpPr>
          <p:cNvPr id="4" name="Text 2"/>
          <p:cNvSpPr/>
          <p:nvPr/>
        </p:nvSpPr>
        <p:spPr>
          <a:xfrm>
            <a:off x="640080" y="621792"/>
            <a:ext cx="10881360" cy="731520"/>
          </a:xfrm>
          <a:prstGeom prst="rect">
            <a:avLst/>
          </a:prstGeom>
          <a:noFill/>
          <a:ln/>
        </p:spPr>
        <p:txBody>
          <a:bodyPr wrap="square" rtlCol="0" anchor="t"/>
          <a:lstStyle/>
          <a:p>
            <a:pPr marL="0" indent="0">
              <a:buNone/>
            </a:pPr>
            <a:r>
              <a:rPr lang="en-US" sz="2000" b="1" i="1" dirty="0">
                <a:solidFill>
                  <a:srgbClr val="FFFFFF"/>
                </a:solidFill>
                <a:latin typeface="Cambria" pitchFamily="34" charset="0"/>
                <a:ea typeface="Cambria" pitchFamily="34" charset="-122"/>
                <a:cs typeface="Cambria" pitchFamily="34" charset="-120"/>
              </a:rPr>
              <a:t>"Which districts have the highest FHTC provision, and how significant is the variation across districts?"</a:t>
            </a:r>
            <a:endParaRPr lang="en-US" sz="2000" dirty="0"/>
          </a:p>
        </p:txBody>
      </p:sp>
      <p:graphicFrame>
        <p:nvGraphicFramePr>
          <p:cNvPr id="5" name="Chart 0"/>
          <p:cNvGraphicFramePr/>
          <p:nvPr>
            <p:extLst>
              <p:ext uri="{D42A27DB-BD31-4B8C-83A1-F6EECF244321}">
                <p14:modId xmlns:p14="http://schemas.microsoft.com/office/powerpoint/2010/main" val="46554084"/>
              </p:ext>
            </p:extLst>
          </p:nvPr>
        </p:nvGraphicFramePr>
        <p:xfrm>
          <a:off x="189260" y="1513755"/>
          <a:ext cx="7385374" cy="3515445"/>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72400" y="1673351"/>
            <a:ext cx="3749040" cy="3310129"/>
          </a:xfrm>
          <a:prstGeom prst="roundRect">
            <a:avLst>
              <a:gd name="adj" fmla="val 2857"/>
            </a:avLst>
          </a:prstGeom>
          <a:solidFill>
            <a:srgbClr val="1B2A4A"/>
          </a:solidFill>
          <a:ln/>
          <a:effectLst>
            <a:outerShdw blurRad="127000" dist="50800" dir="5400000" algn="bl" rotWithShape="0">
              <a:srgbClr val="000000">
                <a:alpha val="20000"/>
              </a:srgbClr>
            </a:outerShdw>
          </a:effectLst>
        </p:spPr>
      </p:sp>
      <p:sp>
        <p:nvSpPr>
          <p:cNvPr id="7" name="Shape 4"/>
          <p:cNvSpPr/>
          <p:nvPr/>
        </p:nvSpPr>
        <p:spPr>
          <a:xfrm>
            <a:off x="9326880" y="2057400"/>
            <a:ext cx="837846" cy="804672"/>
          </a:xfrm>
          <a:prstGeom prst="ellipse">
            <a:avLst/>
          </a:prstGeom>
          <a:solidFill>
            <a:srgbClr val="24365C"/>
          </a:solidFill>
          <a:ln/>
        </p:spPr>
      </p:sp>
      <p:pic>
        <p:nvPicPr>
          <p:cNvPr id="8" name="Image 0" descr="icons/award_E8763C.png"/>
          <p:cNvPicPr>
            <a:picLocks noChangeAspect="1"/>
          </p:cNvPicPr>
          <p:nvPr/>
        </p:nvPicPr>
        <p:blipFill>
          <a:blip r:embed="rId4"/>
          <a:stretch>
            <a:fillRect/>
          </a:stretch>
        </p:blipFill>
        <p:spPr>
          <a:xfrm>
            <a:off x="9482328" y="2212848"/>
            <a:ext cx="484632" cy="484632"/>
          </a:xfrm>
          <a:prstGeom prst="rect">
            <a:avLst/>
          </a:prstGeom>
        </p:spPr>
      </p:pic>
      <p:sp>
        <p:nvSpPr>
          <p:cNvPr id="9" name="Text 5"/>
          <p:cNvSpPr/>
          <p:nvPr/>
        </p:nvSpPr>
        <p:spPr>
          <a:xfrm>
            <a:off x="7772400" y="2880360"/>
            <a:ext cx="3749040" cy="45720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Jabalpur</a:t>
            </a:r>
            <a:endParaRPr lang="en-US" sz="2800" dirty="0"/>
          </a:p>
        </p:txBody>
      </p:sp>
      <p:sp>
        <p:nvSpPr>
          <p:cNvPr id="10" name="Text 6"/>
          <p:cNvSpPr/>
          <p:nvPr/>
        </p:nvSpPr>
        <p:spPr>
          <a:xfrm>
            <a:off x="7772400" y="3355848"/>
            <a:ext cx="3749040" cy="365760"/>
          </a:xfrm>
          <a:prstGeom prst="rect">
            <a:avLst/>
          </a:prstGeom>
          <a:noFill/>
          <a:ln/>
        </p:spPr>
        <p:txBody>
          <a:bodyPr wrap="square" rtlCol="0" anchor="ctr"/>
          <a:lstStyle/>
          <a:p>
            <a:pPr marL="0" indent="0" algn="ctr">
              <a:buNone/>
            </a:pPr>
            <a:r>
              <a:rPr lang="en-US" sz="1600" b="1" dirty="0">
                <a:solidFill>
                  <a:srgbClr val="E8763C"/>
                </a:solidFill>
                <a:latin typeface="Calibri" pitchFamily="34" charset="0"/>
                <a:ea typeface="Calibri" pitchFamily="34" charset="-122"/>
                <a:cs typeface="Calibri" pitchFamily="34" charset="-120"/>
              </a:rPr>
              <a:t>908K FHTCs Provided</a:t>
            </a:r>
            <a:endParaRPr lang="en-US" sz="1600" dirty="0"/>
          </a:p>
        </p:txBody>
      </p:sp>
      <p:sp>
        <p:nvSpPr>
          <p:cNvPr id="11" name="Shape 7"/>
          <p:cNvSpPr/>
          <p:nvPr/>
        </p:nvSpPr>
        <p:spPr>
          <a:xfrm>
            <a:off x="8321040" y="3840480"/>
            <a:ext cx="2651760" cy="0"/>
          </a:xfrm>
          <a:prstGeom prst="line">
            <a:avLst/>
          </a:prstGeom>
          <a:noFill/>
          <a:ln w="12700">
            <a:solidFill>
              <a:srgbClr val="33507F"/>
            </a:solidFill>
            <a:prstDash val="solid"/>
          </a:ln>
        </p:spPr>
      </p:sp>
      <p:sp>
        <p:nvSpPr>
          <p:cNvPr id="12" name="Text 8"/>
          <p:cNvSpPr/>
          <p:nvPr/>
        </p:nvSpPr>
        <p:spPr>
          <a:xfrm>
            <a:off x="8046720" y="3977640"/>
            <a:ext cx="3200400" cy="822960"/>
          </a:xfrm>
          <a:prstGeom prst="rect">
            <a:avLst/>
          </a:prstGeom>
          <a:noFill/>
          <a:ln/>
        </p:spPr>
        <p:txBody>
          <a:bodyPr wrap="square" rtlCol="0" anchor="ctr"/>
          <a:lstStyle/>
          <a:p>
            <a:pPr marL="0" indent="0" algn="ctr">
              <a:buNone/>
            </a:pPr>
            <a:r>
              <a:rPr lang="en-US" sz="1400" b="1" i="1" dirty="0">
                <a:solidFill>
                  <a:srgbClr val="D7E6F0"/>
                </a:solidFill>
                <a:latin typeface="Calibri" pitchFamily="34" charset="0"/>
                <a:ea typeface="Calibri" pitchFamily="34" charset="-122"/>
                <a:cs typeface="Calibri" pitchFamily="34" charset="-120"/>
              </a:rPr>
              <a:t>Highest FHTC provision across all districts</a:t>
            </a:r>
            <a:endParaRPr lang="en-US" sz="1400" b="1" dirty="0"/>
          </a:p>
        </p:txBody>
      </p:sp>
      <p:sp>
        <p:nvSpPr>
          <p:cNvPr id="13" name="Shape 9"/>
          <p:cNvSpPr/>
          <p:nvPr/>
        </p:nvSpPr>
        <p:spPr>
          <a:xfrm>
            <a:off x="552893" y="5120639"/>
            <a:ext cx="10908792" cy="1481328"/>
          </a:xfrm>
          <a:prstGeom prst="roundRect">
            <a:avLst>
              <a:gd name="adj" fmla="val 4938"/>
            </a:avLst>
          </a:prstGeom>
          <a:solidFill>
            <a:srgbClr val="FFFFFF"/>
          </a:solidFill>
          <a:ln w="12700">
            <a:solidFill>
              <a:srgbClr val="D9E3EC"/>
            </a:solidFill>
            <a:prstDash val="solid"/>
          </a:ln>
          <a:effectLst>
            <a:outerShdw blurRad="76200" dist="25400" dir="5400000" algn="bl" rotWithShape="0">
              <a:srgbClr val="1B2A4A">
                <a:alpha val="8000"/>
              </a:srgbClr>
            </a:outerShdw>
          </a:effectLst>
        </p:spPr>
      </p:sp>
      <p:sp>
        <p:nvSpPr>
          <p:cNvPr id="14" name="Text 10"/>
          <p:cNvSpPr/>
          <p:nvPr/>
        </p:nvSpPr>
        <p:spPr>
          <a:xfrm>
            <a:off x="822960" y="5202936"/>
            <a:ext cx="336194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KEY FINDING</a:t>
            </a:r>
            <a:endParaRPr lang="en-US" sz="1200" dirty="0"/>
          </a:p>
        </p:txBody>
      </p:sp>
      <p:sp>
        <p:nvSpPr>
          <p:cNvPr id="15" name="Text 11"/>
          <p:cNvSpPr/>
          <p:nvPr/>
        </p:nvSpPr>
        <p:spPr>
          <a:xfrm>
            <a:off x="822960" y="5440680"/>
            <a:ext cx="3361944" cy="1005840"/>
          </a:xfrm>
          <a:prstGeom prst="rect">
            <a:avLst/>
          </a:prstGeom>
          <a:noFill/>
          <a:ln/>
        </p:spPr>
        <p:txBody>
          <a:bodyPr wrap="square" rtlCol="0" anchor="ctr"/>
          <a:lstStyle/>
          <a:p>
            <a:pPr marL="0" indent="0">
              <a:lnSpc>
                <a:spcPct val="110000"/>
              </a:lnSpc>
              <a:buNone/>
            </a:pPr>
            <a:r>
              <a:rPr lang="en-US" sz="2000" b="1" dirty="0">
                <a:solidFill>
                  <a:srgbClr val="0B5E8C"/>
                </a:solidFill>
                <a:latin typeface="Cambria" pitchFamily="34" charset="0"/>
                <a:ea typeface="Cambria" pitchFamily="34" charset="-122"/>
                <a:cs typeface="Cambria" pitchFamily="34" charset="-120"/>
              </a:rPr>
              <a:t>Jabalpur — 908K FHTCs Provided</a:t>
            </a:r>
            <a:endParaRPr lang="en-US" sz="2000" dirty="0"/>
          </a:p>
        </p:txBody>
      </p:sp>
      <p:sp>
        <p:nvSpPr>
          <p:cNvPr id="16" name="Shape 12"/>
          <p:cNvSpPr/>
          <p:nvPr/>
        </p:nvSpPr>
        <p:spPr>
          <a:xfrm>
            <a:off x="4459224" y="5221224"/>
            <a:ext cx="0" cy="1188720"/>
          </a:xfrm>
          <a:prstGeom prst="line">
            <a:avLst/>
          </a:prstGeom>
          <a:noFill/>
          <a:ln w="12700">
            <a:solidFill>
              <a:srgbClr val="D9E3EC"/>
            </a:solidFill>
            <a:prstDash val="solid"/>
          </a:ln>
        </p:spPr>
      </p:sp>
      <p:sp>
        <p:nvSpPr>
          <p:cNvPr id="17" name="Text 13"/>
          <p:cNvSpPr/>
          <p:nvPr/>
        </p:nvSpPr>
        <p:spPr>
          <a:xfrm>
            <a:off x="4687824" y="5202936"/>
            <a:ext cx="317906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INSIGHT</a:t>
            </a:r>
            <a:endParaRPr lang="en-US" sz="1200" dirty="0"/>
          </a:p>
        </p:txBody>
      </p:sp>
      <p:sp>
        <p:nvSpPr>
          <p:cNvPr id="18" name="Text 14"/>
          <p:cNvSpPr/>
          <p:nvPr/>
        </p:nvSpPr>
        <p:spPr>
          <a:xfrm>
            <a:off x="4687824" y="5440680"/>
            <a:ext cx="3179064" cy="1005840"/>
          </a:xfrm>
          <a:prstGeom prst="rect">
            <a:avLst/>
          </a:prstGeom>
          <a:noFill/>
          <a:ln/>
        </p:spPr>
        <p:txBody>
          <a:bodyPr wrap="square" rtlCol="0" anchor="ctr"/>
          <a:lstStyle/>
          <a:p>
            <a:pPr marL="0" indent="0">
              <a:lnSpc>
                <a:spcPct val="120000"/>
              </a:lnSpc>
              <a:buNone/>
            </a:pPr>
            <a:r>
              <a:rPr lang="en-US" sz="1200" b="1" dirty="0">
                <a:solidFill>
                  <a:srgbClr val="1B2A4A"/>
                </a:solidFill>
                <a:latin typeface="Calibri" pitchFamily="34" charset="0"/>
                <a:ea typeface="Calibri" pitchFamily="34" charset="-122"/>
                <a:cs typeface="Calibri" pitchFamily="34" charset="-120"/>
              </a:rPr>
              <a:t>Jabalpur has the highest FHTC provision at 908,000, followed by Indore at 750,000 and Gwalior at 748,500</a:t>
            </a:r>
            <a:r>
              <a:rPr lang="en-US" sz="1030" dirty="0">
                <a:solidFill>
                  <a:srgbClr val="1B2A4A"/>
                </a:solidFill>
                <a:latin typeface="Calibri" pitchFamily="34" charset="0"/>
                <a:ea typeface="Calibri" pitchFamily="34" charset="-122"/>
                <a:cs typeface="Calibri" pitchFamily="34" charset="-120"/>
              </a:rPr>
              <a:t>.</a:t>
            </a:r>
            <a:endParaRPr lang="en-US" sz="1030" dirty="0"/>
          </a:p>
        </p:txBody>
      </p:sp>
      <p:sp>
        <p:nvSpPr>
          <p:cNvPr id="19" name="Shape 15"/>
          <p:cNvSpPr/>
          <p:nvPr/>
        </p:nvSpPr>
        <p:spPr>
          <a:xfrm>
            <a:off x="8095488" y="5221224"/>
            <a:ext cx="0" cy="1188720"/>
          </a:xfrm>
          <a:prstGeom prst="line">
            <a:avLst/>
          </a:prstGeom>
          <a:noFill/>
          <a:ln w="12700">
            <a:solidFill>
              <a:srgbClr val="D9E3EC"/>
            </a:solidFill>
            <a:prstDash val="solid"/>
          </a:ln>
        </p:spPr>
      </p:sp>
      <p:sp>
        <p:nvSpPr>
          <p:cNvPr id="20" name="Text 16"/>
          <p:cNvSpPr/>
          <p:nvPr/>
        </p:nvSpPr>
        <p:spPr>
          <a:xfrm>
            <a:off x="8324088" y="5202936"/>
            <a:ext cx="322478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BUSINESS IMPLICATION</a:t>
            </a:r>
            <a:endParaRPr lang="en-US" sz="1200" dirty="0"/>
          </a:p>
        </p:txBody>
      </p:sp>
      <p:sp>
        <p:nvSpPr>
          <p:cNvPr id="21" name="Text 17"/>
          <p:cNvSpPr/>
          <p:nvPr/>
        </p:nvSpPr>
        <p:spPr>
          <a:xfrm>
            <a:off x="8324088" y="5440680"/>
            <a:ext cx="3224784" cy="1005840"/>
          </a:xfrm>
          <a:prstGeom prst="rect">
            <a:avLst/>
          </a:prstGeom>
          <a:noFill/>
          <a:ln/>
        </p:spPr>
        <p:txBody>
          <a:bodyPr wrap="square" rtlCol="0" anchor="ctr"/>
          <a:lstStyle/>
          <a:p>
            <a:pPr marL="0" indent="0">
              <a:lnSpc>
                <a:spcPct val="120000"/>
              </a:lnSpc>
              <a:buNone/>
            </a:pPr>
            <a:r>
              <a:rPr lang="en-US" sz="1200" b="1" dirty="0">
                <a:solidFill>
                  <a:srgbClr val="1B2A4A"/>
                </a:solidFill>
                <a:latin typeface="Calibri" pitchFamily="34" charset="0"/>
                <a:ea typeface="Calibri" pitchFamily="34" charset="-122"/>
                <a:cs typeface="Calibri" pitchFamily="34" charset="-120"/>
              </a:rPr>
              <a:t>District-level variation highlights the need for differentiated monitoring and resource planning rather than applying a uniform implementation strategy across all districts.</a:t>
            </a:r>
            <a:endParaRPr lang="en-US" sz="1200" b="1" dirty="0"/>
          </a:p>
        </p:txBody>
      </p:sp>
      <p:sp>
        <p:nvSpPr>
          <p:cNvPr id="22" name="Text 18"/>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11</a:t>
            </a:r>
            <a:endParaRPr lang="en-US" sz="1000" dirty="0"/>
          </a:p>
        </p:txBody>
      </p:sp>
      <p:sp>
        <p:nvSpPr>
          <p:cNvPr id="23" name="Text 19"/>
          <p:cNvSpPr/>
          <p:nvPr/>
        </p:nvSpPr>
        <p:spPr>
          <a:xfrm>
            <a:off x="9452961" y="6497131"/>
            <a:ext cx="2560320" cy="274320"/>
          </a:xfrm>
          <a:prstGeom prst="rect">
            <a:avLst/>
          </a:prstGeom>
          <a:noFill/>
          <a:ln/>
        </p:spPr>
        <p:txBody>
          <a:bodyPr wrap="square" rtlCol="0" anchor="ctr"/>
          <a:lstStyle/>
          <a:p>
            <a:pPr marL="0" indent="0" algn="r">
              <a:buNone/>
            </a:pPr>
            <a:r>
              <a:rPr lang="en-US" sz="900" b="1" kern="0" spc="150" dirty="0">
                <a:solidFill>
                  <a:schemeClr val="bg1"/>
                </a:solidFill>
                <a:latin typeface="Calibri" pitchFamily="34" charset="0"/>
                <a:ea typeface="Calibri" pitchFamily="34" charset="-122"/>
                <a:cs typeface="Calibri" pitchFamily="34" charset="-120"/>
              </a:rPr>
              <a:t>BQ 3</a:t>
            </a:r>
            <a:endParaRPr lang="en-US" sz="90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1B2A4A"/>
          </a:solidFill>
          <a:ln/>
        </p:spPr>
      </p:sp>
      <p:sp>
        <p:nvSpPr>
          <p:cNvPr id="3" name="Text 1"/>
          <p:cNvSpPr/>
          <p:nvPr/>
        </p:nvSpPr>
        <p:spPr>
          <a:xfrm>
            <a:off x="640080" y="292608"/>
            <a:ext cx="8229600" cy="320040"/>
          </a:xfrm>
          <a:prstGeom prst="rect">
            <a:avLst/>
          </a:prstGeom>
          <a:noFill/>
          <a:ln/>
        </p:spPr>
        <p:txBody>
          <a:bodyPr wrap="square" rtlCol="0" anchor="ctr"/>
          <a:lstStyle/>
          <a:p>
            <a:pPr marL="0" indent="0">
              <a:buNone/>
            </a:pPr>
            <a:r>
              <a:rPr lang="en-US" sz="2000" b="1" kern="0" spc="200" dirty="0">
                <a:solidFill>
                  <a:srgbClr val="E8763C"/>
                </a:solidFill>
                <a:latin typeface="Calibri" pitchFamily="34" charset="0"/>
                <a:ea typeface="Calibri" pitchFamily="34" charset="-122"/>
                <a:cs typeface="Calibri" pitchFamily="34" charset="-120"/>
              </a:rPr>
              <a:t>BUSINESS QUESTION 4</a:t>
            </a:r>
            <a:endParaRPr lang="en-US" sz="2000" dirty="0"/>
          </a:p>
        </p:txBody>
      </p:sp>
      <p:sp>
        <p:nvSpPr>
          <p:cNvPr id="4" name="Text 2"/>
          <p:cNvSpPr/>
          <p:nvPr/>
        </p:nvSpPr>
        <p:spPr>
          <a:xfrm>
            <a:off x="640080" y="621792"/>
            <a:ext cx="10881360" cy="731520"/>
          </a:xfrm>
          <a:prstGeom prst="rect">
            <a:avLst/>
          </a:prstGeom>
          <a:noFill/>
          <a:ln/>
        </p:spPr>
        <p:txBody>
          <a:bodyPr wrap="square" rtlCol="0" anchor="t"/>
          <a:lstStyle/>
          <a:p>
            <a:pPr marL="0" indent="0">
              <a:buNone/>
            </a:pPr>
            <a:r>
              <a:rPr lang="en-US" sz="2000" b="1" i="1" dirty="0">
                <a:solidFill>
                  <a:srgbClr val="FFFFFF"/>
                </a:solidFill>
                <a:latin typeface="Cambria" pitchFamily="34" charset="0"/>
                <a:ea typeface="Cambria" pitchFamily="34" charset="-122"/>
                <a:cs typeface="Cambria" pitchFamily="34" charset="-120"/>
              </a:rPr>
              <a:t>"How has FHTC provision changed over the years?"</a:t>
            </a:r>
            <a:endParaRPr lang="en-US" sz="2000" dirty="0"/>
          </a:p>
        </p:txBody>
      </p:sp>
      <p:graphicFrame>
        <p:nvGraphicFramePr>
          <p:cNvPr id="5" name="Chart 0"/>
          <p:cNvGraphicFramePr/>
          <p:nvPr>
            <p:extLst>
              <p:ext uri="{D42A27DB-BD31-4B8C-83A1-F6EECF244321}">
                <p14:modId xmlns:p14="http://schemas.microsoft.com/office/powerpoint/2010/main" val="1794571634"/>
              </p:ext>
            </p:extLst>
          </p:nvPr>
        </p:nvGraphicFramePr>
        <p:xfrm>
          <a:off x="822960" y="1691640"/>
          <a:ext cx="68580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909560" y="1764792"/>
            <a:ext cx="3639312" cy="3200400"/>
          </a:xfrm>
          <a:prstGeom prst="roundRect">
            <a:avLst>
              <a:gd name="adj" fmla="val 2857"/>
            </a:avLst>
          </a:prstGeom>
          <a:solidFill>
            <a:srgbClr val="1B2A4A"/>
          </a:solidFill>
          <a:ln/>
          <a:effectLst>
            <a:outerShdw blurRad="127000" dist="50800" dir="5400000" algn="bl" rotWithShape="0">
              <a:srgbClr val="000000">
                <a:alpha val="20000"/>
              </a:srgbClr>
            </a:outerShdw>
          </a:effectLst>
        </p:spPr>
      </p:sp>
      <p:sp>
        <p:nvSpPr>
          <p:cNvPr id="7" name="Shape 4"/>
          <p:cNvSpPr/>
          <p:nvPr/>
        </p:nvSpPr>
        <p:spPr>
          <a:xfrm>
            <a:off x="9436608" y="1901952"/>
            <a:ext cx="813178" cy="740664"/>
          </a:xfrm>
          <a:prstGeom prst="ellipse">
            <a:avLst/>
          </a:prstGeom>
          <a:solidFill>
            <a:srgbClr val="24365C"/>
          </a:solidFill>
          <a:ln/>
        </p:spPr>
      </p:sp>
      <p:pic>
        <p:nvPicPr>
          <p:cNvPr id="8" name="Image 0" descr="icons/chartLine_E8763C.png"/>
          <p:cNvPicPr>
            <a:picLocks noChangeAspect="1"/>
          </p:cNvPicPr>
          <p:nvPr/>
        </p:nvPicPr>
        <p:blipFill>
          <a:blip r:embed="rId4"/>
          <a:stretch>
            <a:fillRect/>
          </a:stretch>
        </p:blipFill>
        <p:spPr>
          <a:xfrm>
            <a:off x="9658829" y="2039112"/>
            <a:ext cx="466344" cy="466344"/>
          </a:xfrm>
          <a:prstGeom prst="rect">
            <a:avLst/>
          </a:prstGeom>
        </p:spPr>
      </p:pic>
      <p:sp>
        <p:nvSpPr>
          <p:cNvPr id="9" name="Text 5"/>
          <p:cNvSpPr/>
          <p:nvPr/>
        </p:nvSpPr>
        <p:spPr>
          <a:xfrm>
            <a:off x="7909560" y="2834640"/>
            <a:ext cx="3639312" cy="59436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2.183M</a:t>
            </a:r>
            <a:endParaRPr lang="en-US" sz="3400" dirty="0"/>
          </a:p>
        </p:txBody>
      </p:sp>
      <p:sp>
        <p:nvSpPr>
          <p:cNvPr id="10" name="Text 6"/>
          <p:cNvSpPr/>
          <p:nvPr/>
        </p:nvSpPr>
        <p:spPr>
          <a:xfrm>
            <a:off x="7909560" y="3383280"/>
            <a:ext cx="3639312" cy="320040"/>
          </a:xfrm>
          <a:prstGeom prst="rect">
            <a:avLst/>
          </a:prstGeom>
          <a:noFill/>
          <a:ln/>
        </p:spPr>
        <p:txBody>
          <a:bodyPr wrap="square" rtlCol="0" anchor="ctr"/>
          <a:lstStyle/>
          <a:p>
            <a:pPr marL="0" indent="0" algn="ctr">
              <a:buNone/>
            </a:pPr>
            <a:r>
              <a:rPr lang="en-US" sz="1600" b="1" kern="0" spc="100" dirty="0">
                <a:solidFill>
                  <a:srgbClr val="E8763C"/>
                </a:solidFill>
                <a:latin typeface="Calibri" pitchFamily="34" charset="0"/>
                <a:ea typeface="Calibri" pitchFamily="34" charset="-122"/>
                <a:cs typeface="Calibri" pitchFamily="34" charset="-120"/>
              </a:rPr>
              <a:t>PEAK YEAR: 2025</a:t>
            </a:r>
            <a:endParaRPr lang="en-US" sz="1600" dirty="0"/>
          </a:p>
        </p:txBody>
      </p:sp>
      <p:sp>
        <p:nvSpPr>
          <p:cNvPr id="11" name="Shape 7"/>
          <p:cNvSpPr/>
          <p:nvPr/>
        </p:nvSpPr>
        <p:spPr>
          <a:xfrm>
            <a:off x="8366760" y="3840480"/>
            <a:ext cx="2724912" cy="0"/>
          </a:xfrm>
          <a:prstGeom prst="line">
            <a:avLst/>
          </a:prstGeom>
          <a:noFill/>
          <a:ln w="12700">
            <a:solidFill>
              <a:srgbClr val="33507F"/>
            </a:solidFill>
            <a:prstDash val="solid"/>
          </a:ln>
        </p:spPr>
      </p:sp>
      <p:sp>
        <p:nvSpPr>
          <p:cNvPr id="12" name="Text 8"/>
          <p:cNvSpPr/>
          <p:nvPr/>
        </p:nvSpPr>
        <p:spPr>
          <a:xfrm>
            <a:off x="8183880" y="3977640"/>
            <a:ext cx="3090672" cy="822960"/>
          </a:xfrm>
          <a:prstGeom prst="rect">
            <a:avLst/>
          </a:prstGeom>
          <a:noFill/>
          <a:ln/>
        </p:spPr>
        <p:txBody>
          <a:bodyPr wrap="square" rtlCol="0" anchor="ctr"/>
          <a:lstStyle/>
          <a:p>
            <a:pPr marL="0" indent="0" algn="ctr">
              <a:buNone/>
            </a:pPr>
            <a:r>
              <a:rPr lang="en-US" sz="1200" b="1" i="1" dirty="0">
                <a:solidFill>
                  <a:srgbClr val="D7E6F0"/>
                </a:solidFill>
                <a:latin typeface="Calibri" pitchFamily="34" charset="0"/>
                <a:ea typeface="Calibri" pitchFamily="34" charset="-122"/>
                <a:cs typeface="Calibri" pitchFamily="34" charset="-120"/>
              </a:rPr>
              <a:t>Highest displayed FHTC provision in a single year</a:t>
            </a:r>
            <a:endParaRPr lang="en-US" sz="1200" b="1" dirty="0"/>
          </a:p>
        </p:txBody>
      </p:sp>
      <p:sp>
        <p:nvSpPr>
          <p:cNvPr id="13" name="Shape 9"/>
          <p:cNvSpPr/>
          <p:nvPr/>
        </p:nvSpPr>
        <p:spPr>
          <a:xfrm>
            <a:off x="640080" y="5074920"/>
            <a:ext cx="10908792" cy="1481328"/>
          </a:xfrm>
          <a:prstGeom prst="roundRect">
            <a:avLst>
              <a:gd name="adj" fmla="val 4938"/>
            </a:avLst>
          </a:prstGeom>
          <a:solidFill>
            <a:srgbClr val="FFFFFF"/>
          </a:solidFill>
          <a:ln w="12700">
            <a:solidFill>
              <a:srgbClr val="D9E3EC"/>
            </a:solidFill>
            <a:prstDash val="solid"/>
          </a:ln>
          <a:effectLst>
            <a:outerShdw blurRad="76200" dist="25400" dir="5400000" algn="bl" rotWithShape="0">
              <a:srgbClr val="1B2A4A">
                <a:alpha val="8000"/>
              </a:srgbClr>
            </a:outerShdw>
          </a:effectLst>
        </p:spPr>
      </p:sp>
      <p:sp>
        <p:nvSpPr>
          <p:cNvPr id="14" name="Text 10"/>
          <p:cNvSpPr/>
          <p:nvPr/>
        </p:nvSpPr>
        <p:spPr>
          <a:xfrm>
            <a:off x="822960" y="5202936"/>
            <a:ext cx="336194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KEY FINDING</a:t>
            </a:r>
            <a:endParaRPr lang="en-US" sz="1200" dirty="0"/>
          </a:p>
        </p:txBody>
      </p:sp>
      <p:sp>
        <p:nvSpPr>
          <p:cNvPr id="15" name="Text 11"/>
          <p:cNvSpPr/>
          <p:nvPr/>
        </p:nvSpPr>
        <p:spPr>
          <a:xfrm>
            <a:off x="822960" y="5440680"/>
            <a:ext cx="3361944" cy="1005840"/>
          </a:xfrm>
          <a:prstGeom prst="rect">
            <a:avLst/>
          </a:prstGeom>
          <a:noFill/>
          <a:ln/>
        </p:spPr>
        <p:txBody>
          <a:bodyPr wrap="square" rtlCol="0" anchor="ctr"/>
          <a:lstStyle/>
          <a:p>
            <a:pPr marL="0" indent="0">
              <a:lnSpc>
                <a:spcPct val="110000"/>
              </a:lnSpc>
              <a:buNone/>
            </a:pPr>
            <a:r>
              <a:rPr lang="en-US" sz="2000" b="1" dirty="0">
                <a:solidFill>
                  <a:srgbClr val="0B5E8C"/>
                </a:solidFill>
                <a:latin typeface="Cambria" pitchFamily="34" charset="0"/>
                <a:ea typeface="Cambria" pitchFamily="34" charset="-122"/>
                <a:cs typeface="Cambria" pitchFamily="34" charset="-120"/>
              </a:rPr>
              <a:t>2025 — Peak at 2.183M</a:t>
            </a:r>
            <a:endParaRPr lang="en-US" sz="2000" dirty="0"/>
          </a:p>
        </p:txBody>
      </p:sp>
      <p:sp>
        <p:nvSpPr>
          <p:cNvPr id="16" name="Shape 12"/>
          <p:cNvSpPr/>
          <p:nvPr/>
        </p:nvSpPr>
        <p:spPr>
          <a:xfrm>
            <a:off x="4459224" y="5221224"/>
            <a:ext cx="0" cy="1188720"/>
          </a:xfrm>
          <a:prstGeom prst="line">
            <a:avLst/>
          </a:prstGeom>
          <a:noFill/>
          <a:ln w="12700">
            <a:solidFill>
              <a:srgbClr val="D9E3EC"/>
            </a:solidFill>
            <a:prstDash val="solid"/>
          </a:ln>
        </p:spPr>
      </p:sp>
      <p:sp>
        <p:nvSpPr>
          <p:cNvPr id="17" name="Text 13"/>
          <p:cNvSpPr/>
          <p:nvPr/>
        </p:nvSpPr>
        <p:spPr>
          <a:xfrm>
            <a:off x="4687824" y="5202936"/>
            <a:ext cx="317906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INSIGHT</a:t>
            </a:r>
            <a:endParaRPr lang="en-US" sz="1200" dirty="0"/>
          </a:p>
        </p:txBody>
      </p:sp>
      <p:sp>
        <p:nvSpPr>
          <p:cNvPr id="18" name="Text 14"/>
          <p:cNvSpPr/>
          <p:nvPr/>
        </p:nvSpPr>
        <p:spPr>
          <a:xfrm>
            <a:off x="4687824" y="5440680"/>
            <a:ext cx="3179064" cy="1005840"/>
          </a:xfrm>
          <a:prstGeom prst="rect">
            <a:avLst/>
          </a:prstGeom>
          <a:noFill/>
          <a:ln/>
        </p:spPr>
        <p:txBody>
          <a:bodyPr wrap="square" rtlCol="0" anchor="ctr"/>
          <a:lstStyle/>
          <a:p>
            <a:pPr marL="0" indent="0">
              <a:lnSpc>
                <a:spcPct val="120000"/>
              </a:lnSpc>
              <a:buNone/>
            </a:pPr>
            <a:r>
              <a:rPr lang="en-US" sz="1200" b="1" dirty="0">
                <a:solidFill>
                  <a:srgbClr val="1B2A4A"/>
                </a:solidFill>
                <a:latin typeface="Calibri" pitchFamily="34" charset="0"/>
                <a:ea typeface="Calibri" pitchFamily="34" charset="-122"/>
                <a:cs typeface="Calibri" pitchFamily="34" charset="-120"/>
              </a:rPr>
              <a:t>FHTC provision increased substantially from 146K in 2020 to 1.599M in 2023, declined in 2024, reached the highest displayed value of 2.183M in 2025, and then decreased to 1.025M in 2026.</a:t>
            </a:r>
            <a:endParaRPr lang="en-US" sz="1200" b="1" dirty="0"/>
          </a:p>
        </p:txBody>
      </p:sp>
      <p:sp>
        <p:nvSpPr>
          <p:cNvPr id="19" name="Shape 15"/>
          <p:cNvSpPr/>
          <p:nvPr/>
        </p:nvSpPr>
        <p:spPr>
          <a:xfrm>
            <a:off x="8095488" y="5221224"/>
            <a:ext cx="0" cy="1188720"/>
          </a:xfrm>
          <a:prstGeom prst="line">
            <a:avLst/>
          </a:prstGeom>
          <a:noFill/>
          <a:ln w="12700">
            <a:solidFill>
              <a:srgbClr val="D9E3EC"/>
            </a:solidFill>
            <a:prstDash val="solid"/>
          </a:ln>
        </p:spPr>
      </p:sp>
      <p:sp>
        <p:nvSpPr>
          <p:cNvPr id="20" name="Text 16"/>
          <p:cNvSpPr/>
          <p:nvPr/>
        </p:nvSpPr>
        <p:spPr>
          <a:xfrm>
            <a:off x="8324088" y="5202936"/>
            <a:ext cx="322478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BUSINESS IMPLICATION</a:t>
            </a:r>
            <a:endParaRPr lang="en-US" sz="1200" dirty="0"/>
          </a:p>
        </p:txBody>
      </p:sp>
      <p:sp>
        <p:nvSpPr>
          <p:cNvPr id="21" name="Text 17"/>
          <p:cNvSpPr/>
          <p:nvPr/>
        </p:nvSpPr>
        <p:spPr>
          <a:xfrm>
            <a:off x="8324088" y="5440680"/>
            <a:ext cx="3224784" cy="1005840"/>
          </a:xfrm>
          <a:prstGeom prst="rect">
            <a:avLst/>
          </a:prstGeom>
          <a:noFill/>
          <a:ln/>
        </p:spPr>
        <p:txBody>
          <a:bodyPr wrap="square" rtlCol="0" anchor="ctr"/>
          <a:lstStyle/>
          <a:p>
            <a:pPr marL="0" indent="0">
              <a:lnSpc>
                <a:spcPct val="120000"/>
              </a:lnSpc>
              <a:buNone/>
            </a:pPr>
            <a:r>
              <a:rPr lang="en-US" sz="1200" b="1" dirty="0">
                <a:solidFill>
                  <a:srgbClr val="1B2A4A"/>
                </a:solidFill>
                <a:latin typeface="Calibri" pitchFamily="34" charset="0"/>
                <a:ea typeface="Calibri" pitchFamily="34" charset="-122"/>
                <a:cs typeface="Calibri" pitchFamily="34" charset="-120"/>
              </a:rPr>
              <a:t>The fluctuations suggest that implementation progress should be monitored periodically to identify changes in the pace of FHTC provision.</a:t>
            </a:r>
            <a:endParaRPr lang="en-US" sz="1200" b="1" dirty="0"/>
          </a:p>
        </p:txBody>
      </p:sp>
      <p:sp>
        <p:nvSpPr>
          <p:cNvPr id="22" name="Text 18"/>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12</a:t>
            </a:r>
            <a:endParaRPr lang="en-US" sz="1000" dirty="0"/>
          </a:p>
        </p:txBody>
      </p:sp>
      <p:sp>
        <p:nvSpPr>
          <p:cNvPr id="23" name="Text 19"/>
          <p:cNvSpPr/>
          <p:nvPr/>
        </p:nvSpPr>
        <p:spPr>
          <a:xfrm>
            <a:off x="9516543" y="6537961"/>
            <a:ext cx="2560320" cy="274320"/>
          </a:xfrm>
          <a:prstGeom prst="rect">
            <a:avLst/>
          </a:prstGeom>
          <a:noFill/>
          <a:ln/>
        </p:spPr>
        <p:txBody>
          <a:bodyPr wrap="square" rtlCol="0" anchor="ctr"/>
          <a:lstStyle/>
          <a:p>
            <a:pPr marL="0" indent="0" algn="r">
              <a:buNone/>
            </a:pPr>
            <a:r>
              <a:rPr lang="en-US" sz="900" b="1" kern="0" spc="150" dirty="0">
                <a:solidFill>
                  <a:schemeClr val="bg1"/>
                </a:solidFill>
                <a:latin typeface="Calibri" pitchFamily="34" charset="0"/>
                <a:ea typeface="Calibri" pitchFamily="34" charset="-122"/>
                <a:cs typeface="Calibri" pitchFamily="34" charset="-120"/>
              </a:rPr>
              <a:t>BQ 4</a:t>
            </a:r>
            <a:endParaRPr lang="en-US" sz="900"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1B2A4A"/>
          </a:solidFill>
          <a:ln/>
        </p:spPr>
      </p:sp>
      <p:sp>
        <p:nvSpPr>
          <p:cNvPr id="3" name="Text 1"/>
          <p:cNvSpPr/>
          <p:nvPr/>
        </p:nvSpPr>
        <p:spPr>
          <a:xfrm>
            <a:off x="640080" y="292608"/>
            <a:ext cx="8229600" cy="320040"/>
          </a:xfrm>
          <a:prstGeom prst="rect">
            <a:avLst/>
          </a:prstGeom>
          <a:noFill/>
          <a:ln/>
        </p:spPr>
        <p:txBody>
          <a:bodyPr wrap="square" rtlCol="0" anchor="ctr"/>
          <a:lstStyle/>
          <a:p>
            <a:pPr marL="0" indent="0">
              <a:buNone/>
            </a:pPr>
            <a:r>
              <a:rPr lang="en-US" sz="2000" b="1" kern="0" spc="200" dirty="0">
                <a:solidFill>
                  <a:srgbClr val="E8763C"/>
                </a:solidFill>
                <a:latin typeface="Calibri" pitchFamily="34" charset="0"/>
                <a:ea typeface="Calibri" pitchFamily="34" charset="-122"/>
                <a:cs typeface="Calibri" pitchFamily="34" charset="-120"/>
              </a:rPr>
              <a:t>BUSINESS QUESTION 5</a:t>
            </a:r>
            <a:endParaRPr lang="en-US" sz="2000" dirty="0"/>
          </a:p>
        </p:txBody>
      </p:sp>
      <p:sp>
        <p:nvSpPr>
          <p:cNvPr id="4" name="Text 2"/>
          <p:cNvSpPr/>
          <p:nvPr/>
        </p:nvSpPr>
        <p:spPr>
          <a:xfrm>
            <a:off x="640080" y="621792"/>
            <a:ext cx="10881360" cy="731520"/>
          </a:xfrm>
          <a:prstGeom prst="rect">
            <a:avLst/>
          </a:prstGeom>
          <a:noFill/>
          <a:ln/>
        </p:spPr>
        <p:txBody>
          <a:bodyPr wrap="square" rtlCol="0" anchor="t"/>
          <a:lstStyle/>
          <a:p>
            <a:pPr marL="0" indent="0">
              <a:buNone/>
            </a:pPr>
            <a:r>
              <a:rPr lang="en-US" sz="2000" b="1" i="1" dirty="0">
                <a:solidFill>
                  <a:srgbClr val="FFFFFF"/>
                </a:solidFill>
                <a:latin typeface="Cambria" pitchFamily="34" charset="0"/>
                <a:ea typeface="Cambria" pitchFamily="34" charset="-122"/>
                <a:cs typeface="Cambria" pitchFamily="34" charset="-120"/>
              </a:rPr>
              <a:t>"Which districts demonstrate stronger and weaker average coverage performance?"</a:t>
            </a:r>
            <a:endParaRPr lang="en-US" sz="2000" dirty="0"/>
          </a:p>
        </p:txBody>
      </p:sp>
      <p:sp>
        <p:nvSpPr>
          <p:cNvPr id="5" name="Text 3"/>
          <p:cNvSpPr/>
          <p:nvPr/>
        </p:nvSpPr>
        <p:spPr>
          <a:xfrm>
            <a:off x="640080" y="1600200"/>
            <a:ext cx="5120640" cy="274320"/>
          </a:xfrm>
          <a:prstGeom prst="rect">
            <a:avLst/>
          </a:prstGeom>
          <a:noFill/>
          <a:ln/>
        </p:spPr>
        <p:txBody>
          <a:bodyPr wrap="square" rtlCol="0" anchor="ctr"/>
          <a:lstStyle/>
          <a:p>
            <a:pPr marL="0" indent="0">
              <a:buNone/>
            </a:pPr>
            <a:r>
              <a:rPr lang="en-US" sz="1600" b="1" u="sng" kern="0" spc="100" dirty="0">
                <a:solidFill>
                  <a:schemeClr val="accent1">
                    <a:lumMod val="75000"/>
                  </a:schemeClr>
                </a:solidFill>
                <a:latin typeface="Calibri" pitchFamily="34" charset="0"/>
                <a:ea typeface="Calibri" pitchFamily="34" charset="-122"/>
                <a:cs typeface="Calibri" pitchFamily="34" charset="-120"/>
              </a:rPr>
              <a:t>HIGHER-PERFORMING</a:t>
            </a:r>
            <a:r>
              <a:rPr lang="en-US" sz="1600" b="1" kern="0" spc="100" dirty="0">
                <a:solidFill>
                  <a:schemeClr val="accent1">
                    <a:lumMod val="75000"/>
                  </a:schemeClr>
                </a:solidFill>
                <a:latin typeface="Calibri" pitchFamily="34" charset="0"/>
                <a:ea typeface="Calibri" pitchFamily="34" charset="-122"/>
                <a:cs typeface="Calibri" pitchFamily="34" charset="-120"/>
              </a:rPr>
              <a:t> </a:t>
            </a:r>
            <a:r>
              <a:rPr lang="en-US" sz="1600" b="1" u="sng" kern="0" spc="100" dirty="0">
                <a:solidFill>
                  <a:schemeClr val="accent1">
                    <a:lumMod val="75000"/>
                  </a:schemeClr>
                </a:solidFill>
                <a:latin typeface="Calibri" pitchFamily="34" charset="0"/>
                <a:ea typeface="Calibri" pitchFamily="34" charset="-122"/>
                <a:cs typeface="Calibri" pitchFamily="34" charset="-120"/>
              </a:rPr>
              <a:t>DISTRICTS</a:t>
            </a:r>
            <a:endParaRPr lang="en-US" sz="1600" u="sng" dirty="0">
              <a:solidFill>
                <a:schemeClr val="accent1">
                  <a:lumMod val="75000"/>
                </a:schemeClr>
              </a:solidFill>
            </a:endParaRPr>
          </a:p>
        </p:txBody>
      </p:sp>
      <p:graphicFrame>
        <p:nvGraphicFramePr>
          <p:cNvPr id="6" name="Chart 0"/>
          <p:cNvGraphicFramePr/>
          <p:nvPr>
            <p:extLst>
              <p:ext uri="{D42A27DB-BD31-4B8C-83A1-F6EECF244321}">
                <p14:modId xmlns:p14="http://schemas.microsoft.com/office/powerpoint/2010/main" val="1899929309"/>
              </p:ext>
            </p:extLst>
          </p:nvPr>
        </p:nvGraphicFramePr>
        <p:xfrm>
          <a:off x="548640" y="1874520"/>
          <a:ext cx="548640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6309360" y="1600200"/>
            <a:ext cx="5120640" cy="274320"/>
          </a:xfrm>
          <a:prstGeom prst="rect">
            <a:avLst/>
          </a:prstGeom>
          <a:noFill/>
          <a:ln/>
        </p:spPr>
        <p:txBody>
          <a:bodyPr wrap="square" rtlCol="0" anchor="ctr"/>
          <a:lstStyle/>
          <a:p>
            <a:pPr marL="0" indent="0">
              <a:buNone/>
            </a:pPr>
            <a:r>
              <a:rPr lang="en-US" b="1" u="sng" kern="0" spc="100" dirty="0">
                <a:solidFill>
                  <a:srgbClr val="E8763C"/>
                </a:solidFill>
                <a:latin typeface="Calibri" pitchFamily="34" charset="0"/>
                <a:ea typeface="Calibri" pitchFamily="34" charset="-122"/>
                <a:cs typeface="Calibri" pitchFamily="34" charset="-120"/>
              </a:rPr>
              <a:t>LOWER-PERFORMING</a:t>
            </a:r>
            <a:r>
              <a:rPr lang="en-US" sz="1400" b="1" kern="0" spc="100" dirty="0">
                <a:solidFill>
                  <a:srgbClr val="E8763C"/>
                </a:solidFill>
                <a:latin typeface="Calibri" pitchFamily="34" charset="0"/>
                <a:ea typeface="Calibri" pitchFamily="34" charset="-122"/>
                <a:cs typeface="Calibri" pitchFamily="34" charset="-120"/>
              </a:rPr>
              <a:t> </a:t>
            </a:r>
            <a:r>
              <a:rPr lang="en-US" b="1" u="sng" kern="0" spc="100" dirty="0">
                <a:solidFill>
                  <a:srgbClr val="E8763C"/>
                </a:solidFill>
                <a:latin typeface="Calibri" pitchFamily="34" charset="0"/>
                <a:ea typeface="Calibri" pitchFamily="34" charset="-122"/>
                <a:cs typeface="Calibri" pitchFamily="34" charset="-120"/>
              </a:rPr>
              <a:t>DISTRICTS</a:t>
            </a:r>
            <a:endParaRPr lang="en-US" sz="1400" u="sng" dirty="0"/>
          </a:p>
        </p:txBody>
      </p:sp>
      <p:graphicFrame>
        <p:nvGraphicFramePr>
          <p:cNvPr id="8" name="Chart 1"/>
          <p:cNvGraphicFramePr/>
          <p:nvPr>
            <p:extLst>
              <p:ext uri="{D42A27DB-BD31-4B8C-83A1-F6EECF244321}">
                <p14:modId xmlns:p14="http://schemas.microsoft.com/office/powerpoint/2010/main" val="505356953"/>
              </p:ext>
            </p:extLst>
          </p:nvPr>
        </p:nvGraphicFramePr>
        <p:xfrm>
          <a:off x="6217920" y="1874520"/>
          <a:ext cx="530352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640080" y="4224528"/>
            <a:ext cx="10908792" cy="566928"/>
          </a:xfrm>
          <a:prstGeom prst="roundRect">
            <a:avLst>
              <a:gd name="adj" fmla="val 12903"/>
            </a:avLst>
          </a:prstGeom>
          <a:solidFill>
            <a:srgbClr val="1B2A4A"/>
          </a:solidFill>
          <a:ln/>
        </p:spPr>
      </p:sp>
      <p:sp>
        <p:nvSpPr>
          <p:cNvPr id="10" name="Text 6"/>
          <p:cNvSpPr/>
          <p:nvPr/>
        </p:nvSpPr>
        <p:spPr>
          <a:xfrm>
            <a:off x="822960" y="4224528"/>
            <a:ext cx="10515600" cy="56692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Indore — Highest Average Coverage: 68.1%</a:t>
            </a:r>
            <a:endParaRPr lang="en-US" sz="2000" dirty="0"/>
          </a:p>
        </p:txBody>
      </p:sp>
      <p:sp>
        <p:nvSpPr>
          <p:cNvPr id="11" name="Shape 7"/>
          <p:cNvSpPr/>
          <p:nvPr/>
        </p:nvSpPr>
        <p:spPr>
          <a:xfrm>
            <a:off x="640080" y="4994538"/>
            <a:ext cx="10908792" cy="1481328"/>
          </a:xfrm>
          <a:prstGeom prst="roundRect">
            <a:avLst>
              <a:gd name="adj" fmla="val 4938"/>
            </a:avLst>
          </a:prstGeom>
          <a:solidFill>
            <a:srgbClr val="FFFFFF"/>
          </a:solidFill>
          <a:ln w="12700">
            <a:solidFill>
              <a:srgbClr val="D9E3EC"/>
            </a:solidFill>
            <a:prstDash val="solid"/>
          </a:ln>
          <a:effectLst>
            <a:outerShdw blurRad="76200" dist="25400" dir="5400000" algn="bl" rotWithShape="0">
              <a:srgbClr val="1B2A4A">
                <a:alpha val="8000"/>
              </a:srgbClr>
            </a:outerShdw>
          </a:effectLst>
        </p:spPr>
      </p:sp>
      <p:sp>
        <p:nvSpPr>
          <p:cNvPr id="12" name="Text 8"/>
          <p:cNvSpPr/>
          <p:nvPr/>
        </p:nvSpPr>
        <p:spPr>
          <a:xfrm>
            <a:off x="822960" y="5084064"/>
            <a:ext cx="336194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KEY FINDING</a:t>
            </a:r>
            <a:endParaRPr lang="en-US" sz="1200" dirty="0"/>
          </a:p>
        </p:txBody>
      </p:sp>
      <p:sp>
        <p:nvSpPr>
          <p:cNvPr id="13" name="Text 9"/>
          <p:cNvSpPr/>
          <p:nvPr/>
        </p:nvSpPr>
        <p:spPr>
          <a:xfrm>
            <a:off x="822960" y="5321808"/>
            <a:ext cx="3361944" cy="1005840"/>
          </a:xfrm>
          <a:prstGeom prst="rect">
            <a:avLst/>
          </a:prstGeom>
          <a:noFill/>
          <a:ln/>
        </p:spPr>
        <p:txBody>
          <a:bodyPr wrap="square" rtlCol="0" anchor="ctr"/>
          <a:lstStyle/>
          <a:p>
            <a:pPr marL="0" indent="0">
              <a:lnSpc>
                <a:spcPct val="110000"/>
              </a:lnSpc>
              <a:buNone/>
            </a:pPr>
            <a:r>
              <a:rPr lang="en-US" sz="2000" b="1" dirty="0">
                <a:solidFill>
                  <a:srgbClr val="0B5E8C"/>
                </a:solidFill>
                <a:latin typeface="Cambria" pitchFamily="34" charset="0"/>
                <a:ea typeface="Cambria" pitchFamily="34" charset="-122"/>
                <a:cs typeface="Cambria" pitchFamily="34" charset="-120"/>
              </a:rPr>
              <a:t>Indore — 68.1% Coverage</a:t>
            </a:r>
            <a:endParaRPr lang="en-US" sz="2000" dirty="0"/>
          </a:p>
        </p:txBody>
      </p:sp>
      <p:sp>
        <p:nvSpPr>
          <p:cNvPr id="14" name="Shape 10"/>
          <p:cNvSpPr/>
          <p:nvPr/>
        </p:nvSpPr>
        <p:spPr>
          <a:xfrm>
            <a:off x="4459224" y="5102352"/>
            <a:ext cx="0" cy="1188720"/>
          </a:xfrm>
          <a:prstGeom prst="line">
            <a:avLst/>
          </a:prstGeom>
          <a:noFill/>
          <a:ln w="12700">
            <a:solidFill>
              <a:srgbClr val="D9E3EC"/>
            </a:solidFill>
            <a:prstDash val="solid"/>
          </a:ln>
        </p:spPr>
      </p:sp>
      <p:sp>
        <p:nvSpPr>
          <p:cNvPr id="15" name="Text 11"/>
          <p:cNvSpPr/>
          <p:nvPr/>
        </p:nvSpPr>
        <p:spPr>
          <a:xfrm>
            <a:off x="4687824" y="5084064"/>
            <a:ext cx="317906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INSIGHT</a:t>
            </a:r>
            <a:endParaRPr lang="en-US" sz="1200" dirty="0"/>
          </a:p>
        </p:txBody>
      </p:sp>
      <p:sp>
        <p:nvSpPr>
          <p:cNvPr id="16" name="Text 12"/>
          <p:cNvSpPr/>
          <p:nvPr/>
        </p:nvSpPr>
        <p:spPr>
          <a:xfrm>
            <a:off x="4687824" y="5321808"/>
            <a:ext cx="3179064" cy="1005840"/>
          </a:xfrm>
          <a:prstGeom prst="rect">
            <a:avLst/>
          </a:prstGeom>
          <a:noFill/>
          <a:ln/>
        </p:spPr>
        <p:txBody>
          <a:bodyPr wrap="square" rtlCol="0" anchor="ctr"/>
          <a:lstStyle/>
          <a:p>
            <a:pPr marL="0" indent="0">
              <a:lnSpc>
                <a:spcPct val="120000"/>
              </a:lnSpc>
              <a:buNone/>
            </a:pPr>
            <a:r>
              <a:rPr lang="en-US" sz="1200" b="1" dirty="0">
                <a:solidFill>
                  <a:srgbClr val="1B2A4A"/>
                </a:solidFill>
                <a:latin typeface="Calibri" pitchFamily="34" charset="0"/>
                <a:ea typeface="Calibri" pitchFamily="34" charset="-122"/>
                <a:cs typeface="Calibri" pitchFamily="34" charset="-120"/>
              </a:rPr>
              <a:t>Indore has the highest average coverage at approximately 68.1%, while several districts remain around the 40–43% range.</a:t>
            </a:r>
            <a:endParaRPr lang="en-US" sz="1200" b="1" dirty="0"/>
          </a:p>
        </p:txBody>
      </p:sp>
      <p:sp>
        <p:nvSpPr>
          <p:cNvPr id="17" name="Shape 13"/>
          <p:cNvSpPr/>
          <p:nvPr/>
        </p:nvSpPr>
        <p:spPr>
          <a:xfrm>
            <a:off x="8095488" y="5102352"/>
            <a:ext cx="0" cy="1188720"/>
          </a:xfrm>
          <a:prstGeom prst="line">
            <a:avLst/>
          </a:prstGeom>
          <a:noFill/>
          <a:ln w="12700">
            <a:solidFill>
              <a:srgbClr val="D9E3EC"/>
            </a:solidFill>
            <a:prstDash val="solid"/>
          </a:ln>
        </p:spPr>
      </p:sp>
      <p:sp>
        <p:nvSpPr>
          <p:cNvPr id="18" name="Text 14"/>
          <p:cNvSpPr/>
          <p:nvPr/>
        </p:nvSpPr>
        <p:spPr>
          <a:xfrm>
            <a:off x="8324088" y="5084064"/>
            <a:ext cx="322478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BUSINESS IMPLICATION</a:t>
            </a:r>
            <a:endParaRPr lang="en-US" sz="1200" dirty="0"/>
          </a:p>
        </p:txBody>
      </p:sp>
      <p:sp>
        <p:nvSpPr>
          <p:cNvPr id="19" name="Text 15"/>
          <p:cNvSpPr/>
          <p:nvPr/>
        </p:nvSpPr>
        <p:spPr>
          <a:xfrm>
            <a:off x="8324088" y="5321808"/>
            <a:ext cx="3224784" cy="1005840"/>
          </a:xfrm>
          <a:prstGeom prst="rect">
            <a:avLst/>
          </a:prstGeom>
          <a:noFill/>
          <a:ln/>
        </p:spPr>
        <p:txBody>
          <a:bodyPr wrap="square" rtlCol="0" anchor="ctr"/>
          <a:lstStyle/>
          <a:p>
            <a:pPr marL="0" indent="0">
              <a:lnSpc>
                <a:spcPct val="120000"/>
              </a:lnSpc>
              <a:buNone/>
            </a:pPr>
            <a:r>
              <a:rPr lang="en-US" sz="1200" b="1" dirty="0">
                <a:solidFill>
                  <a:srgbClr val="1B2A4A"/>
                </a:solidFill>
                <a:latin typeface="Calibri" pitchFamily="34" charset="0"/>
                <a:ea typeface="Calibri" pitchFamily="34" charset="-122"/>
                <a:cs typeface="Calibri" pitchFamily="34" charset="-120"/>
              </a:rPr>
              <a:t>Lower-coverage districts can be prioritized for closer monitoring, while high-performing districts can provide useful benchmarks for implementation practices.</a:t>
            </a:r>
            <a:endParaRPr lang="en-US" sz="1200" b="1" dirty="0"/>
          </a:p>
        </p:txBody>
      </p:sp>
      <p:sp>
        <p:nvSpPr>
          <p:cNvPr id="20" name="Text 16"/>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13</a:t>
            </a:r>
            <a:endParaRPr lang="en-US" sz="1000" dirty="0"/>
          </a:p>
        </p:txBody>
      </p:sp>
      <p:sp>
        <p:nvSpPr>
          <p:cNvPr id="21" name="Text 17"/>
          <p:cNvSpPr/>
          <p:nvPr/>
        </p:nvSpPr>
        <p:spPr>
          <a:xfrm>
            <a:off x="9484645" y="6452900"/>
            <a:ext cx="2560320" cy="274320"/>
          </a:xfrm>
          <a:prstGeom prst="rect">
            <a:avLst/>
          </a:prstGeom>
          <a:noFill/>
          <a:ln/>
        </p:spPr>
        <p:txBody>
          <a:bodyPr wrap="square" rtlCol="0" anchor="ctr"/>
          <a:lstStyle/>
          <a:p>
            <a:pPr marL="0" indent="0" algn="r">
              <a:buNone/>
            </a:pPr>
            <a:r>
              <a:rPr lang="en-US" sz="900" b="1" kern="0" spc="150" dirty="0">
                <a:solidFill>
                  <a:schemeClr val="bg1"/>
                </a:solidFill>
                <a:latin typeface="Calibri" pitchFamily="34" charset="0"/>
                <a:ea typeface="Calibri" pitchFamily="34" charset="-122"/>
                <a:cs typeface="Calibri" pitchFamily="34" charset="-120"/>
              </a:rPr>
              <a:t>BQ 5</a:t>
            </a:r>
            <a:endParaRPr lang="en-US" sz="900"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8961120" y="-2286000"/>
            <a:ext cx="6400800" cy="6400800"/>
          </a:xfrm>
          <a:prstGeom prst="ellipse">
            <a:avLst/>
          </a:prstGeom>
          <a:solidFill>
            <a:srgbClr val="0B5E8C">
              <a:alpha val="25000"/>
            </a:srgbClr>
          </a:solidFill>
          <a:ln/>
        </p:spPr>
      </p:sp>
      <p:sp>
        <p:nvSpPr>
          <p:cNvPr id="3" name="Shape 1"/>
          <p:cNvSpPr/>
          <p:nvPr/>
        </p:nvSpPr>
        <p:spPr>
          <a:xfrm>
            <a:off x="-15088" y="21778"/>
            <a:ext cx="12191695" cy="1417320"/>
          </a:xfrm>
          <a:prstGeom prst="rect">
            <a:avLst/>
          </a:prstGeom>
          <a:solidFill>
            <a:srgbClr val="142238"/>
          </a:solidFill>
          <a:ln/>
        </p:spPr>
      </p:sp>
      <p:sp>
        <p:nvSpPr>
          <p:cNvPr id="4" name="Text 2"/>
          <p:cNvSpPr/>
          <p:nvPr/>
        </p:nvSpPr>
        <p:spPr>
          <a:xfrm>
            <a:off x="640080" y="292608"/>
            <a:ext cx="8229600" cy="320040"/>
          </a:xfrm>
          <a:prstGeom prst="rect">
            <a:avLst/>
          </a:prstGeom>
          <a:noFill/>
          <a:ln/>
        </p:spPr>
        <p:txBody>
          <a:bodyPr wrap="square" rtlCol="0" anchor="ctr"/>
          <a:lstStyle/>
          <a:p>
            <a:pPr marL="0" indent="0">
              <a:buNone/>
            </a:pPr>
            <a:r>
              <a:rPr lang="en-US" sz="2000" b="1" kern="0" spc="200" dirty="0">
                <a:solidFill>
                  <a:srgbClr val="E8763C"/>
                </a:solidFill>
                <a:latin typeface="Calibri" pitchFamily="34" charset="0"/>
                <a:ea typeface="Calibri" pitchFamily="34" charset="-122"/>
                <a:cs typeface="Calibri" pitchFamily="34" charset="-120"/>
              </a:rPr>
              <a:t>BUSINESS QUESTION 6</a:t>
            </a:r>
            <a:endParaRPr lang="en-US" sz="2000" dirty="0"/>
          </a:p>
        </p:txBody>
      </p:sp>
      <p:sp>
        <p:nvSpPr>
          <p:cNvPr id="5" name="Text 3"/>
          <p:cNvSpPr/>
          <p:nvPr/>
        </p:nvSpPr>
        <p:spPr>
          <a:xfrm>
            <a:off x="640080" y="621792"/>
            <a:ext cx="10881360" cy="731520"/>
          </a:xfrm>
          <a:prstGeom prst="rect">
            <a:avLst/>
          </a:prstGeom>
          <a:noFill/>
          <a:ln/>
        </p:spPr>
        <p:txBody>
          <a:bodyPr wrap="square" rtlCol="0" anchor="ctr"/>
          <a:lstStyle/>
          <a:p>
            <a:pPr marL="0" indent="0">
              <a:buNone/>
            </a:pPr>
            <a:r>
              <a:rPr lang="en-US" sz="2000" b="1" i="1" dirty="0">
                <a:solidFill>
                  <a:srgbClr val="FFFFFF"/>
                </a:solidFill>
                <a:latin typeface="Cambria" pitchFamily="34" charset="0"/>
                <a:ea typeface="Cambria" pitchFamily="34" charset="-122"/>
                <a:cs typeface="Cambria" pitchFamily="34" charset="-120"/>
              </a:rPr>
              <a:t>"Does higher FHTC provision necessarily correspond to higher coverage performance across districts?"</a:t>
            </a:r>
            <a:endParaRPr lang="en-US" sz="2000" dirty="0"/>
          </a:p>
        </p:txBody>
      </p:sp>
      <p:sp>
        <p:nvSpPr>
          <p:cNvPr id="6" name="Text 4"/>
          <p:cNvSpPr/>
          <p:nvPr/>
        </p:nvSpPr>
        <p:spPr>
          <a:xfrm>
            <a:off x="640080" y="1691640"/>
            <a:ext cx="10908792" cy="777240"/>
          </a:xfrm>
          <a:prstGeom prst="rect">
            <a:avLst/>
          </a:prstGeom>
          <a:noFill/>
          <a:ln/>
        </p:spPr>
        <p:txBody>
          <a:bodyPr wrap="square" rtlCol="0" anchor="ctr"/>
          <a:lstStyle/>
          <a:p>
            <a:pPr marL="0" indent="0" algn="ctr">
              <a:buNone/>
            </a:pPr>
            <a:r>
              <a:rPr lang="en-US" sz="4400" b="1" dirty="0">
                <a:solidFill>
                  <a:srgbClr val="E8763C"/>
                </a:solidFill>
                <a:latin typeface="Cambria" pitchFamily="34" charset="0"/>
                <a:ea typeface="Cambria" pitchFamily="34" charset="-122"/>
                <a:cs typeface="Cambria" pitchFamily="34" charset="-120"/>
              </a:rPr>
              <a:t>VOLUME  ≠  COVERAGE</a:t>
            </a:r>
            <a:endParaRPr lang="en-US" sz="4400" dirty="0"/>
          </a:p>
        </p:txBody>
      </p:sp>
      <p:sp>
        <p:nvSpPr>
          <p:cNvPr id="7" name="Shape 5"/>
          <p:cNvSpPr/>
          <p:nvPr/>
        </p:nvSpPr>
        <p:spPr>
          <a:xfrm>
            <a:off x="1005840" y="2697480"/>
            <a:ext cx="4663440" cy="1965960"/>
          </a:xfrm>
          <a:prstGeom prst="roundRect">
            <a:avLst>
              <a:gd name="adj" fmla="val 4651"/>
            </a:avLst>
          </a:prstGeom>
          <a:solidFill>
            <a:srgbClr val="132241"/>
          </a:solidFill>
          <a:ln w="15875">
            <a:solidFill>
              <a:srgbClr val="2E4670"/>
            </a:solidFill>
            <a:prstDash val="solid"/>
          </a:ln>
        </p:spPr>
      </p:sp>
      <p:sp>
        <p:nvSpPr>
          <p:cNvPr id="8" name="Text 6"/>
          <p:cNvSpPr/>
          <p:nvPr/>
        </p:nvSpPr>
        <p:spPr>
          <a:xfrm>
            <a:off x="1280160" y="2880360"/>
            <a:ext cx="4114800" cy="4572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Jabalpur</a:t>
            </a:r>
            <a:endParaRPr lang="en-US" sz="2800" dirty="0"/>
          </a:p>
        </p:txBody>
      </p:sp>
      <p:sp>
        <p:nvSpPr>
          <p:cNvPr id="9" name="Shape 7"/>
          <p:cNvSpPr/>
          <p:nvPr/>
        </p:nvSpPr>
        <p:spPr>
          <a:xfrm>
            <a:off x="1280160" y="3383280"/>
            <a:ext cx="1828800" cy="365760"/>
          </a:xfrm>
          <a:prstGeom prst="roundRect">
            <a:avLst>
              <a:gd name="adj" fmla="val 50000"/>
            </a:avLst>
          </a:prstGeom>
          <a:solidFill>
            <a:srgbClr val="0B5E8C"/>
          </a:solidFill>
          <a:ln/>
        </p:spPr>
      </p:sp>
      <p:sp>
        <p:nvSpPr>
          <p:cNvPr id="10" name="Text 8"/>
          <p:cNvSpPr/>
          <p:nvPr/>
        </p:nvSpPr>
        <p:spPr>
          <a:xfrm>
            <a:off x="1280160" y="3383280"/>
            <a:ext cx="182880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Higher Volume</a:t>
            </a:r>
            <a:endParaRPr lang="en-US" sz="1600" dirty="0"/>
          </a:p>
        </p:txBody>
      </p:sp>
      <p:sp>
        <p:nvSpPr>
          <p:cNvPr id="11" name="Text 9"/>
          <p:cNvSpPr/>
          <p:nvPr/>
        </p:nvSpPr>
        <p:spPr>
          <a:xfrm>
            <a:off x="1280160" y="3886200"/>
            <a:ext cx="1965960" cy="274320"/>
          </a:xfrm>
          <a:prstGeom prst="rect">
            <a:avLst/>
          </a:prstGeom>
          <a:noFill/>
          <a:ln/>
        </p:spPr>
        <p:txBody>
          <a:bodyPr wrap="square" rtlCol="0" anchor="ctr"/>
          <a:lstStyle/>
          <a:p>
            <a:pPr marL="0" indent="0">
              <a:buNone/>
            </a:pPr>
            <a:r>
              <a:rPr lang="en-US" sz="1200" b="1" dirty="0">
                <a:solidFill>
                  <a:srgbClr val="9FC6E0"/>
                </a:solidFill>
                <a:latin typeface="Calibri" pitchFamily="34" charset="0"/>
                <a:ea typeface="Calibri" pitchFamily="34" charset="-122"/>
                <a:cs typeface="Calibri" pitchFamily="34" charset="-120"/>
              </a:rPr>
              <a:t>FHTC Provided</a:t>
            </a:r>
            <a:endParaRPr lang="en-US" sz="1200" b="1" dirty="0"/>
          </a:p>
        </p:txBody>
      </p:sp>
      <p:sp>
        <p:nvSpPr>
          <p:cNvPr id="12" name="Text 10"/>
          <p:cNvSpPr/>
          <p:nvPr/>
        </p:nvSpPr>
        <p:spPr>
          <a:xfrm>
            <a:off x="1280160" y="4142232"/>
            <a:ext cx="1965960" cy="41148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908,000</a:t>
            </a:r>
            <a:endParaRPr lang="en-US" sz="2000" dirty="0"/>
          </a:p>
        </p:txBody>
      </p:sp>
      <p:sp>
        <p:nvSpPr>
          <p:cNvPr id="13" name="Text 11"/>
          <p:cNvSpPr/>
          <p:nvPr/>
        </p:nvSpPr>
        <p:spPr>
          <a:xfrm>
            <a:off x="3429000" y="3886200"/>
            <a:ext cx="1965960" cy="274320"/>
          </a:xfrm>
          <a:prstGeom prst="rect">
            <a:avLst/>
          </a:prstGeom>
          <a:noFill/>
          <a:ln/>
        </p:spPr>
        <p:txBody>
          <a:bodyPr wrap="square" rtlCol="0" anchor="ctr"/>
          <a:lstStyle/>
          <a:p>
            <a:pPr marL="0" indent="0">
              <a:buNone/>
            </a:pPr>
            <a:r>
              <a:rPr lang="en-US" sz="1200" b="1" dirty="0">
                <a:solidFill>
                  <a:srgbClr val="9FC6E0"/>
                </a:solidFill>
                <a:latin typeface="Calibri" pitchFamily="34" charset="0"/>
                <a:ea typeface="Calibri" pitchFamily="34" charset="-122"/>
                <a:cs typeface="Calibri" pitchFamily="34" charset="-120"/>
              </a:rPr>
              <a:t>Avg. Coverage</a:t>
            </a:r>
            <a:endParaRPr lang="en-US" sz="1200" b="1" dirty="0"/>
          </a:p>
        </p:txBody>
      </p:sp>
      <p:sp>
        <p:nvSpPr>
          <p:cNvPr id="14" name="Text 12"/>
          <p:cNvSpPr/>
          <p:nvPr/>
        </p:nvSpPr>
        <p:spPr>
          <a:xfrm>
            <a:off x="3429000" y="4142232"/>
            <a:ext cx="1965960" cy="411480"/>
          </a:xfrm>
          <a:prstGeom prst="rect">
            <a:avLst/>
          </a:prstGeom>
          <a:noFill/>
          <a:ln/>
        </p:spPr>
        <p:txBody>
          <a:bodyPr wrap="square" rtlCol="0" anchor="ctr"/>
          <a:lstStyle/>
          <a:p>
            <a:pPr marL="0" indent="0">
              <a:buNone/>
            </a:pPr>
            <a:r>
              <a:rPr lang="en-US" sz="2000" b="1" dirty="0">
                <a:solidFill>
                  <a:srgbClr val="E8763C"/>
                </a:solidFill>
                <a:latin typeface="Cambria" pitchFamily="34" charset="0"/>
                <a:ea typeface="Cambria" pitchFamily="34" charset="-122"/>
                <a:cs typeface="Cambria" pitchFamily="34" charset="-120"/>
              </a:rPr>
              <a:t>65.7%</a:t>
            </a:r>
            <a:endParaRPr lang="en-US" sz="2000" dirty="0"/>
          </a:p>
        </p:txBody>
      </p:sp>
      <p:sp>
        <p:nvSpPr>
          <p:cNvPr id="15" name="Shape 13"/>
          <p:cNvSpPr/>
          <p:nvPr/>
        </p:nvSpPr>
        <p:spPr>
          <a:xfrm>
            <a:off x="6492240" y="2697480"/>
            <a:ext cx="4663440" cy="1965960"/>
          </a:xfrm>
          <a:prstGeom prst="roundRect">
            <a:avLst>
              <a:gd name="adj" fmla="val 4651"/>
            </a:avLst>
          </a:prstGeom>
          <a:solidFill>
            <a:srgbClr val="132241"/>
          </a:solidFill>
          <a:ln w="15875">
            <a:solidFill>
              <a:srgbClr val="2E4670"/>
            </a:solidFill>
            <a:prstDash val="solid"/>
          </a:ln>
        </p:spPr>
      </p:sp>
      <p:sp>
        <p:nvSpPr>
          <p:cNvPr id="16" name="Text 14"/>
          <p:cNvSpPr/>
          <p:nvPr/>
        </p:nvSpPr>
        <p:spPr>
          <a:xfrm>
            <a:off x="6766560" y="2880360"/>
            <a:ext cx="4114800" cy="4572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Indore</a:t>
            </a:r>
            <a:endParaRPr lang="en-US" sz="2800" dirty="0"/>
          </a:p>
        </p:txBody>
      </p:sp>
      <p:sp>
        <p:nvSpPr>
          <p:cNvPr id="17" name="Shape 15"/>
          <p:cNvSpPr/>
          <p:nvPr/>
        </p:nvSpPr>
        <p:spPr>
          <a:xfrm>
            <a:off x="6766560" y="3383280"/>
            <a:ext cx="1828800" cy="365760"/>
          </a:xfrm>
          <a:prstGeom prst="roundRect">
            <a:avLst>
              <a:gd name="adj" fmla="val 50000"/>
            </a:avLst>
          </a:prstGeom>
          <a:solidFill>
            <a:srgbClr val="0B5E8C"/>
          </a:solidFill>
          <a:ln/>
        </p:spPr>
      </p:sp>
      <p:sp>
        <p:nvSpPr>
          <p:cNvPr id="18" name="Text 16"/>
          <p:cNvSpPr/>
          <p:nvPr/>
        </p:nvSpPr>
        <p:spPr>
          <a:xfrm>
            <a:off x="6766560" y="3383280"/>
            <a:ext cx="182880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Higher Coverage</a:t>
            </a:r>
            <a:endParaRPr lang="en-US" sz="1600" dirty="0"/>
          </a:p>
        </p:txBody>
      </p:sp>
      <p:sp>
        <p:nvSpPr>
          <p:cNvPr id="19" name="Text 17"/>
          <p:cNvSpPr/>
          <p:nvPr/>
        </p:nvSpPr>
        <p:spPr>
          <a:xfrm>
            <a:off x="6766560" y="3886200"/>
            <a:ext cx="1965960" cy="274320"/>
          </a:xfrm>
          <a:prstGeom prst="rect">
            <a:avLst/>
          </a:prstGeom>
          <a:noFill/>
          <a:ln/>
        </p:spPr>
        <p:txBody>
          <a:bodyPr wrap="square" rtlCol="0" anchor="ctr"/>
          <a:lstStyle/>
          <a:p>
            <a:pPr marL="0" indent="0">
              <a:buNone/>
            </a:pPr>
            <a:r>
              <a:rPr lang="en-US" sz="1200" b="1" dirty="0">
                <a:solidFill>
                  <a:srgbClr val="9FC6E0"/>
                </a:solidFill>
                <a:latin typeface="Calibri" pitchFamily="34" charset="0"/>
                <a:ea typeface="Calibri" pitchFamily="34" charset="-122"/>
                <a:cs typeface="Calibri" pitchFamily="34" charset="-120"/>
              </a:rPr>
              <a:t>FHTC Provided</a:t>
            </a:r>
            <a:endParaRPr lang="en-US" sz="1200" b="1" dirty="0"/>
          </a:p>
        </p:txBody>
      </p:sp>
      <p:sp>
        <p:nvSpPr>
          <p:cNvPr id="20" name="Text 18"/>
          <p:cNvSpPr/>
          <p:nvPr/>
        </p:nvSpPr>
        <p:spPr>
          <a:xfrm>
            <a:off x="6766560" y="4142232"/>
            <a:ext cx="1965960" cy="41148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750,000</a:t>
            </a:r>
            <a:endParaRPr lang="en-US" sz="2000" dirty="0"/>
          </a:p>
        </p:txBody>
      </p:sp>
      <p:sp>
        <p:nvSpPr>
          <p:cNvPr id="21" name="Text 19"/>
          <p:cNvSpPr/>
          <p:nvPr/>
        </p:nvSpPr>
        <p:spPr>
          <a:xfrm>
            <a:off x="8915400" y="3886200"/>
            <a:ext cx="1965960" cy="274320"/>
          </a:xfrm>
          <a:prstGeom prst="rect">
            <a:avLst/>
          </a:prstGeom>
          <a:noFill/>
          <a:ln/>
        </p:spPr>
        <p:txBody>
          <a:bodyPr wrap="square" rtlCol="0" anchor="ctr"/>
          <a:lstStyle/>
          <a:p>
            <a:pPr marL="0" indent="0">
              <a:buNone/>
            </a:pPr>
            <a:r>
              <a:rPr lang="en-US" sz="1200" b="1" dirty="0">
                <a:solidFill>
                  <a:srgbClr val="9FC6E0"/>
                </a:solidFill>
                <a:latin typeface="Calibri" pitchFamily="34" charset="0"/>
                <a:ea typeface="Calibri" pitchFamily="34" charset="-122"/>
                <a:cs typeface="Calibri" pitchFamily="34" charset="-120"/>
              </a:rPr>
              <a:t>Avg. Coverage</a:t>
            </a:r>
            <a:endParaRPr lang="en-US" sz="1200" b="1" dirty="0"/>
          </a:p>
        </p:txBody>
      </p:sp>
      <p:sp>
        <p:nvSpPr>
          <p:cNvPr id="22" name="Text 20"/>
          <p:cNvSpPr/>
          <p:nvPr/>
        </p:nvSpPr>
        <p:spPr>
          <a:xfrm>
            <a:off x="8915400" y="4142232"/>
            <a:ext cx="1965960" cy="411480"/>
          </a:xfrm>
          <a:prstGeom prst="rect">
            <a:avLst/>
          </a:prstGeom>
          <a:noFill/>
          <a:ln/>
        </p:spPr>
        <p:txBody>
          <a:bodyPr wrap="square" rtlCol="0" anchor="ctr"/>
          <a:lstStyle/>
          <a:p>
            <a:pPr marL="0" indent="0">
              <a:buNone/>
            </a:pPr>
            <a:r>
              <a:rPr lang="en-US" sz="2000" b="1" dirty="0">
                <a:solidFill>
                  <a:srgbClr val="E8763C"/>
                </a:solidFill>
                <a:latin typeface="Cambria" pitchFamily="34" charset="0"/>
                <a:ea typeface="Cambria" pitchFamily="34" charset="-122"/>
                <a:cs typeface="Cambria" pitchFamily="34" charset="-120"/>
              </a:rPr>
              <a:t>68.1%</a:t>
            </a:r>
            <a:endParaRPr lang="en-US" sz="2000" dirty="0"/>
          </a:p>
        </p:txBody>
      </p:sp>
      <p:pic>
        <p:nvPicPr>
          <p:cNvPr id="23" name="Image 0" descr="icons/scaleBalanced_E8763C.png"/>
          <p:cNvPicPr>
            <a:picLocks noChangeAspect="1"/>
          </p:cNvPicPr>
          <p:nvPr/>
        </p:nvPicPr>
        <p:blipFill>
          <a:blip r:embed="rId3"/>
          <a:stretch>
            <a:fillRect/>
          </a:stretch>
        </p:blipFill>
        <p:spPr>
          <a:xfrm>
            <a:off x="5821528" y="3406140"/>
            <a:ext cx="548640" cy="548640"/>
          </a:xfrm>
          <a:prstGeom prst="rect">
            <a:avLst/>
          </a:prstGeom>
        </p:spPr>
      </p:pic>
      <p:sp>
        <p:nvSpPr>
          <p:cNvPr id="24" name="Shape 21"/>
          <p:cNvSpPr/>
          <p:nvPr/>
        </p:nvSpPr>
        <p:spPr>
          <a:xfrm>
            <a:off x="597595" y="4846320"/>
            <a:ext cx="10908792" cy="1600200"/>
          </a:xfrm>
          <a:prstGeom prst="roundRect">
            <a:avLst>
              <a:gd name="adj" fmla="val 4571"/>
            </a:avLst>
          </a:prstGeom>
          <a:solidFill>
            <a:srgbClr val="132241"/>
          </a:solidFill>
          <a:ln w="12700">
            <a:solidFill>
              <a:srgbClr val="2E4670"/>
            </a:solidFill>
            <a:prstDash val="solid"/>
          </a:ln>
        </p:spPr>
      </p:sp>
      <p:sp>
        <p:nvSpPr>
          <p:cNvPr id="25" name="Text 22"/>
          <p:cNvSpPr/>
          <p:nvPr/>
        </p:nvSpPr>
        <p:spPr>
          <a:xfrm>
            <a:off x="868680" y="5074920"/>
            <a:ext cx="5120640" cy="274320"/>
          </a:xfrm>
          <a:prstGeom prst="rect">
            <a:avLst/>
          </a:prstGeom>
          <a:noFill/>
          <a:ln/>
        </p:spPr>
        <p:txBody>
          <a:bodyPr wrap="square" rtlCol="0" anchor="ctr"/>
          <a:lstStyle/>
          <a:p>
            <a:pPr marL="0" indent="0">
              <a:buNone/>
            </a:pPr>
            <a:r>
              <a:rPr lang="en-US" sz="1600" b="1" kern="0" spc="120" dirty="0">
                <a:solidFill>
                  <a:srgbClr val="E8763C"/>
                </a:solidFill>
                <a:latin typeface="Calibri" pitchFamily="34" charset="0"/>
                <a:ea typeface="Calibri" pitchFamily="34" charset="-122"/>
                <a:cs typeface="Calibri" pitchFamily="34" charset="-120"/>
              </a:rPr>
              <a:t>INSIGHT</a:t>
            </a:r>
            <a:endParaRPr lang="en-US" sz="1600" dirty="0"/>
          </a:p>
        </p:txBody>
      </p:sp>
      <p:sp>
        <p:nvSpPr>
          <p:cNvPr id="26" name="Text 23"/>
          <p:cNvSpPr/>
          <p:nvPr/>
        </p:nvSpPr>
        <p:spPr>
          <a:xfrm>
            <a:off x="868680" y="5349240"/>
            <a:ext cx="5120640" cy="1051560"/>
          </a:xfrm>
          <a:prstGeom prst="rect">
            <a:avLst/>
          </a:prstGeom>
          <a:noFill/>
          <a:ln/>
        </p:spPr>
        <p:txBody>
          <a:bodyPr wrap="square" rtlCol="0" anchor="ctr"/>
          <a:lstStyle/>
          <a:p>
            <a:pPr marL="0" indent="0">
              <a:lnSpc>
                <a:spcPct val="125000"/>
              </a:lnSpc>
              <a:buNone/>
            </a:pPr>
            <a:r>
              <a:rPr lang="en-US" sz="1200" dirty="0">
                <a:solidFill>
                  <a:srgbClr val="D7E6F0"/>
                </a:solidFill>
                <a:latin typeface="Calibri" pitchFamily="34" charset="0"/>
                <a:ea typeface="Calibri" pitchFamily="34" charset="-122"/>
                <a:cs typeface="Calibri" pitchFamily="34" charset="-120"/>
              </a:rPr>
              <a:t>Absolute FHTC provision and percentage coverage do not necessarily tell the same story. Jabalpur has a higher FHTC provision than Indore, while Indore has a higher average coverage.</a:t>
            </a:r>
            <a:endParaRPr lang="en-US" sz="1200" dirty="0"/>
          </a:p>
        </p:txBody>
      </p:sp>
      <p:sp>
        <p:nvSpPr>
          <p:cNvPr id="27" name="Shape 24"/>
          <p:cNvSpPr/>
          <p:nvPr/>
        </p:nvSpPr>
        <p:spPr>
          <a:xfrm>
            <a:off x="6080760" y="5074920"/>
            <a:ext cx="0" cy="1325880"/>
          </a:xfrm>
          <a:prstGeom prst="line">
            <a:avLst/>
          </a:prstGeom>
          <a:noFill/>
          <a:ln w="12700">
            <a:solidFill>
              <a:srgbClr val="2E4670"/>
            </a:solidFill>
            <a:prstDash val="solid"/>
          </a:ln>
        </p:spPr>
      </p:sp>
      <p:sp>
        <p:nvSpPr>
          <p:cNvPr id="28" name="Text 25"/>
          <p:cNvSpPr/>
          <p:nvPr/>
        </p:nvSpPr>
        <p:spPr>
          <a:xfrm>
            <a:off x="6309360" y="5074920"/>
            <a:ext cx="5029200" cy="274320"/>
          </a:xfrm>
          <a:prstGeom prst="rect">
            <a:avLst/>
          </a:prstGeom>
          <a:noFill/>
          <a:ln/>
        </p:spPr>
        <p:txBody>
          <a:bodyPr wrap="square" rtlCol="0" anchor="ctr"/>
          <a:lstStyle/>
          <a:p>
            <a:pPr marL="0" indent="0">
              <a:buNone/>
            </a:pPr>
            <a:r>
              <a:rPr lang="en-US" sz="1600" b="1" kern="0" spc="120" dirty="0">
                <a:solidFill>
                  <a:srgbClr val="E8763C"/>
                </a:solidFill>
                <a:latin typeface="Calibri" pitchFamily="34" charset="0"/>
                <a:ea typeface="Calibri" pitchFamily="34" charset="-122"/>
                <a:cs typeface="Calibri" pitchFamily="34" charset="-120"/>
              </a:rPr>
              <a:t>BUSINESS IMPLICATION</a:t>
            </a:r>
            <a:endParaRPr lang="en-US" sz="1600" dirty="0"/>
          </a:p>
        </p:txBody>
      </p:sp>
      <p:sp>
        <p:nvSpPr>
          <p:cNvPr id="29" name="Text 26"/>
          <p:cNvSpPr/>
          <p:nvPr/>
        </p:nvSpPr>
        <p:spPr>
          <a:xfrm>
            <a:off x="6309360" y="5349240"/>
            <a:ext cx="5029200" cy="1051560"/>
          </a:xfrm>
          <a:prstGeom prst="rect">
            <a:avLst/>
          </a:prstGeom>
          <a:noFill/>
          <a:ln/>
        </p:spPr>
        <p:txBody>
          <a:bodyPr wrap="square" rtlCol="0" anchor="ctr"/>
          <a:lstStyle/>
          <a:p>
            <a:pPr marL="0" indent="0">
              <a:lnSpc>
                <a:spcPct val="125000"/>
              </a:lnSpc>
              <a:buNone/>
            </a:pPr>
            <a:r>
              <a:rPr lang="en-US" sz="1200" dirty="0">
                <a:solidFill>
                  <a:srgbClr val="D7E6F0"/>
                </a:solidFill>
                <a:latin typeface="Calibri" pitchFamily="34" charset="0"/>
                <a:ea typeface="Calibri" pitchFamily="34" charset="-122"/>
                <a:cs typeface="Calibri" pitchFamily="34" charset="-120"/>
              </a:rPr>
              <a:t>Performance monitoring should consider both the scale of implementation and coverage efficiency rather than relying on FHTC volume alone.</a:t>
            </a:r>
            <a:endParaRPr lang="en-US" sz="1200" dirty="0"/>
          </a:p>
        </p:txBody>
      </p:sp>
      <p:sp>
        <p:nvSpPr>
          <p:cNvPr id="30" name="Text 27"/>
          <p:cNvSpPr/>
          <p:nvPr/>
        </p:nvSpPr>
        <p:spPr>
          <a:xfrm>
            <a:off x="11506387" y="6492240"/>
            <a:ext cx="548640" cy="274320"/>
          </a:xfrm>
          <a:prstGeom prst="rect">
            <a:avLst/>
          </a:prstGeom>
          <a:noFill/>
          <a:ln/>
        </p:spPr>
        <p:txBody>
          <a:bodyPr wrap="square" rtlCol="0" anchor="ctr"/>
          <a:lstStyle/>
          <a:p>
            <a:pPr marL="0" indent="0" algn="r">
              <a:buNone/>
            </a:pPr>
            <a:r>
              <a:rPr lang="en-US" sz="1000" b="1" dirty="0">
                <a:solidFill>
                  <a:schemeClr val="bg1"/>
                </a:solidFill>
                <a:latin typeface="Calibri" pitchFamily="34" charset="0"/>
                <a:ea typeface="Calibri" pitchFamily="34" charset="-122"/>
                <a:cs typeface="Calibri" pitchFamily="34" charset="-120"/>
              </a:rPr>
              <a:t>14</a:t>
            </a:r>
            <a:endParaRPr lang="en-US" sz="1000" b="1" dirty="0">
              <a:solidFill>
                <a:schemeClr val="bg1"/>
              </a:solidFill>
            </a:endParaRPr>
          </a:p>
        </p:txBody>
      </p:sp>
      <p:sp>
        <p:nvSpPr>
          <p:cNvPr id="31" name="Text 28"/>
          <p:cNvSpPr/>
          <p:nvPr/>
        </p:nvSpPr>
        <p:spPr>
          <a:xfrm>
            <a:off x="9220387" y="6492240"/>
            <a:ext cx="2560320" cy="274320"/>
          </a:xfrm>
          <a:prstGeom prst="rect">
            <a:avLst/>
          </a:prstGeom>
          <a:noFill/>
          <a:ln/>
        </p:spPr>
        <p:txBody>
          <a:bodyPr wrap="square" rtlCol="0" anchor="ctr"/>
          <a:lstStyle/>
          <a:p>
            <a:pPr marL="0" indent="0" algn="r">
              <a:buNone/>
            </a:pPr>
            <a:r>
              <a:rPr lang="en-US" sz="900" b="1" kern="0" spc="150" dirty="0">
                <a:solidFill>
                  <a:schemeClr val="bg1"/>
                </a:solidFill>
                <a:latin typeface="Calibri" pitchFamily="34" charset="0"/>
                <a:ea typeface="Calibri" pitchFamily="34" charset="-122"/>
                <a:cs typeface="Calibri" pitchFamily="34" charset="-120"/>
              </a:rPr>
              <a:t>BQ 6</a:t>
            </a:r>
            <a:endParaRPr lang="en-US" sz="90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305" y="0"/>
            <a:ext cx="12191695" cy="1417320"/>
          </a:xfrm>
          <a:prstGeom prst="rect">
            <a:avLst/>
          </a:prstGeom>
          <a:solidFill>
            <a:srgbClr val="1B2A4A"/>
          </a:solidFill>
          <a:ln/>
        </p:spPr>
      </p:sp>
      <p:sp>
        <p:nvSpPr>
          <p:cNvPr id="3" name="Text 1"/>
          <p:cNvSpPr/>
          <p:nvPr/>
        </p:nvSpPr>
        <p:spPr>
          <a:xfrm>
            <a:off x="640080" y="292608"/>
            <a:ext cx="8229600" cy="320040"/>
          </a:xfrm>
          <a:prstGeom prst="rect">
            <a:avLst/>
          </a:prstGeom>
          <a:noFill/>
          <a:ln/>
        </p:spPr>
        <p:txBody>
          <a:bodyPr wrap="square" rtlCol="0" anchor="ctr"/>
          <a:lstStyle/>
          <a:p>
            <a:pPr marL="0" indent="0">
              <a:buNone/>
            </a:pPr>
            <a:r>
              <a:rPr lang="en-US" sz="2000" b="1" kern="0" spc="200" dirty="0">
                <a:solidFill>
                  <a:srgbClr val="E8763C"/>
                </a:solidFill>
                <a:latin typeface="Calibri" pitchFamily="34" charset="0"/>
                <a:ea typeface="Calibri" pitchFamily="34" charset="-122"/>
                <a:cs typeface="Calibri" pitchFamily="34" charset="-120"/>
              </a:rPr>
              <a:t>BUSINESS QUESTION 7</a:t>
            </a:r>
            <a:endParaRPr lang="en-US" sz="2000" dirty="0"/>
          </a:p>
        </p:txBody>
      </p:sp>
      <p:sp>
        <p:nvSpPr>
          <p:cNvPr id="4" name="Text 2"/>
          <p:cNvSpPr/>
          <p:nvPr/>
        </p:nvSpPr>
        <p:spPr>
          <a:xfrm>
            <a:off x="640080" y="621792"/>
            <a:ext cx="10881360" cy="731520"/>
          </a:xfrm>
          <a:prstGeom prst="rect">
            <a:avLst/>
          </a:prstGeom>
          <a:noFill/>
          <a:ln/>
        </p:spPr>
        <p:txBody>
          <a:bodyPr wrap="square" rtlCol="0" anchor="t"/>
          <a:lstStyle/>
          <a:p>
            <a:pPr marL="0" indent="0">
              <a:buNone/>
            </a:pPr>
            <a:r>
              <a:rPr lang="en-US" sz="2000" b="1" i="1" dirty="0">
                <a:solidFill>
                  <a:srgbClr val="FFFFFF"/>
                </a:solidFill>
                <a:latin typeface="Cambria" pitchFamily="34" charset="0"/>
                <a:ea typeface="Cambria" pitchFamily="34" charset="-122"/>
                <a:cs typeface="Cambria" pitchFamily="34" charset="-120"/>
              </a:rPr>
              <a:t>"Which districts should receive greater monitoring attention based on coverage performance?"</a:t>
            </a:r>
            <a:endParaRPr lang="en-US" sz="2000" dirty="0"/>
          </a:p>
        </p:txBody>
      </p:sp>
      <p:sp>
        <p:nvSpPr>
          <p:cNvPr id="5" name="Shape 3"/>
          <p:cNvSpPr/>
          <p:nvPr/>
        </p:nvSpPr>
        <p:spPr>
          <a:xfrm>
            <a:off x="675968" y="1645920"/>
            <a:ext cx="3931920" cy="3200400"/>
          </a:xfrm>
          <a:prstGeom prst="roundRect">
            <a:avLst>
              <a:gd name="adj" fmla="val 2857"/>
            </a:avLst>
          </a:prstGeom>
          <a:solidFill>
            <a:srgbClr val="1B2A4A"/>
          </a:solidFill>
          <a:ln/>
          <a:effectLst>
            <a:outerShdw blurRad="127000" dist="50800" dir="5400000" algn="bl" rotWithShape="0">
              <a:srgbClr val="000000">
                <a:alpha val="20000"/>
              </a:srgbClr>
            </a:outerShdw>
          </a:effectLst>
        </p:spPr>
      </p:sp>
      <p:sp>
        <p:nvSpPr>
          <p:cNvPr id="6" name="Shape 4"/>
          <p:cNvSpPr/>
          <p:nvPr/>
        </p:nvSpPr>
        <p:spPr>
          <a:xfrm>
            <a:off x="2286000" y="1965960"/>
            <a:ext cx="640080" cy="640080"/>
          </a:xfrm>
          <a:prstGeom prst="ellipse">
            <a:avLst/>
          </a:prstGeom>
          <a:solidFill>
            <a:srgbClr val="24365C"/>
          </a:solidFill>
          <a:ln/>
        </p:spPr>
      </p:sp>
      <p:pic>
        <p:nvPicPr>
          <p:cNvPr id="7" name="Image 0" descr="icons/triangleExclamation_E8763C.png"/>
          <p:cNvPicPr>
            <a:picLocks noChangeAspect="1"/>
          </p:cNvPicPr>
          <p:nvPr/>
        </p:nvPicPr>
        <p:blipFill>
          <a:blip r:embed="rId3"/>
          <a:stretch>
            <a:fillRect/>
          </a:stretch>
        </p:blipFill>
        <p:spPr>
          <a:xfrm>
            <a:off x="2441448" y="2121408"/>
            <a:ext cx="329184" cy="329184"/>
          </a:xfrm>
          <a:prstGeom prst="rect">
            <a:avLst/>
          </a:prstGeom>
        </p:spPr>
      </p:pic>
      <p:sp>
        <p:nvSpPr>
          <p:cNvPr id="8" name="Text 5"/>
          <p:cNvSpPr/>
          <p:nvPr/>
        </p:nvSpPr>
        <p:spPr>
          <a:xfrm>
            <a:off x="822960" y="2788920"/>
            <a:ext cx="3566160" cy="457200"/>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Priority Group</a:t>
            </a:r>
            <a:endParaRPr lang="en-US" sz="2400" dirty="0"/>
          </a:p>
        </p:txBody>
      </p:sp>
      <p:sp>
        <p:nvSpPr>
          <p:cNvPr id="9" name="Text 6"/>
          <p:cNvSpPr/>
          <p:nvPr/>
        </p:nvSpPr>
        <p:spPr>
          <a:xfrm>
            <a:off x="822960" y="3246120"/>
            <a:ext cx="3566160" cy="365760"/>
          </a:xfrm>
          <a:prstGeom prst="rect">
            <a:avLst/>
          </a:prstGeom>
          <a:noFill/>
          <a:ln/>
        </p:spPr>
        <p:txBody>
          <a:bodyPr wrap="square" rtlCol="0" anchor="ctr"/>
          <a:lstStyle/>
          <a:p>
            <a:pPr marL="0" indent="0" algn="ctr">
              <a:buNone/>
            </a:pPr>
            <a:r>
              <a:rPr lang="en-US" sz="1600" b="1" dirty="0">
                <a:solidFill>
                  <a:srgbClr val="E8763C"/>
                </a:solidFill>
                <a:latin typeface="Calibri" pitchFamily="34" charset="0"/>
                <a:ea typeface="Calibri" pitchFamily="34" charset="-122"/>
                <a:cs typeface="Calibri" pitchFamily="34" charset="-120"/>
              </a:rPr>
              <a:t>Lower Coverage Districts</a:t>
            </a:r>
            <a:endParaRPr lang="en-US" sz="1600" dirty="0"/>
          </a:p>
        </p:txBody>
      </p:sp>
      <p:sp>
        <p:nvSpPr>
          <p:cNvPr id="10" name="Shape 7"/>
          <p:cNvSpPr/>
          <p:nvPr/>
        </p:nvSpPr>
        <p:spPr>
          <a:xfrm>
            <a:off x="1188720" y="3749040"/>
            <a:ext cx="2834640" cy="0"/>
          </a:xfrm>
          <a:prstGeom prst="line">
            <a:avLst/>
          </a:prstGeom>
          <a:noFill/>
          <a:ln w="12700">
            <a:solidFill>
              <a:srgbClr val="33507F"/>
            </a:solidFill>
            <a:prstDash val="solid"/>
          </a:ln>
        </p:spPr>
      </p:sp>
      <p:sp>
        <p:nvSpPr>
          <p:cNvPr id="11" name="Text 8"/>
          <p:cNvSpPr/>
          <p:nvPr/>
        </p:nvSpPr>
        <p:spPr>
          <a:xfrm>
            <a:off x="1005840" y="3913632"/>
            <a:ext cx="3200400" cy="822960"/>
          </a:xfrm>
          <a:prstGeom prst="rect">
            <a:avLst/>
          </a:prstGeom>
          <a:noFill/>
          <a:ln/>
        </p:spPr>
        <p:txBody>
          <a:bodyPr wrap="square" rtlCol="0" anchor="ctr"/>
          <a:lstStyle/>
          <a:p>
            <a:pPr marL="0" indent="0" algn="ctr">
              <a:buNone/>
            </a:pPr>
            <a:r>
              <a:rPr lang="en-US" sz="1400" i="1" dirty="0">
                <a:solidFill>
                  <a:srgbClr val="D7E6F0"/>
                </a:solidFill>
                <a:latin typeface="Calibri" pitchFamily="34" charset="0"/>
                <a:ea typeface="Calibri" pitchFamily="34" charset="-122"/>
                <a:cs typeface="Calibri" pitchFamily="34" charset="-120"/>
              </a:rPr>
              <a:t>Substantially below the overall average coverage of approximately 59.3%</a:t>
            </a:r>
            <a:endParaRPr lang="en-US" sz="1400" dirty="0"/>
          </a:p>
        </p:txBody>
      </p:sp>
      <p:sp>
        <p:nvSpPr>
          <p:cNvPr id="12" name="Shape 9"/>
          <p:cNvSpPr/>
          <p:nvPr/>
        </p:nvSpPr>
        <p:spPr>
          <a:xfrm>
            <a:off x="4892040" y="1691640"/>
            <a:ext cx="3200400" cy="621792"/>
          </a:xfrm>
          <a:prstGeom prst="roundRect">
            <a:avLst>
              <a:gd name="adj" fmla="val 10294"/>
            </a:avLst>
          </a:prstGeom>
          <a:solidFill>
            <a:srgbClr val="FFFFFF"/>
          </a:solidFill>
          <a:ln w="12700">
            <a:solidFill>
              <a:srgbClr val="D9E3EC"/>
            </a:solidFill>
            <a:prstDash val="solid"/>
          </a:ln>
          <a:effectLst>
            <a:outerShdw blurRad="63500" dist="25400" dir="5400000" algn="bl" rotWithShape="0">
              <a:srgbClr val="1B2A4A">
                <a:alpha val="7000"/>
              </a:srgbClr>
            </a:outerShdw>
          </a:effectLst>
        </p:spPr>
      </p:sp>
      <p:sp>
        <p:nvSpPr>
          <p:cNvPr id="13" name="Text 10"/>
          <p:cNvSpPr/>
          <p:nvPr/>
        </p:nvSpPr>
        <p:spPr>
          <a:xfrm>
            <a:off x="5056632" y="1691640"/>
            <a:ext cx="1920240" cy="621792"/>
          </a:xfrm>
          <a:prstGeom prst="rect">
            <a:avLst/>
          </a:prstGeom>
          <a:noFill/>
          <a:ln/>
        </p:spPr>
        <p:txBody>
          <a:bodyPr wrap="square" rtlCol="0" anchor="ctr"/>
          <a:lstStyle/>
          <a:p>
            <a:pPr marL="0" indent="0">
              <a:buNone/>
            </a:pPr>
            <a:r>
              <a:rPr lang="en-US" dirty="0">
                <a:solidFill>
                  <a:srgbClr val="1B2A4A"/>
                </a:solidFill>
                <a:latin typeface="Calibri" pitchFamily="34" charset="0"/>
                <a:ea typeface="Calibri" pitchFamily="34" charset="-122"/>
                <a:cs typeface="Calibri" pitchFamily="34" charset="-120"/>
              </a:rPr>
              <a:t>Burhanpur</a:t>
            </a:r>
            <a:endParaRPr lang="en-US" dirty="0"/>
          </a:p>
        </p:txBody>
      </p:sp>
      <p:sp>
        <p:nvSpPr>
          <p:cNvPr id="14" name="Text 11"/>
          <p:cNvSpPr/>
          <p:nvPr/>
        </p:nvSpPr>
        <p:spPr>
          <a:xfrm>
            <a:off x="6720840" y="1691640"/>
            <a:ext cx="1234440" cy="621792"/>
          </a:xfrm>
          <a:prstGeom prst="rect">
            <a:avLst/>
          </a:prstGeom>
          <a:noFill/>
          <a:ln/>
        </p:spPr>
        <p:txBody>
          <a:bodyPr wrap="square" rtlCol="0" anchor="ctr"/>
          <a:lstStyle/>
          <a:p>
            <a:pPr marL="0" indent="0" algn="r">
              <a:buNone/>
            </a:pPr>
            <a:r>
              <a:rPr lang="en-US" b="1" dirty="0">
                <a:solidFill>
                  <a:srgbClr val="E8763C"/>
                </a:solidFill>
                <a:latin typeface="Cambria" pitchFamily="34" charset="0"/>
                <a:ea typeface="Cambria" pitchFamily="34" charset="-122"/>
                <a:cs typeface="Cambria" pitchFamily="34" charset="-120"/>
              </a:rPr>
              <a:t>40.0%</a:t>
            </a:r>
            <a:endParaRPr lang="en-US" dirty="0"/>
          </a:p>
        </p:txBody>
      </p:sp>
      <p:sp>
        <p:nvSpPr>
          <p:cNvPr id="15" name="Shape 12"/>
          <p:cNvSpPr/>
          <p:nvPr/>
        </p:nvSpPr>
        <p:spPr>
          <a:xfrm>
            <a:off x="8275320" y="1691640"/>
            <a:ext cx="3200400" cy="621792"/>
          </a:xfrm>
          <a:prstGeom prst="roundRect">
            <a:avLst>
              <a:gd name="adj" fmla="val 10294"/>
            </a:avLst>
          </a:prstGeom>
          <a:solidFill>
            <a:srgbClr val="FFFFFF"/>
          </a:solidFill>
          <a:ln w="12700">
            <a:solidFill>
              <a:srgbClr val="D9E3EC"/>
            </a:solidFill>
            <a:prstDash val="solid"/>
          </a:ln>
          <a:effectLst>
            <a:outerShdw blurRad="63500" dist="25400" dir="5400000" algn="bl" rotWithShape="0">
              <a:srgbClr val="1B2A4A">
                <a:alpha val="7000"/>
              </a:srgbClr>
            </a:outerShdw>
          </a:effectLst>
        </p:spPr>
      </p:sp>
      <p:sp>
        <p:nvSpPr>
          <p:cNvPr id="16" name="Text 13"/>
          <p:cNvSpPr/>
          <p:nvPr/>
        </p:nvSpPr>
        <p:spPr>
          <a:xfrm>
            <a:off x="8439912" y="1691640"/>
            <a:ext cx="1920240" cy="621792"/>
          </a:xfrm>
          <a:prstGeom prst="rect">
            <a:avLst/>
          </a:prstGeom>
          <a:noFill/>
          <a:ln/>
        </p:spPr>
        <p:txBody>
          <a:bodyPr wrap="square" rtlCol="0" anchor="ctr"/>
          <a:lstStyle/>
          <a:p>
            <a:pPr marL="0" indent="0">
              <a:buNone/>
            </a:pPr>
            <a:r>
              <a:rPr lang="en-US" sz="1200" dirty="0">
                <a:solidFill>
                  <a:srgbClr val="1B2A4A"/>
                </a:solidFill>
                <a:latin typeface="Calibri" pitchFamily="34" charset="0"/>
                <a:ea typeface="Calibri" pitchFamily="34" charset="-122"/>
                <a:cs typeface="Calibri" pitchFamily="34" charset="-120"/>
              </a:rPr>
              <a:t>Alirajpur</a:t>
            </a:r>
            <a:endParaRPr lang="en-US" sz="1200" dirty="0"/>
          </a:p>
        </p:txBody>
      </p:sp>
      <p:sp>
        <p:nvSpPr>
          <p:cNvPr id="17" name="Text 14"/>
          <p:cNvSpPr/>
          <p:nvPr/>
        </p:nvSpPr>
        <p:spPr>
          <a:xfrm>
            <a:off x="10104120" y="1691640"/>
            <a:ext cx="1234440" cy="621792"/>
          </a:xfrm>
          <a:prstGeom prst="rect">
            <a:avLst/>
          </a:prstGeom>
          <a:noFill/>
          <a:ln/>
        </p:spPr>
        <p:txBody>
          <a:bodyPr wrap="square" rtlCol="0" anchor="ctr"/>
          <a:lstStyle/>
          <a:p>
            <a:pPr marL="0" indent="0" algn="r">
              <a:buNone/>
            </a:pPr>
            <a:r>
              <a:rPr lang="en-US" b="1" dirty="0">
                <a:solidFill>
                  <a:srgbClr val="E8763C"/>
                </a:solidFill>
                <a:latin typeface="Cambria" pitchFamily="34" charset="0"/>
                <a:ea typeface="Cambria" pitchFamily="34" charset="-122"/>
                <a:cs typeface="Cambria" pitchFamily="34" charset="-120"/>
              </a:rPr>
              <a:t>40.3%</a:t>
            </a:r>
            <a:endParaRPr lang="en-US" dirty="0"/>
          </a:p>
        </p:txBody>
      </p:sp>
      <p:sp>
        <p:nvSpPr>
          <p:cNvPr id="18" name="Shape 15"/>
          <p:cNvSpPr/>
          <p:nvPr/>
        </p:nvSpPr>
        <p:spPr>
          <a:xfrm>
            <a:off x="4892040" y="2441448"/>
            <a:ext cx="3200400" cy="621792"/>
          </a:xfrm>
          <a:prstGeom prst="roundRect">
            <a:avLst>
              <a:gd name="adj" fmla="val 10294"/>
            </a:avLst>
          </a:prstGeom>
          <a:solidFill>
            <a:srgbClr val="FFFFFF"/>
          </a:solidFill>
          <a:ln w="12700">
            <a:solidFill>
              <a:srgbClr val="D9E3EC"/>
            </a:solidFill>
            <a:prstDash val="solid"/>
          </a:ln>
          <a:effectLst>
            <a:outerShdw blurRad="63500" dist="25400" dir="5400000" algn="bl" rotWithShape="0">
              <a:srgbClr val="1B2A4A">
                <a:alpha val="7000"/>
              </a:srgbClr>
            </a:outerShdw>
          </a:effectLst>
        </p:spPr>
      </p:sp>
      <p:sp>
        <p:nvSpPr>
          <p:cNvPr id="19" name="Text 16"/>
          <p:cNvSpPr/>
          <p:nvPr/>
        </p:nvSpPr>
        <p:spPr>
          <a:xfrm>
            <a:off x="5056632" y="2441448"/>
            <a:ext cx="1920240" cy="621792"/>
          </a:xfrm>
          <a:prstGeom prst="rect">
            <a:avLst/>
          </a:prstGeom>
          <a:noFill/>
          <a:ln/>
        </p:spPr>
        <p:txBody>
          <a:bodyPr wrap="square" rtlCol="0" anchor="ctr"/>
          <a:lstStyle/>
          <a:p>
            <a:pPr marL="0" indent="0">
              <a:buNone/>
            </a:pPr>
            <a:r>
              <a:rPr lang="en-US" sz="2000" dirty="0">
                <a:solidFill>
                  <a:srgbClr val="1B2A4A"/>
                </a:solidFill>
                <a:latin typeface="Calibri" pitchFamily="34" charset="0"/>
                <a:ea typeface="Calibri" pitchFamily="34" charset="-122"/>
                <a:cs typeface="Calibri" pitchFamily="34" charset="-120"/>
              </a:rPr>
              <a:t>Khargone</a:t>
            </a:r>
            <a:endParaRPr lang="en-US" sz="2000" dirty="0"/>
          </a:p>
        </p:txBody>
      </p:sp>
      <p:sp>
        <p:nvSpPr>
          <p:cNvPr id="20" name="Text 17"/>
          <p:cNvSpPr/>
          <p:nvPr/>
        </p:nvSpPr>
        <p:spPr>
          <a:xfrm>
            <a:off x="6720840" y="2441448"/>
            <a:ext cx="1234440" cy="621792"/>
          </a:xfrm>
          <a:prstGeom prst="rect">
            <a:avLst/>
          </a:prstGeom>
          <a:noFill/>
          <a:ln/>
        </p:spPr>
        <p:txBody>
          <a:bodyPr wrap="square" rtlCol="0" anchor="ctr"/>
          <a:lstStyle/>
          <a:p>
            <a:pPr marL="0" indent="0" algn="r">
              <a:buNone/>
            </a:pPr>
            <a:r>
              <a:rPr lang="en-US" b="1" dirty="0">
                <a:solidFill>
                  <a:srgbClr val="E8763C"/>
                </a:solidFill>
                <a:latin typeface="Cambria" pitchFamily="34" charset="0"/>
                <a:ea typeface="Cambria" pitchFamily="34" charset="-122"/>
                <a:cs typeface="Cambria" pitchFamily="34" charset="-120"/>
              </a:rPr>
              <a:t>40.3%</a:t>
            </a:r>
            <a:endParaRPr lang="en-US" dirty="0"/>
          </a:p>
        </p:txBody>
      </p:sp>
      <p:sp>
        <p:nvSpPr>
          <p:cNvPr id="21" name="Shape 18"/>
          <p:cNvSpPr/>
          <p:nvPr/>
        </p:nvSpPr>
        <p:spPr>
          <a:xfrm>
            <a:off x="8275320" y="2441448"/>
            <a:ext cx="3200400" cy="621792"/>
          </a:xfrm>
          <a:prstGeom prst="roundRect">
            <a:avLst>
              <a:gd name="adj" fmla="val 10294"/>
            </a:avLst>
          </a:prstGeom>
          <a:solidFill>
            <a:srgbClr val="FFFFFF"/>
          </a:solidFill>
          <a:ln w="12700">
            <a:solidFill>
              <a:srgbClr val="D9E3EC"/>
            </a:solidFill>
            <a:prstDash val="solid"/>
          </a:ln>
          <a:effectLst>
            <a:outerShdw blurRad="63500" dist="25400" dir="5400000" algn="bl" rotWithShape="0">
              <a:srgbClr val="1B2A4A">
                <a:alpha val="7000"/>
              </a:srgbClr>
            </a:outerShdw>
          </a:effectLst>
        </p:spPr>
      </p:sp>
      <p:sp>
        <p:nvSpPr>
          <p:cNvPr id="22" name="Text 19"/>
          <p:cNvSpPr/>
          <p:nvPr/>
        </p:nvSpPr>
        <p:spPr>
          <a:xfrm>
            <a:off x="8439912" y="2441448"/>
            <a:ext cx="1920240" cy="621792"/>
          </a:xfrm>
          <a:prstGeom prst="rect">
            <a:avLst/>
          </a:prstGeom>
          <a:noFill/>
          <a:ln/>
        </p:spPr>
        <p:txBody>
          <a:bodyPr wrap="square" rtlCol="0" anchor="ctr"/>
          <a:lstStyle/>
          <a:p>
            <a:pPr marL="0" indent="0">
              <a:buNone/>
            </a:pPr>
            <a:r>
              <a:rPr lang="en-US" sz="1200" dirty="0">
                <a:solidFill>
                  <a:srgbClr val="1B2A4A"/>
                </a:solidFill>
                <a:latin typeface="Calibri" pitchFamily="34" charset="0"/>
                <a:ea typeface="Calibri" pitchFamily="34" charset="-122"/>
                <a:cs typeface="Calibri" pitchFamily="34" charset="-120"/>
              </a:rPr>
              <a:t>Damoh</a:t>
            </a:r>
            <a:endParaRPr lang="en-US" sz="1200" dirty="0"/>
          </a:p>
        </p:txBody>
      </p:sp>
      <p:sp>
        <p:nvSpPr>
          <p:cNvPr id="23" name="Text 20"/>
          <p:cNvSpPr/>
          <p:nvPr/>
        </p:nvSpPr>
        <p:spPr>
          <a:xfrm>
            <a:off x="10104120" y="2441448"/>
            <a:ext cx="1234440" cy="621792"/>
          </a:xfrm>
          <a:prstGeom prst="rect">
            <a:avLst/>
          </a:prstGeom>
          <a:noFill/>
          <a:ln/>
        </p:spPr>
        <p:txBody>
          <a:bodyPr wrap="square" rtlCol="0" anchor="ctr"/>
          <a:lstStyle/>
          <a:p>
            <a:pPr marL="0" indent="0" algn="r">
              <a:buNone/>
            </a:pPr>
            <a:r>
              <a:rPr lang="en-US" b="1" dirty="0">
                <a:solidFill>
                  <a:srgbClr val="E8763C"/>
                </a:solidFill>
                <a:latin typeface="Cambria" pitchFamily="34" charset="0"/>
                <a:ea typeface="Cambria" pitchFamily="34" charset="-122"/>
                <a:cs typeface="Cambria" pitchFamily="34" charset="-120"/>
              </a:rPr>
              <a:t>40.5%</a:t>
            </a:r>
            <a:endParaRPr lang="en-US" dirty="0"/>
          </a:p>
        </p:txBody>
      </p:sp>
      <p:sp>
        <p:nvSpPr>
          <p:cNvPr id="24" name="Shape 21"/>
          <p:cNvSpPr/>
          <p:nvPr/>
        </p:nvSpPr>
        <p:spPr>
          <a:xfrm>
            <a:off x="4892040" y="3191256"/>
            <a:ext cx="3200400" cy="621792"/>
          </a:xfrm>
          <a:prstGeom prst="roundRect">
            <a:avLst>
              <a:gd name="adj" fmla="val 10294"/>
            </a:avLst>
          </a:prstGeom>
          <a:solidFill>
            <a:srgbClr val="FFFFFF"/>
          </a:solidFill>
          <a:ln w="12700">
            <a:solidFill>
              <a:srgbClr val="D9E3EC"/>
            </a:solidFill>
            <a:prstDash val="solid"/>
          </a:ln>
          <a:effectLst>
            <a:outerShdw blurRad="63500" dist="25400" dir="5400000" algn="bl" rotWithShape="0">
              <a:srgbClr val="1B2A4A">
                <a:alpha val="7000"/>
              </a:srgbClr>
            </a:outerShdw>
          </a:effectLst>
        </p:spPr>
      </p:sp>
      <p:sp>
        <p:nvSpPr>
          <p:cNvPr id="25" name="Text 22"/>
          <p:cNvSpPr/>
          <p:nvPr/>
        </p:nvSpPr>
        <p:spPr>
          <a:xfrm>
            <a:off x="5056632" y="3191256"/>
            <a:ext cx="1920240" cy="621792"/>
          </a:xfrm>
          <a:prstGeom prst="rect">
            <a:avLst/>
          </a:prstGeom>
          <a:noFill/>
          <a:ln/>
        </p:spPr>
        <p:txBody>
          <a:bodyPr wrap="square" rtlCol="0" anchor="ctr"/>
          <a:lstStyle/>
          <a:p>
            <a:pPr marL="0" indent="0">
              <a:buNone/>
            </a:pPr>
            <a:r>
              <a:rPr lang="en-US" dirty="0">
                <a:solidFill>
                  <a:srgbClr val="1B2A4A"/>
                </a:solidFill>
                <a:latin typeface="Calibri" pitchFamily="34" charset="0"/>
                <a:ea typeface="Calibri" pitchFamily="34" charset="-122"/>
                <a:cs typeface="Calibri" pitchFamily="34" charset="-120"/>
              </a:rPr>
              <a:t>Mandsaur</a:t>
            </a:r>
            <a:endParaRPr lang="en-US" dirty="0"/>
          </a:p>
        </p:txBody>
      </p:sp>
      <p:sp>
        <p:nvSpPr>
          <p:cNvPr id="26" name="Text 23"/>
          <p:cNvSpPr/>
          <p:nvPr/>
        </p:nvSpPr>
        <p:spPr>
          <a:xfrm>
            <a:off x="6720840" y="3191256"/>
            <a:ext cx="1234440" cy="621792"/>
          </a:xfrm>
          <a:prstGeom prst="rect">
            <a:avLst/>
          </a:prstGeom>
          <a:noFill/>
          <a:ln/>
        </p:spPr>
        <p:txBody>
          <a:bodyPr wrap="square" rtlCol="0" anchor="ctr"/>
          <a:lstStyle/>
          <a:p>
            <a:pPr marL="0" indent="0" algn="r">
              <a:buNone/>
            </a:pPr>
            <a:r>
              <a:rPr lang="en-US" b="1" dirty="0">
                <a:solidFill>
                  <a:srgbClr val="E8763C"/>
                </a:solidFill>
                <a:latin typeface="Cambria" pitchFamily="34" charset="0"/>
                <a:ea typeface="Cambria" pitchFamily="34" charset="-122"/>
                <a:cs typeface="Cambria" pitchFamily="34" charset="-120"/>
              </a:rPr>
              <a:t>40.5%</a:t>
            </a:r>
            <a:endParaRPr lang="en-US" dirty="0"/>
          </a:p>
        </p:txBody>
      </p:sp>
      <p:sp>
        <p:nvSpPr>
          <p:cNvPr id="27" name="Shape 24"/>
          <p:cNvSpPr/>
          <p:nvPr/>
        </p:nvSpPr>
        <p:spPr>
          <a:xfrm>
            <a:off x="8275320" y="3191256"/>
            <a:ext cx="3200400" cy="621792"/>
          </a:xfrm>
          <a:prstGeom prst="roundRect">
            <a:avLst>
              <a:gd name="adj" fmla="val 10294"/>
            </a:avLst>
          </a:prstGeom>
          <a:solidFill>
            <a:srgbClr val="FFFFFF"/>
          </a:solidFill>
          <a:ln w="12700">
            <a:solidFill>
              <a:srgbClr val="D9E3EC"/>
            </a:solidFill>
            <a:prstDash val="solid"/>
          </a:ln>
          <a:effectLst>
            <a:outerShdw blurRad="63500" dist="25400" dir="5400000" algn="bl" rotWithShape="0">
              <a:srgbClr val="1B2A4A">
                <a:alpha val="7000"/>
              </a:srgbClr>
            </a:outerShdw>
          </a:effectLst>
        </p:spPr>
      </p:sp>
      <p:sp>
        <p:nvSpPr>
          <p:cNvPr id="28" name="Text 25"/>
          <p:cNvSpPr/>
          <p:nvPr/>
        </p:nvSpPr>
        <p:spPr>
          <a:xfrm>
            <a:off x="8439912" y="3191256"/>
            <a:ext cx="1920240" cy="621792"/>
          </a:xfrm>
          <a:prstGeom prst="rect">
            <a:avLst/>
          </a:prstGeom>
          <a:noFill/>
          <a:ln/>
        </p:spPr>
        <p:txBody>
          <a:bodyPr wrap="square" rtlCol="0" anchor="ctr"/>
          <a:lstStyle/>
          <a:p>
            <a:pPr marL="0" indent="0">
              <a:buNone/>
            </a:pPr>
            <a:r>
              <a:rPr lang="en-US" sz="1200" dirty="0">
                <a:solidFill>
                  <a:srgbClr val="1B2A4A"/>
                </a:solidFill>
                <a:latin typeface="Calibri" pitchFamily="34" charset="0"/>
                <a:ea typeface="Calibri" pitchFamily="34" charset="-122"/>
                <a:cs typeface="Calibri" pitchFamily="34" charset="-120"/>
              </a:rPr>
              <a:t>Neemuch</a:t>
            </a:r>
            <a:endParaRPr lang="en-US" sz="1200" dirty="0"/>
          </a:p>
        </p:txBody>
      </p:sp>
      <p:sp>
        <p:nvSpPr>
          <p:cNvPr id="29" name="Text 26"/>
          <p:cNvSpPr/>
          <p:nvPr/>
        </p:nvSpPr>
        <p:spPr>
          <a:xfrm>
            <a:off x="10104120" y="3191256"/>
            <a:ext cx="1234440" cy="621792"/>
          </a:xfrm>
          <a:prstGeom prst="rect">
            <a:avLst/>
          </a:prstGeom>
          <a:noFill/>
          <a:ln/>
        </p:spPr>
        <p:txBody>
          <a:bodyPr wrap="square" rtlCol="0" anchor="ctr"/>
          <a:lstStyle/>
          <a:p>
            <a:pPr marL="0" indent="0" algn="r">
              <a:buNone/>
            </a:pPr>
            <a:r>
              <a:rPr lang="en-US" b="1" dirty="0">
                <a:solidFill>
                  <a:srgbClr val="E8763C"/>
                </a:solidFill>
                <a:latin typeface="Cambria" pitchFamily="34" charset="0"/>
                <a:ea typeface="Cambria" pitchFamily="34" charset="-122"/>
                <a:cs typeface="Cambria" pitchFamily="34" charset="-120"/>
              </a:rPr>
              <a:t>41.3%</a:t>
            </a:r>
            <a:endParaRPr lang="en-US" dirty="0"/>
          </a:p>
        </p:txBody>
      </p:sp>
      <p:sp>
        <p:nvSpPr>
          <p:cNvPr id="30" name="Shape 27"/>
          <p:cNvSpPr/>
          <p:nvPr/>
        </p:nvSpPr>
        <p:spPr>
          <a:xfrm>
            <a:off x="4892040" y="3941064"/>
            <a:ext cx="3200400" cy="621792"/>
          </a:xfrm>
          <a:prstGeom prst="roundRect">
            <a:avLst>
              <a:gd name="adj" fmla="val 10294"/>
            </a:avLst>
          </a:prstGeom>
          <a:solidFill>
            <a:srgbClr val="FFFFFF"/>
          </a:solidFill>
          <a:ln w="12700">
            <a:solidFill>
              <a:srgbClr val="D9E3EC"/>
            </a:solidFill>
            <a:prstDash val="solid"/>
          </a:ln>
          <a:effectLst>
            <a:outerShdw blurRad="63500" dist="25400" dir="5400000" algn="bl" rotWithShape="0">
              <a:srgbClr val="1B2A4A">
                <a:alpha val="7000"/>
              </a:srgbClr>
            </a:outerShdw>
          </a:effectLst>
        </p:spPr>
      </p:sp>
      <p:sp>
        <p:nvSpPr>
          <p:cNvPr id="31" name="Text 28"/>
          <p:cNvSpPr/>
          <p:nvPr/>
        </p:nvSpPr>
        <p:spPr>
          <a:xfrm>
            <a:off x="5056632" y="3941064"/>
            <a:ext cx="1920240" cy="621792"/>
          </a:xfrm>
          <a:prstGeom prst="rect">
            <a:avLst/>
          </a:prstGeom>
          <a:noFill/>
          <a:ln/>
        </p:spPr>
        <p:txBody>
          <a:bodyPr wrap="square" rtlCol="0" anchor="ctr"/>
          <a:lstStyle/>
          <a:p>
            <a:pPr marL="0" indent="0">
              <a:buNone/>
            </a:pPr>
            <a:r>
              <a:rPr lang="en-US" dirty="0">
                <a:solidFill>
                  <a:srgbClr val="1B2A4A"/>
                </a:solidFill>
                <a:latin typeface="Calibri" pitchFamily="34" charset="0"/>
                <a:ea typeface="Calibri" pitchFamily="34" charset="-122"/>
                <a:cs typeface="Calibri" pitchFamily="34" charset="-120"/>
              </a:rPr>
              <a:t>Hoshangabad</a:t>
            </a:r>
            <a:endParaRPr lang="en-US" dirty="0"/>
          </a:p>
        </p:txBody>
      </p:sp>
      <p:sp>
        <p:nvSpPr>
          <p:cNvPr id="32" name="Text 29"/>
          <p:cNvSpPr/>
          <p:nvPr/>
        </p:nvSpPr>
        <p:spPr>
          <a:xfrm>
            <a:off x="6720840" y="3941064"/>
            <a:ext cx="1234440" cy="621792"/>
          </a:xfrm>
          <a:prstGeom prst="rect">
            <a:avLst/>
          </a:prstGeom>
          <a:noFill/>
          <a:ln/>
        </p:spPr>
        <p:txBody>
          <a:bodyPr wrap="square" rtlCol="0" anchor="ctr"/>
          <a:lstStyle/>
          <a:p>
            <a:pPr marL="0" indent="0" algn="r">
              <a:buNone/>
            </a:pPr>
            <a:r>
              <a:rPr lang="en-US" b="1" dirty="0">
                <a:solidFill>
                  <a:srgbClr val="E8763C"/>
                </a:solidFill>
                <a:latin typeface="Cambria" pitchFamily="34" charset="0"/>
                <a:ea typeface="Cambria" pitchFamily="34" charset="-122"/>
                <a:cs typeface="Cambria" pitchFamily="34" charset="-120"/>
              </a:rPr>
              <a:t>42.1%</a:t>
            </a:r>
            <a:endParaRPr lang="en-US" dirty="0"/>
          </a:p>
        </p:txBody>
      </p:sp>
      <p:sp>
        <p:nvSpPr>
          <p:cNvPr id="33" name="Shape 30"/>
          <p:cNvSpPr/>
          <p:nvPr/>
        </p:nvSpPr>
        <p:spPr>
          <a:xfrm>
            <a:off x="8275320" y="3941064"/>
            <a:ext cx="3200400" cy="621792"/>
          </a:xfrm>
          <a:prstGeom prst="roundRect">
            <a:avLst>
              <a:gd name="adj" fmla="val 10294"/>
            </a:avLst>
          </a:prstGeom>
          <a:solidFill>
            <a:srgbClr val="FFFFFF"/>
          </a:solidFill>
          <a:ln w="12700">
            <a:solidFill>
              <a:srgbClr val="D9E3EC"/>
            </a:solidFill>
            <a:prstDash val="solid"/>
          </a:ln>
          <a:effectLst>
            <a:outerShdw blurRad="63500" dist="25400" dir="5400000" algn="bl" rotWithShape="0">
              <a:srgbClr val="1B2A4A">
                <a:alpha val="7000"/>
              </a:srgbClr>
            </a:outerShdw>
          </a:effectLst>
        </p:spPr>
      </p:sp>
      <p:sp>
        <p:nvSpPr>
          <p:cNvPr id="34" name="Text 31"/>
          <p:cNvSpPr/>
          <p:nvPr/>
        </p:nvSpPr>
        <p:spPr>
          <a:xfrm>
            <a:off x="8439912" y="3941064"/>
            <a:ext cx="1920240" cy="621792"/>
          </a:xfrm>
          <a:prstGeom prst="rect">
            <a:avLst/>
          </a:prstGeom>
          <a:noFill/>
          <a:ln/>
        </p:spPr>
        <p:txBody>
          <a:bodyPr wrap="square" rtlCol="0" anchor="ctr"/>
          <a:lstStyle/>
          <a:p>
            <a:pPr marL="0" indent="0">
              <a:buNone/>
            </a:pPr>
            <a:r>
              <a:rPr lang="en-US" sz="1200" dirty="0">
                <a:solidFill>
                  <a:srgbClr val="1B2A4A"/>
                </a:solidFill>
                <a:latin typeface="Calibri" pitchFamily="34" charset="0"/>
                <a:ea typeface="Calibri" pitchFamily="34" charset="-122"/>
                <a:cs typeface="Calibri" pitchFamily="34" charset="-120"/>
              </a:rPr>
              <a:t>Sehore</a:t>
            </a:r>
            <a:endParaRPr lang="en-US" sz="1200" dirty="0"/>
          </a:p>
        </p:txBody>
      </p:sp>
      <p:sp>
        <p:nvSpPr>
          <p:cNvPr id="35" name="Text 32"/>
          <p:cNvSpPr/>
          <p:nvPr/>
        </p:nvSpPr>
        <p:spPr>
          <a:xfrm>
            <a:off x="10104120" y="3941064"/>
            <a:ext cx="1234440" cy="621792"/>
          </a:xfrm>
          <a:prstGeom prst="rect">
            <a:avLst/>
          </a:prstGeom>
          <a:noFill/>
          <a:ln/>
        </p:spPr>
        <p:txBody>
          <a:bodyPr wrap="square" rtlCol="0" anchor="ctr"/>
          <a:lstStyle/>
          <a:p>
            <a:pPr marL="0" indent="0" algn="r">
              <a:buNone/>
            </a:pPr>
            <a:r>
              <a:rPr lang="en-US" b="1" dirty="0">
                <a:solidFill>
                  <a:srgbClr val="E8763C"/>
                </a:solidFill>
                <a:latin typeface="Cambria" pitchFamily="34" charset="0"/>
                <a:ea typeface="Cambria" pitchFamily="34" charset="-122"/>
                <a:cs typeface="Cambria" pitchFamily="34" charset="-120"/>
              </a:rPr>
              <a:t>42.1%</a:t>
            </a:r>
            <a:endParaRPr lang="en-US" dirty="0"/>
          </a:p>
        </p:txBody>
      </p:sp>
      <p:sp>
        <p:nvSpPr>
          <p:cNvPr id="36" name="Shape 33"/>
          <p:cNvSpPr/>
          <p:nvPr/>
        </p:nvSpPr>
        <p:spPr>
          <a:xfrm>
            <a:off x="598883" y="5074920"/>
            <a:ext cx="10908792" cy="1481328"/>
          </a:xfrm>
          <a:prstGeom prst="roundRect">
            <a:avLst>
              <a:gd name="adj" fmla="val 4938"/>
            </a:avLst>
          </a:prstGeom>
          <a:solidFill>
            <a:srgbClr val="FFFFFF"/>
          </a:solidFill>
          <a:ln w="12700">
            <a:solidFill>
              <a:srgbClr val="D9E3EC"/>
            </a:solidFill>
            <a:prstDash val="solid"/>
          </a:ln>
          <a:effectLst>
            <a:outerShdw blurRad="76200" dist="25400" dir="5400000" algn="bl" rotWithShape="0">
              <a:srgbClr val="1B2A4A">
                <a:alpha val="8000"/>
              </a:srgbClr>
            </a:outerShdw>
          </a:effectLst>
        </p:spPr>
      </p:sp>
      <p:sp>
        <p:nvSpPr>
          <p:cNvPr id="37" name="Text 34"/>
          <p:cNvSpPr/>
          <p:nvPr/>
        </p:nvSpPr>
        <p:spPr>
          <a:xfrm>
            <a:off x="822960" y="5202936"/>
            <a:ext cx="336194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KEY FINDING</a:t>
            </a:r>
            <a:endParaRPr lang="en-US" sz="1200" dirty="0"/>
          </a:p>
        </p:txBody>
      </p:sp>
      <p:sp>
        <p:nvSpPr>
          <p:cNvPr id="38" name="Text 35"/>
          <p:cNvSpPr/>
          <p:nvPr/>
        </p:nvSpPr>
        <p:spPr>
          <a:xfrm>
            <a:off x="822960" y="5440680"/>
            <a:ext cx="3361944" cy="1005840"/>
          </a:xfrm>
          <a:prstGeom prst="rect">
            <a:avLst/>
          </a:prstGeom>
          <a:noFill/>
          <a:ln/>
        </p:spPr>
        <p:txBody>
          <a:bodyPr wrap="square" rtlCol="0" anchor="ctr"/>
          <a:lstStyle/>
          <a:p>
            <a:pPr marL="0" indent="0">
              <a:lnSpc>
                <a:spcPct val="110000"/>
              </a:lnSpc>
              <a:buNone/>
            </a:pPr>
            <a:r>
              <a:rPr lang="en-US" sz="2000" b="1" dirty="0">
                <a:solidFill>
                  <a:srgbClr val="0B5E8C"/>
                </a:solidFill>
                <a:latin typeface="Cambria" pitchFamily="34" charset="0"/>
                <a:ea typeface="Cambria" pitchFamily="34" charset="-122"/>
                <a:cs typeface="Cambria" pitchFamily="34" charset="-120"/>
              </a:rPr>
              <a:t>Priority Group Identified</a:t>
            </a:r>
            <a:endParaRPr lang="en-US" sz="2000" dirty="0"/>
          </a:p>
        </p:txBody>
      </p:sp>
      <p:sp>
        <p:nvSpPr>
          <p:cNvPr id="39" name="Shape 36"/>
          <p:cNvSpPr/>
          <p:nvPr/>
        </p:nvSpPr>
        <p:spPr>
          <a:xfrm>
            <a:off x="4459224" y="5221224"/>
            <a:ext cx="0" cy="1188720"/>
          </a:xfrm>
          <a:prstGeom prst="line">
            <a:avLst/>
          </a:prstGeom>
          <a:noFill/>
          <a:ln w="12700">
            <a:solidFill>
              <a:srgbClr val="D9E3EC"/>
            </a:solidFill>
            <a:prstDash val="solid"/>
          </a:ln>
        </p:spPr>
      </p:sp>
      <p:sp>
        <p:nvSpPr>
          <p:cNvPr id="40" name="Text 37"/>
          <p:cNvSpPr/>
          <p:nvPr/>
        </p:nvSpPr>
        <p:spPr>
          <a:xfrm>
            <a:off x="4687824" y="5202936"/>
            <a:ext cx="317906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INSIGHT</a:t>
            </a:r>
            <a:endParaRPr lang="en-US" sz="1200" dirty="0"/>
          </a:p>
        </p:txBody>
      </p:sp>
      <p:sp>
        <p:nvSpPr>
          <p:cNvPr id="41" name="Text 38"/>
          <p:cNvSpPr/>
          <p:nvPr/>
        </p:nvSpPr>
        <p:spPr>
          <a:xfrm>
            <a:off x="4687824" y="5440680"/>
            <a:ext cx="3179064" cy="1005840"/>
          </a:xfrm>
          <a:prstGeom prst="rect">
            <a:avLst/>
          </a:prstGeom>
          <a:noFill/>
          <a:ln/>
        </p:spPr>
        <p:txBody>
          <a:bodyPr wrap="square" rtlCol="0" anchor="ctr"/>
          <a:lstStyle/>
          <a:p>
            <a:pPr marL="0" indent="0">
              <a:lnSpc>
                <a:spcPct val="120000"/>
              </a:lnSpc>
              <a:buNone/>
            </a:pPr>
            <a:r>
              <a:rPr lang="en-US" sz="1200" b="1" dirty="0">
                <a:solidFill>
                  <a:srgbClr val="1B2A4A"/>
                </a:solidFill>
                <a:latin typeface="Calibri" pitchFamily="34" charset="0"/>
                <a:ea typeface="Calibri" pitchFamily="34" charset="-122"/>
                <a:cs typeface="Calibri" pitchFamily="34" charset="-120"/>
              </a:rPr>
              <a:t>Several districts have average coverage around 40–43%, substantially below the overall average coverage of approximately 59.3%.</a:t>
            </a:r>
            <a:endParaRPr lang="en-US" sz="1200" b="1" dirty="0"/>
          </a:p>
        </p:txBody>
      </p:sp>
      <p:sp>
        <p:nvSpPr>
          <p:cNvPr id="42" name="Shape 39"/>
          <p:cNvSpPr/>
          <p:nvPr/>
        </p:nvSpPr>
        <p:spPr>
          <a:xfrm>
            <a:off x="8095488" y="5221224"/>
            <a:ext cx="0" cy="1188720"/>
          </a:xfrm>
          <a:prstGeom prst="line">
            <a:avLst/>
          </a:prstGeom>
          <a:noFill/>
          <a:ln w="12700">
            <a:solidFill>
              <a:srgbClr val="D9E3EC"/>
            </a:solidFill>
            <a:prstDash val="solid"/>
          </a:ln>
        </p:spPr>
      </p:sp>
      <p:sp>
        <p:nvSpPr>
          <p:cNvPr id="43" name="Text 40"/>
          <p:cNvSpPr/>
          <p:nvPr/>
        </p:nvSpPr>
        <p:spPr>
          <a:xfrm>
            <a:off x="8324088" y="5202936"/>
            <a:ext cx="3224784" cy="228600"/>
          </a:xfrm>
          <a:prstGeom prst="rect">
            <a:avLst/>
          </a:prstGeom>
          <a:noFill/>
          <a:ln/>
        </p:spPr>
        <p:txBody>
          <a:bodyPr wrap="square" rtlCol="0" anchor="ctr"/>
          <a:lstStyle/>
          <a:p>
            <a:pPr marL="0" indent="0">
              <a:buNone/>
            </a:pPr>
            <a:r>
              <a:rPr lang="en-US" sz="1200" b="1" kern="0" spc="120" dirty="0">
                <a:solidFill>
                  <a:srgbClr val="E8763C"/>
                </a:solidFill>
                <a:latin typeface="Calibri" pitchFamily="34" charset="0"/>
                <a:ea typeface="Calibri" pitchFamily="34" charset="-122"/>
                <a:cs typeface="Calibri" pitchFamily="34" charset="-120"/>
              </a:rPr>
              <a:t>BUSINESS IMPLICATION</a:t>
            </a:r>
            <a:endParaRPr lang="en-US" sz="1200" dirty="0"/>
          </a:p>
        </p:txBody>
      </p:sp>
      <p:sp>
        <p:nvSpPr>
          <p:cNvPr id="44" name="Text 41"/>
          <p:cNvSpPr/>
          <p:nvPr/>
        </p:nvSpPr>
        <p:spPr>
          <a:xfrm>
            <a:off x="8324088" y="5440680"/>
            <a:ext cx="3224784" cy="1005840"/>
          </a:xfrm>
          <a:prstGeom prst="rect">
            <a:avLst/>
          </a:prstGeom>
          <a:noFill/>
          <a:ln/>
        </p:spPr>
        <p:txBody>
          <a:bodyPr wrap="square" rtlCol="0" anchor="ctr"/>
          <a:lstStyle/>
          <a:p>
            <a:pPr marL="0" indent="0">
              <a:lnSpc>
                <a:spcPct val="120000"/>
              </a:lnSpc>
              <a:buNone/>
            </a:pPr>
            <a:r>
              <a:rPr lang="en-US" sz="1200" b="1" dirty="0">
                <a:solidFill>
                  <a:srgbClr val="1B2A4A"/>
                </a:solidFill>
                <a:latin typeface="Calibri" pitchFamily="34" charset="0"/>
                <a:ea typeface="Calibri" pitchFamily="34" charset="-122"/>
                <a:cs typeface="Calibri" pitchFamily="34" charset="-120"/>
              </a:rPr>
              <a:t>These districts can be considered priority areas for deeper investigation, targeted implementation monitoring, and resource planning.</a:t>
            </a:r>
            <a:endParaRPr lang="en-US" sz="1200" b="1" dirty="0"/>
          </a:p>
        </p:txBody>
      </p:sp>
      <p:sp>
        <p:nvSpPr>
          <p:cNvPr id="45" name="Text 42"/>
          <p:cNvSpPr/>
          <p:nvPr/>
        </p:nvSpPr>
        <p:spPr>
          <a:xfrm>
            <a:off x="11368735" y="6537468"/>
            <a:ext cx="548640" cy="274320"/>
          </a:xfrm>
          <a:prstGeom prst="rect">
            <a:avLst/>
          </a:prstGeom>
          <a:noFill/>
          <a:ln/>
        </p:spPr>
        <p:txBody>
          <a:bodyPr wrap="square"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15</a:t>
            </a:r>
            <a:endParaRPr lang="en-US" sz="1000" dirty="0">
              <a:solidFill>
                <a:schemeClr val="bg1"/>
              </a:solidFill>
            </a:endParaRPr>
          </a:p>
        </p:txBody>
      </p:sp>
      <p:sp>
        <p:nvSpPr>
          <p:cNvPr id="46" name="Text 43"/>
          <p:cNvSpPr/>
          <p:nvPr/>
        </p:nvSpPr>
        <p:spPr>
          <a:xfrm>
            <a:off x="8988552" y="6537960"/>
            <a:ext cx="2560320" cy="274320"/>
          </a:xfrm>
          <a:prstGeom prst="rect">
            <a:avLst/>
          </a:prstGeom>
          <a:noFill/>
          <a:ln/>
        </p:spPr>
        <p:txBody>
          <a:bodyPr wrap="square" rtlCol="0" anchor="ctr"/>
          <a:lstStyle/>
          <a:p>
            <a:pPr marL="0" indent="0" algn="r">
              <a:buNone/>
            </a:pPr>
            <a:r>
              <a:rPr lang="en-US" sz="900" b="1" kern="0" spc="150" dirty="0">
                <a:solidFill>
                  <a:schemeClr val="bg1"/>
                </a:solidFill>
                <a:latin typeface="Calibri" pitchFamily="34" charset="0"/>
                <a:ea typeface="Calibri" pitchFamily="34" charset="-122"/>
                <a:cs typeface="Calibri" pitchFamily="34" charset="-120"/>
              </a:rPr>
              <a:t>BQ 7</a:t>
            </a:r>
            <a:endParaRPr lang="en-US" sz="900"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246750"/>
            <a:ext cx="8229600" cy="320040"/>
          </a:xfrm>
          <a:prstGeom prst="rect">
            <a:avLst/>
          </a:prstGeom>
          <a:noFill/>
          <a:ln/>
        </p:spPr>
        <p:txBody>
          <a:bodyPr wrap="square" rtlCol="0" anchor="ctr"/>
          <a:lstStyle/>
          <a:p>
            <a:pPr marL="0" indent="0">
              <a:buNone/>
            </a:pPr>
            <a:r>
              <a:rPr lang="en-US" sz="1600" b="1" kern="0" spc="200" dirty="0">
                <a:solidFill>
                  <a:srgbClr val="E8763C"/>
                </a:solidFill>
                <a:latin typeface="Calibri" pitchFamily="34" charset="0"/>
                <a:ea typeface="Calibri" pitchFamily="34" charset="-122"/>
                <a:cs typeface="Calibri" pitchFamily="34" charset="-120"/>
              </a:rPr>
              <a:t>THE DELIVERABLE</a:t>
            </a:r>
            <a:endParaRPr lang="en-US" sz="1600" dirty="0"/>
          </a:p>
        </p:txBody>
      </p:sp>
      <p:sp>
        <p:nvSpPr>
          <p:cNvPr id="3" name="Text 1"/>
          <p:cNvSpPr/>
          <p:nvPr/>
        </p:nvSpPr>
        <p:spPr>
          <a:xfrm>
            <a:off x="563880" y="548778"/>
            <a:ext cx="10058400" cy="640080"/>
          </a:xfrm>
          <a:prstGeom prst="rect">
            <a:avLst/>
          </a:prstGeom>
          <a:noFill/>
          <a:ln/>
        </p:spPr>
        <p:txBody>
          <a:bodyPr wrap="square" rtlCol="0" anchor="ctr"/>
          <a:lstStyle/>
          <a:p>
            <a:pPr marL="0" indent="0">
              <a:buNone/>
            </a:pPr>
            <a:r>
              <a:rPr lang="en-US" sz="3600" b="1" u="sng" dirty="0">
                <a:solidFill>
                  <a:srgbClr val="FFFFFF"/>
                </a:solidFill>
                <a:latin typeface="Cambria" pitchFamily="34" charset="0"/>
                <a:ea typeface="Cambria" pitchFamily="34" charset="-122"/>
                <a:cs typeface="Cambria" pitchFamily="34" charset="-120"/>
              </a:rPr>
              <a:t>Interactive Excel Dashboard</a:t>
            </a:r>
            <a:endParaRPr lang="en-US" sz="3600" u="sng" dirty="0"/>
          </a:p>
        </p:txBody>
      </p:sp>
      <p:sp>
        <p:nvSpPr>
          <p:cNvPr id="4" name="Text 2"/>
          <p:cNvSpPr/>
          <p:nvPr/>
        </p:nvSpPr>
        <p:spPr>
          <a:xfrm>
            <a:off x="563880" y="1106424"/>
            <a:ext cx="10607040" cy="457200"/>
          </a:xfrm>
          <a:prstGeom prst="rect">
            <a:avLst/>
          </a:prstGeom>
          <a:noFill/>
          <a:ln/>
        </p:spPr>
        <p:txBody>
          <a:bodyPr wrap="square" rtlCol="0" anchor="ctr"/>
          <a:lstStyle/>
          <a:p>
            <a:pPr marL="0" indent="0">
              <a:buNone/>
            </a:pPr>
            <a:r>
              <a:rPr lang="en-US" sz="1600" b="1" i="1" dirty="0">
                <a:solidFill>
                  <a:srgbClr val="BFD9EC"/>
                </a:solidFill>
                <a:latin typeface="Calibri" pitchFamily="34" charset="0"/>
                <a:ea typeface="Calibri" pitchFamily="34" charset="-122"/>
                <a:cs typeface="Calibri" pitchFamily="34" charset="-120"/>
              </a:rPr>
              <a:t>One dashboard. Multiple analytical perspectives</a:t>
            </a:r>
            <a:r>
              <a:rPr lang="en-US" sz="1400" i="1" dirty="0">
                <a:solidFill>
                  <a:srgbClr val="BFD9EC"/>
                </a:solidFill>
                <a:latin typeface="Calibri" pitchFamily="34" charset="0"/>
                <a:ea typeface="Calibri" pitchFamily="34" charset="-122"/>
                <a:cs typeface="Calibri" pitchFamily="34" charset="-120"/>
              </a:rPr>
              <a:t>.</a:t>
            </a:r>
            <a:endParaRPr lang="en-US" sz="1400" dirty="0"/>
          </a:p>
        </p:txBody>
      </p:sp>
      <p:sp>
        <p:nvSpPr>
          <p:cNvPr id="5" name="Shape 3"/>
          <p:cNvSpPr/>
          <p:nvPr/>
        </p:nvSpPr>
        <p:spPr>
          <a:xfrm>
            <a:off x="152399" y="1509936"/>
            <a:ext cx="11934825" cy="4807954"/>
          </a:xfrm>
          <a:prstGeom prst="roundRect">
            <a:avLst>
              <a:gd name="adj" fmla="val 1131"/>
            </a:avLst>
          </a:prstGeom>
          <a:solidFill>
            <a:srgbClr val="0F1B33"/>
          </a:solidFill>
          <a:ln w="15875">
            <a:solidFill>
              <a:srgbClr val="33507F"/>
            </a:solidFill>
            <a:prstDash val="solid"/>
          </a:ln>
          <a:effectLst>
            <a:outerShdw blurRad="203200" dist="76200" dir="5400000" algn="bl" rotWithShape="0">
              <a:srgbClr val="000000">
                <a:alpha val="40000"/>
              </a:srgbClr>
            </a:outerShdw>
          </a:effectLst>
        </p:spPr>
      </p:sp>
      <p:pic>
        <p:nvPicPr>
          <p:cNvPr id="6" name="Image 0" descr="Dashboard.png"/>
          <p:cNvPicPr>
            <a:picLocks noChangeAspect="1"/>
          </p:cNvPicPr>
          <p:nvPr/>
        </p:nvPicPr>
        <p:blipFill>
          <a:blip r:embed="rId3"/>
          <a:stretch>
            <a:fillRect/>
          </a:stretch>
        </p:blipFill>
        <p:spPr>
          <a:xfrm>
            <a:off x="228600" y="1573148"/>
            <a:ext cx="11811001" cy="4672033"/>
          </a:xfrm>
          <a:prstGeom prst="rect">
            <a:avLst/>
          </a:prstGeom>
        </p:spPr>
      </p:pic>
      <p:sp>
        <p:nvSpPr>
          <p:cNvPr id="7" name="Shape 4"/>
          <p:cNvSpPr/>
          <p:nvPr/>
        </p:nvSpPr>
        <p:spPr>
          <a:xfrm>
            <a:off x="81763" y="6355079"/>
            <a:ext cx="1466198" cy="393605"/>
          </a:xfrm>
          <a:prstGeom prst="roundRect">
            <a:avLst>
              <a:gd name="adj" fmla="val 50000"/>
            </a:avLst>
          </a:prstGeom>
          <a:solidFill>
            <a:srgbClr val="24365C"/>
          </a:solidFill>
          <a:ln w="9525">
            <a:solidFill>
              <a:srgbClr val="33507F"/>
            </a:solidFill>
            <a:prstDash val="solid"/>
          </a:ln>
        </p:spPr>
      </p:sp>
      <p:sp>
        <p:nvSpPr>
          <p:cNvPr id="8" name="Text 5"/>
          <p:cNvSpPr/>
          <p:nvPr/>
        </p:nvSpPr>
        <p:spPr>
          <a:xfrm>
            <a:off x="81763" y="6355080"/>
            <a:ext cx="1455420" cy="365760"/>
          </a:xfrm>
          <a:prstGeom prst="rect">
            <a:avLst/>
          </a:prstGeom>
          <a:noFill/>
          <a:ln/>
        </p:spPr>
        <p:txBody>
          <a:bodyPr wrap="square" rtlCol="0" anchor="ctr"/>
          <a:lstStyle/>
          <a:p>
            <a:pPr marL="0" indent="0" algn="ctr">
              <a:buNone/>
            </a:pPr>
            <a:r>
              <a:rPr lang="en-US" sz="1600" dirty="0">
                <a:solidFill>
                  <a:srgbClr val="D7E6F0"/>
                </a:solidFill>
                <a:latin typeface="Calibri" pitchFamily="34" charset="0"/>
                <a:ea typeface="Calibri" pitchFamily="34" charset="-122"/>
                <a:cs typeface="Calibri" pitchFamily="34" charset="-120"/>
              </a:rPr>
              <a:t>KPI Cards</a:t>
            </a:r>
            <a:endParaRPr lang="en-US" sz="1600" dirty="0"/>
          </a:p>
        </p:txBody>
      </p:sp>
      <p:sp>
        <p:nvSpPr>
          <p:cNvPr id="9" name="Shape 6"/>
          <p:cNvSpPr/>
          <p:nvPr/>
        </p:nvSpPr>
        <p:spPr>
          <a:xfrm>
            <a:off x="1614261" y="6372405"/>
            <a:ext cx="1826648" cy="376280"/>
          </a:xfrm>
          <a:prstGeom prst="roundRect">
            <a:avLst>
              <a:gd name="adj" fmla="val 50000"/>
            </a:avLst>
          </a:prstGeom>
          <a:solidFill>
            <a:srgbClr val="24365C"/>
          </a:solidFill>
          <a:ln w="9525">
            <a:solidFill>
              <a:srgbClr val="33507F"/>
            </a:solidFill>
            <a:prstDash val="solid"/>
          </a:ln>
        </p:spPr>
      </p:sp>
      <p:sp>
        <p:nvSpPr>
          <p:cNvPr id="10" name="Text 7"/>
          <p:cNvSpPr/>
          <p:nvPr/>
        </p:nvSpPr>
        <p:spPr>
          <a:xfrm>
            <a:off x="1662436" y="6309222"/>
            <a:ext cx="1802282" cy="475350"/>
          </a:xfrm>
          <a:prstGeom prst="rect">
            <a:avLst/>
          </a:prstGeom>
          <a:noFill/>
          <a:ln/>
        </p:spPr>
        <p:txBody>
          <a:bodyPr wrap="square" rtlCol="0" anchor="ctr"/>
          <a:lstStyle/>
          <a:p>
            <a:pPr marL="0" indent="0" algn="ctr">
              <a:buNone/>
            </a:pPr>
            <a:r>
              <a:rPr lang="en-US" sz="1600" dirty="0">
                <a:solidFill>
                  <a:srgbClr val="D7E6F0"/>
                </a:solidFill>
                <a:latin typeface="Calibri" pitchFamily="34" charset="0"/>
                <a:ea typeface="Calibri" pitchFamily="34" charset="-122"/>
                <a:cs typeface="Calibri" pitchFamily="34" charset="-120"/>
              </a:rPr>
              <a:t>Source Distribution</a:t>
            </a:r>
            <a:endParaRPr lang="en-US" sz="1600" dirty="0"/>
          </a:p>
        </p:txBody>
      </p:sp>
      <p:sp>
        <p:nvSpPr>
          <p:cNvPr id="11" name="Shape 8"/>
          <p:cNvSpPr/>
          <p:nvPr/>
        </p:nvSpPr>
        <p:spPr>
          <a:xfrm>
            <a:off x="3589972" y="6370499"/>
            <a:ext cx="1832036" cy="368505"/>
          </a:xfrm>
          <a:prstGeom prst="roundRect">
            <a:avLst>
              <a:gd name="adj" fmla="val 50000"/>
            </a:avLst>
          </a:prstGeom>
          <a:solidFill>
            <a:srgbClr val="24365C"/>
          </a:solidFill>
          <a:ln w="9525">
            <a:solidFill>
              <a:srgbClr val="33507F"/>
            </a:solidFill>
            <a:prstDash val="solid"/>
          </a:ln>
        </p:spPr>
      </p:sp>
      <p:sp>
        <p:nvSpPr>
          <p:cNvPr id="12" name="Text 9"/>
          <p:cNvSpPr/>
          <p:nvPr/>
        </p:nvSpPr>
        <p:spPr>
          <a:xfrm>
            <a:off x="3613783" y="6344793"/>
            <a:ext cx="1832036" cy="403892"/>
          </a:xfrm>
          <a:prstGeom prst="rect">
            <a:avLst/>
          </a:prstGeom>
          <a:noFill/>
          <a:ln/>
        </p:spPr>
        <p:txBody>
          <a:bodyPr wrap="square" rtlCol="0" anchor="ctr"/>
          <a:lstStyle/>
          <a:p>
            <a:pPr marL="0" indent="0" algn="ctr">
              <a:buNone/>
            </a:pPr>
            <a:r>
              <a:rPr lang="en-US" sz="1600" dirty="0">
                <a:solidFill>
                  <a:srgbClr val="D7E6F0"/>
                </a:solidFill>
                <a:latin typeface="Calibri" pitchFamily="34" charset="0"/>
                <a:ea typeface="Calibri" pitchFamily="34" charset="-122"/>
                <a:cs typeface="Calibri" pitchFamily="34" charset="-120"/>
              </a:rPr>
              <a:t>District Comparison</a:t>
            </a:r>
            <a:endParaRPr lang="en-US" sz="1600" dirty="0"/>
          </a:p>
        </p:txBody>
      </p:sp>
      <p:sp>
        <p:nvSpPr>
          <p:cNvPr id="13" name="Shape 10"/>
          <p:cNvSpPr/>
          <p:nvPr/>
        </p:nvSpPr>
        <p:spPr>
          <a:xfrm>
            <a:off x="5577588" y="6391551"/>
            <a:ext cx="1623311" cy="365760"/>
          </a:xfrm>
          <a:prstGeom prst="roundRect">
            <a:avLst>
              <a:gd name="adj" fmla="val 50000"/>
            </a:avLst>
          </a:prstGeom>
          <a:solidFill>
            <a:srgbClr val="24365C"/>
          </a:solidFill>
          <a:ln w="9525">
            <a:solidFill>
              <a:srgbClr val="33507F"/>
            </a:solidFill>
            <a:prstDash val="solid"/>
          </a:ln>
        </p:spPr>
      </p:sp>
      <p:sp>
        <p:nvSpPr>
          <p:cNvPr id="14" name="Text 11"/>
          <p:cNvSpPr/>
          <p:nvPr/>
        </p:nvSpPr>
        <p:spPr>
          <a:xfrm>
            <a:off x="5661533" y="6382925"/>
            <a:ext cx="1455420" cy="365760"/>
          </a:xfrm>
          <a:prstGeom prst="rect">
            <a:avLst/>
          </a:prstGeom>
          <a:noFill/>
          <a:ln/>
        </p:spPr>
        <p:txBody>
          <a:bodyPr wrap="square" rtlCol="0" anchor="ctr"/>
          <a:lstStyle/>
          <a:p>
            <a:pPr marL="0" indent="0" algn="ctr">
              <a:buNone/>
            </a:pPr>
            <a:r>
              <a:rPr lang="en-US" sz="1600" dirty="0">
                <a:solidFill>
                  <a:srgbClr val="D7E6F0"/>
                </a:solidFill>
                <a:latin typeface="Calibri" pitchFamily="34" charset="0"/>
                <a:ea typeface="Calibri" pitchFamily="34" charset="-122"/>
                <a:cs typeface="Calibri" pitchFamily="34" charset="-120"/>
              </a:rPr>
              <a:t>Trend Analysis</a:t>
            </a:r>
            <a:endParaRPr lang="en-US" sz="1600" dirty="0"/>
          </a:p>
        </p:txBody>
      </p:sp>
      <p:sp>
        <p:nvSpPr>
          <p:cNvPr id="15" name="Shape 12"/>
          <p:cNvSpPr/>
          <p:nvPr/>
        </p:nvSpPr>
        <p:spPr>
          <a:xfrm>
            <a:off x="7349963" y="6373245"/>
            <a:ext cx="2148992" cy="365760"/>
          </a:xfrm>
          <a:prstGeom prst="roundRect">
            <a:avLst>
              <a:gd name="adj" fmla="val 50000"/>
            </a:avLst>
          </a:prstGeom>
          <a:solidFill>
            <a:srgbClr val="24365C"/>
          </a:solidFill>
          <a:ln w="9525">
            <a:solidFill>
              <a:srgbClr val="33507F"/>
            </a:solidFill>
            <a:prstDash val="solid"/>
          </a:ln>
        </p:spPr>
      </p:sp>
      <p:sp>
        <p:nvSpPr>
          <p:cNvPr id="16" name="Text 13"/>
          <p:cNvSpPr/>
          <p:nvPr/>
        </p:nvSpPr>
        <p:spPr>
          <a:xfrm>
            <a:off x="7368158" y="6411615"/>
            <a:ext cx="2148091" cy="309225"/>
          </a:xfrm>
          <a:prstGeom prst="rect">
            <a:avLst/>
          </a:prstGeom>
          <a:noFill/>
          <a:ln/>
        </p:spPr>
        <p:txBody>
          <a:bodyPr wrap="square" rtlCol="0" anchor="ctr"/>
          <a:lstStyle/>
          <a:p>
            <a:pPr marL="0" indent="0" algn="ctr">
              <a:buNone/>
            </a:pPr>
            <a:r>
              <a:rPr lang="en-US" sz="1600" dirty="0">
                <a:solidFill>
                  <a:srgbClr val="D7E6F0"/>
                </a:solidFill>
                <a:latin typeface="Calibri" pitchFamily="34" charset="0"/>
                <a:ea typeface="Calibri" pitchFamily="34" charset="-122"/>
                <a:cs typeface="Calibri" pitchFamily="34" charset="-120"/>
              </a:rPr>
              <a:t>Coverage Performance</a:t>
            </a:r>
            <a:endParaRPr lang="en-US" sz="1600" dirty="0"/>
          </a:p>
        </p:txBody>
      </p:sp>
      <p:sp>
        <p:nvSpPr>
          <p:cNvPr id="17" name="Shape 14"/>
          <p:cNvSpPr/>
          <p:nvPr/>
        </p:nvSpPr>
        <p:spPr>
          <a:xfrm>
            <a:off x="9630724" y="6382925"/>
            <a:ext cx="1455420" cy="365760"/>
          </a:xfrm>
          <a:prstGeom prst="roundRect">
            <a:avLst>
              <a:gd name="adj" fmla="val 50000"/>
            </a:avLst>
          </a:prstGeom>
          <a:solidFill>
            <a:srgbClr val="24365C"/>
          </a:solidFill>
          <a:ln w="9525">
            <a:solidFill>
              <a:srgbClr val="33507F"/>
            </a:solidFill>
            <a:prstDash val="solid"/>
          </a:ln>
        </p:spPr>
      </p:sp>
      <p:sp>
        <p:nvSpPr>
          <p:cNvPr id="18" name="Text 15"/>
          <p:cNvSpPr/>
          <p:nvPr/>
        </p:nvSpPr>
        <p:spPr>
          <a:xfrm>
            <a:off x="9648019" y="6373245"/>
            <a:ext cx="1455420" cy="365760"/>
          </a:xfrm>
          <a:prstGeom prst="rect">
            <a:avLst/>
          </a:prstGeom>
          <a:noFill/>
          <a:ln/>
        </p:spPr>
        <p:txBody>
          <a:bodyPr wrap="square" rtlCol="0" anchor="ctr"/>
          <a:lstStyle/>
          <a:p>
            <a:pPr marL="0" indent="0" algn="ctr">
              <a:buNone/>
            </a:pPr>
            <a:r>
              <a:rPr lang="en-US" sz="1600" dirty="0">
                <a:solidFill>
                  <a:srgbClr val="D7E6F0"/>
                </a:solidFill>
                <a:latin typeface="Calibri" pitchFamily="34" charset="0"/>
                <a:ea typeface="Calibri" pitchFamily="34" charset="-122"/>
                <a:cs typeface="Calibri" pitchFamily="34" charset="-120"/>
              </a:rPr>
              <a:t>District Slicer</a:t>
            </a:r>
            <a:endParaRPr lang="en-US" sz="1600" dirty="0"/>
          </a:p>
        </p:txBody>
      </p:sp>
      <p:sp>
        <p:nvSpPr>
          <p:cNvPr id="19" name="Text 16"/>
          <p:cNvSpPr/>
          <p:nvPr/>
        </p:nvSpPr>
        <p:spPr>
          <a:xfrm>
            <a:off x="11618748" y="6585861"/>
            <a:ext cx="548640" cy="274320"/>
          </a:xfrm>
          <a:prstGeom prst="rect">
            <a:avLst/>
          </a:prstGeom>
          <a:noFill/>
          <a:ln/>
        </p:spPr>
        <p:txBody>
          <a:bodyPr wrap="square" rtlCol="0" anchor="ctr"/>
          <a:lstStyle/>
          <a:p>
            <a:pPr marL="0" indent="0" algn="r">
              <a:buNone/>
            </a:pPr>
            <a:r>
              <a:rPr lang="en-US" sz="1000" b="1" dirty="0">
                <a:solidFill>
                  <a:schemeClr val="bg1"/>
                </a:solidFill>
                <a:latin typeface="Calibri" pitchFamily="34" charset="0"/>
                <a:ea typeface="Calibri" pitchFamily="34" charset="-122"/>
                <a:cs typeface="Calibri" pitchFamily="34" charset="-120"/>
              </a:rPr>
              <a:t>16</a:t>
            </a:r>
            <a:endParaRPr lang="en-US" sz="1000" b="1" dirty="0">
              <a:solidFill>
                <a:schemeClr val="bg1"/>
              </a:solidFill>
            </a:endParaRPr>
          </a:p>
        </p:txBody>
      </p:sp>
      <p:sp>
        <p:nvSpPr>
          <p:cNvPr id="20" name="Text 17"/>
          <p:cNvSpPr/>
          <p:nvPr/>
        </p:nvSpPr>
        <p:spPr>
          <a:xfrm>
            <a:off x="9342120" y="6620608"/>
            <a:ext cx="2560320" cy="274320"/>
          </a:xfrm>
          <a:prstGeom prst="rect">
            <a:avLst/>
          </a:prstGeom>
          <a:noFill/>
          <a:ln/>
        </p:spPr>
        <p:txBody>
          <a:bodyPr wrap="square" rtlCol="0" anchor="ctr"/>
          <a:lstStyle/>
          <a:p>
            <a:pPr marL="0" indent="0" algn="r">
              <a:buNone/>
            </a:pPr>
            <a:r>
              <a:rPr lang="en-US" sz="900" b="1" kern="0" spc="150" dirty="0">
                <a:solidFill>
                  <a:schemeClr val="bg1"/>
                </a:solidFill>
                <a:latin typeface="Calibri" pitchFamily="34" charset="0"/>
                <a:ea typeface="Calibri" pitchFamily="34" charset="-122"/>
                <a:cs typeface="Calibri" pitchFamily="34" charset="-120"/>
              </a:rPr>
              <a:t>DASHBOARD</a:t>
            </a:r>
            <a:endParaRPr lang="en-US" sz="90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0080" y="411480"/>
            <a:ext cx="8229600" cy="320040"/>
          </a:xfrm>
          <a:prstGeom prst="rect">
            <a:avLst/>
          </a:prstGeom>
          <a:noFill/>
          <a:ln/>
        </p:spPr>
        <p:txBody>
          <a:bodyPr wrap="square" rtlCol="0" anchor="ctr"/>
          <a:lstStyle/>
          <a:p>
            <a:pPr marL="0" indent="0">
              <a:buNone/>
            </a:pPr>
            <a:r>
              <a:rPr lang="en-US" sz="2000" b="1" kern="0" spc="200" dirty="0">
                <a:solidFill>
                  <a:srgbClr val="E8763C"/>
                </a:solidFill>
                <a:latin typeface="Calibri" pitchFamily="34" charset="0"/>
                <a:ea typeface="Calibri" pitchFamily="34" charset="-122"/>
                <a:cs typeface="Calibri" pitchFamily="34" charset="-120"/>
              </a:rPr>
              <a:t>KEY RESULTS</a:t>
            </a:r>
            <a:endParaRPr lang="en-US" sz="2000" dirty="0"/>
          </a:p>
        </p:txBody>
      </p:sp>
      <p:sp>
        <p:nvSpPr>
          <p:cNvPr id="3" name="Text 1"/>
          <p:cNvSpPr/>
          <p:nvPr/>
        </p:nvSpPr>
        <p:spPr>
          <a:xfrm>
            <a:off x="640080" y="713232"/>
            <a:ext cx="10607040" cy="822960"/>
          </a:xfrm>
          <a:prstGeom prst="rect">
            <a:avLst/>
          </a:prstGeom>
          <a:noFill/>
          <a:ln/>
        </p:spPr>
        <p:txBody>
          <a:bodyPr wrap="square" rtlCol="0" anchor="ctr"/>
          <a:lstStyle/>
          <a:p>
            <a:pPr marL="0" indent="0">
              <a:buNone/>
            </a:pPr>
            <a:r>
              <a:rPr lang="en-US" sz="3600" b="1" u="sng" dirty="0">
                <a:solidFill>
                  <a:srgbClr val="1B2A4A"/>
                </a:solidFill>
                <a:latin typeface="Cambria" pitchFamily="34" charset="0"/>
                <a:ea typeface="Cambria" pitchFamily="34" charset="-122"/>
                <a:cs typeface="Cambria" pitchFamily="34" charset="-120"/>
              </a:rPr>
              <a:t>Executive Summary</a:t>
            </a:r>
            <a:endParaRPr lang="en-US" sz="3600" u="sng" dirty="0"/>
          </a:p>
        </p:txBody>
      </p:sp>
      <p:sp>
        <p:nvSpPr>
          <p:cNvPr id="4" name="Shape 2"/>
          <p:cNvSpPr/>
          <p:nvPr/>
        </p:nvSpPr>
        <p:spPr>
          <a:xfrm>
            <a:off x="640080" y="1645920"/>
            <a:ext cx="2615184" cy="1783080"/>
          </a:xfrm>
          <a:prstGeom prst="roundRect">
            <a:avLst>
              <a:gd name="adj" fmla="val 4615"/>
            </a:avLst>
          </a:prstGeom>
          <a:solidFill>
            <a:srgbClr val="FFFFFF"/>
          </a:solidFill>
          <a:ln w="12700">
            <a:solidFill>
              <a:srgbClr val="D9E3EC"/>
            </a:solidFill>
            <a:prstDash val="solid"/>
          </a:ln>
          <a:effectLst>
            <a:outerShdw blurRad="76200" dist="38100" dir="5400000" algn="bl" rotWithShape="0">
              <a:srgbClr val="1B2A4A">
                <a:alpha val="10000"/>
              </a:srgbClr>
            </a:outerShdw>
          </a:effectLst>
        </p:spPr>
      </p:sp>
      <p:sp>
        <p:nvSpPr>
          <p:cNvPr id="5" name="Text 3"/>
          <p:cNvSpPr/>
          <p:nvPr/>
        </p:nvSpPr>
        <p:spPr>
          <a:xfrm>
            <a:off x="786384" y="1737360"/>
            <a:ext cx="914400" cy="365760"/>
          </a:xfrm>
          <a:prstGeom prst="rect">
            <a:avLst/>
          </a:prstGeom>
          <a:noFill/>
          <a:ln/>
        </p:spPr>
        <p:txBody>
          <a:bodyPr wrap="square" rtlCol="0" anchor="ctr"/>
          <a:lstStyle/>
          <a:p>
            <a:pPr marL="0" indent="0">
              <a:buNone/>
            </a:pPr>
            <a:r>
              <a:rPr lang="en-US" sz="1600" b="1" dirty="0">
                <a:solidFill>
                  <a:srgbClr val="B9C8D6"/>
                </a:solidFill>
                <a:latin typeface="Calibri" pitchFamily="34" charset="0"/>
                <a:ea typeface="Calibri" pitchFamily="34" charset="-122"/>
                <a:cs typeface="Calibri" pitchFamily="34" charset="-120"/>
              </a:rPr>
              <a:t>01</a:t>
            </a:r>
            <a:endParaRPr lang="en-US" sz="1600" b="1" dirty="0"/>
          </a:p>
        </p:txBody>
      </p:sp>
      <p:sp>
        <p:nvSpPr>
          <p:cNvPr id="6" name="Text 4"/>
          <p:cNvSpPr/>
          <p:nvPr/>
        </p:nvSpPr>
        <p:spPr>
          <a:xfrm>
            <a:off x="786384" y="2084832"/>
            <a:ext cx="2322576" cy="548640"/>
          </a:xfrm>
          <a:prstGeom prst="rect">
            <a:avLst/>
          </a:prstGeom>
          <a:noFill/>
          <a:ln/>
        </p:spPr>
        <p:txBody>
          <a:bodyPr wrap="square" rtlCol="0" anchor="ctr"/>
          <a:lstStyle/>
          <a:p>
            <a:pPr marL="0" indent="0">
              <a:buNone/>
            </a:pPr>
            <a:r>
              <a:rPr lang="en-US" sz="2800" b="1" dirty="0">
                <a:solidFill>
                  <a:srgbClr val="0B5E8C"/>
                </a:solidFill>
                <a:latin typeface="Cambria" pitchFamily="34" charset="0"/>
                <a:ea typeface="Cambria" pitchFamily="34" charset="-122"/>
                <a:cs typeface="Cambria" pitchFamily="34" charset="-120"/>
              </a:rPr>
              <a:t>59.3%</a:t>
            </a:r>
            <a:endParaRPr lang="en-US" sz="2800" dirty="0"/>
          </a:p>
        </p:txBody>
      </p:sp>
      <p:sp>
        <p:nvSpPr>
          <p:cNvPr id="7" name="Text 5"/>
          <p:cNvSpPr/>
          <p:nvPr/>
        </p:nvSpPr>
        <p:spPr>
          <a:xfrm>
            <a:off x="786384" y="2670048"/>
            <a:ext cx="2322576" cy="685800"/>
          </a:xfrm>
          <a:prstGeom prst="rect">
            <a:avLst/>
          </a:prstGeom>
          <a:noFill/>
          <a:ln/>
        </p:spPr>
        <p:txBody>
          <a:bodyPr wrap="square" rtlCol="0" anchor="ctr"/>
          <a:lstStyle/>
          <a:p>
            <a:pPr marL="0" indent="0">
              <a:lnSpc>
                <a:spcPct val="115000"/>
              </a:lnSpc>
              <a:buNone/>
            </a:pPr>
            <a:r>
              <a:rPr lang="en-US" sz="1600" dirty="0">
                <a:solidFill>
                  <a:srgbClr val="5B6B79"/>
                </a:solidFill>
                <a:latin typeface="Calibri" pitchFamily="34" charset="0"/>
                <a:ea typeface="Calibri" pitchFamily="34" charset="-122"/>
                <a:cs typeface="Calibri" pitchFamily="34" charset="-120"/>
              </a:rPr>
              <a:t>Average coverage</a:t>
            </a:r>
            <a:endParaRPr lang="en-US" sz="1600" dirty="0"/>
          </a:p>
        </p:txBody>
      </p:sp>
      <p:sp>
        <p:nvSpPr>
          <p:cNvPr id="8" name="Shape 6"/>
          <p:cNvSpPr/>
          <p:nvPr/>
        </p:nvSpPr>
        <p:spPr>
          <a:xfrm>
            <a:off x="3456432" y="1645920"/>
            <a:ext cx="2615184" cy="1783080"/>
          </a:xfrm>
          <a:prstGeom prst="roundRect">
            <a:avLst>
              <a:gd name="adj" fmla="val 4615"/>
            </a:avLst>
          </a:prstGeom>
          <a:solidFill>
            <a:srgbClr val="FFFFFF"/>
          </a:solidFill>
          <a:ln w="12700">
            <a:solidFill>
              <a:srgbClr val="D9E3EC"/>
            </a:solidFill>
            <a:prstDash val="solid"/>
          </a:ln>
          <a:effectLst>
            <a:outerShdw blurRad="76200" dist="38100" dir="5400000" algn="bl" rotWithShape="0">
              <a:srgbClr val="1B2A4A">
                <a:alpha val="10000"/>
              </a:srgbClr>
            </a:outerShdw>
          </a:effectLst>
        </p:spPr>
      </p:sp>
      <p:sp>
        <p:nvSpPr>
          <p:cNvPr id="9" name="Text 7"/>
          <p:cNvSpPr/>
          <p:nvPr/>
        </p:nvSpPr>
        <p:spPr>
          <a:xfrm>
            <a:off x="3602736" y="1737360"/>
            <a:ext cx="914400" cy="365760"/>
          </a:xfrm>
          <a:prstGeom prst="rect">
            <a:avLst/>
          </a:prstGeom>
          <a:noFill/>
          <a:ln/>
        </p:spPr>
        <p:txBody>
          <a:bodyPr wrap="square" rtlCol="0" anchor="ctr"/>
          <a:lstStyle/>
          <a:p>
            <a:pPr marL="0" indent="0">
              <a:buNone/>
            </a:pPr>
            <a:r>
              <a:rPr lang="en-US" sz="1600" b="1" dirty="0">
                <a:solidFill>
                  <a:srgbClr val="B9C8D6"/>
                </a:solidFill>
                <a:latin typeface="Calibri" pitchFamily="34" charset="0"/>
                <a:ea typeface="Calibri" pitchFamily="34" charset="-122"/>
                <a:cs typeface="Calibri" pitchFamily="34" charset="-120"/>
              </a:rPr>
              <a:t>02</a:t>
            </a:r>
            <a:endParaRPr lang="en-US" sz="1600" dirty="0"/>
          </a:p>
        </p:txBody>
      </p:sp>
      <p:sp>
        <p:nvSpPr>
          <p:cNvPr id="10" name="Text 8"/>
          <p:cNvSpPr/>
          <p:nvPr/>
        </p:nvSpPr>
        <p:spPr>
          <a:xfrm>
            <a:off x="3602736" y="2084832"/>
            <a:ext cx="2322576" cy="548640"/>
          </a:xfrm>
          <a:prstGeom prst="rect">
            <a:avLst/>
          </a:prstGeom>
          <a:noFill/>
          <a:ln/>
        </p:spPr>
        <p:txBody>
          <a:bodyPr wrap="square" rtlCol="0" anchor="ctr"/>
          <a:lstStyle/>
          <a:p>
            <a:pPr marL="0" indent="0">
              <a:buNone/>
            </a:pPr>
            <a:r>
              <a:rPr lang="en-US" sz="2800" b="1" dirty="0">
                <a:solidFill>
                  <a:srgbClr val="0B5E8C"/>
                </a:solidFill>
                <a:latin typeface="Cambria" pitchFamily="34" charset="0"/>
                <a:ea typeface="Cambria" pitchFamily="34" charset="-122"/>
                <a:cs typeface="Cambria" pitchFamily="34" charset="-120"/>
              </a:rPr>
              <a:t>7.943M</a:t>
            </a:r>
            <a:endParaRPr lang="en-US" sz="2800" dirty="0"/>
          </a:p>
        </p:txBody>
      </p:sp>
      <p:sp>
        <p:nvSpPr>
          <p:cNvPr id="11" name="Text 9"/>
          <p:cNvSpPr/>
          <p:nvPr/>
        </p:nvSpPr>
        <p:spPr>
          <a:xfrm>
            <a:off x="3602736" y="2670048"/>
            <a:ext cx="2322576" cy="685800"/>
          </a:xfrm>
          <a:prstGeom prst="rect">
            <a:avLst/>
          </a:prstGeom>
          <a:noFill/>
          <a:ln/>
        </p:spPr>
        <p:txBody>
          <a:bodyPr wrap="square" rtlCol="0" anchor="ctr"/>
          <a:lstStyle/>
          <a:p>
            <a:pPr marL="0" indent="0">
              <a:lnSpc>
                <a:spcPct val="115000"/>
              </a:lnSpc>
              <a:buNone/>
            </a:pPr>
            <a:r>
              <a:rPr lang="en-US" sz="1600" dirty="0">
                <a:solidFill>
                  <a:srgbClr val="5B6B79"/>
                </a:solidFill>
                <a:latin typeface="Calibri" pitchFamily="34" charset="0"/>
                <a:ea typeface="Calibri" pitchFamily="34" charset="-122"/>
                <a:cs typeface="Calibri" pitchFamily="34" charset="-120"/>
              </a:rPr>
              <a:t>FHTCs provided</a:t>
            </a:r>
            <a:endParaRPr lang="en-US" sz="1600" dirty="0"/>
          </a:p>
        </p:txBody>
      </p:sp>
      <p:sp>
        <p:nvSpPr>
          <p:cNvPr id="12" name="Shape 10"/>
          <p:cNvSpPr/>
          <p:nvPr/>
        </p:nvSpPr>
        <p:spPr>
          <a:xfrm>
            <a:off x="6272784" y="1645920"/>
            <a:ext cx="2615184" cy="1783080"/>
          </a:xfrm>
          <a:prstGeom prst="roundRect">
            <a:avLst>
              <a:gd name="adj" fmla="val 4615"/>
            </a:avLst>
          </a:prstGeom>
          <a:solidFill>
            <a:srgbClr val="FFFFFF"/>
          </a:solidFill>
          <a:ln w="12700">
            <a:solidFill>
              <a:srgbClr val="D9E3EC"/>
            </a:solidFill>
            <a:prstDash val="solid"/>
          </a:ln>
          <a:effectLst>
            <a:outerShdw blurRad="76200" dist="38100" dir="5400000" algn="bl" rotWithShape="0">
              <a:srgbClr val="1B2A4A">
                <a:alpha val="10000"/>
              </a:srgbClr>
            </a:outerShdw>
          </a:effectLst>
        </p:spPr>
      </p:sp>
      <p:sp>
        <p:nvSpPr>
          <p:cNvPr id="13" name="Text 11"/>
          <p:cNvSpPr/>
          <p:nvPr/>
        </p:nvSpPr>
        <p:spPr>
          <a:xfrm>
            <a:off x="6419088" y="1737360"/>
            <a:ext cx="914400" cy="365760"/>
          </a:xfrm>
          <a:prstGeom prst="rect">
            <a:avLst/>
          </a:prstGeom>
          <a:noFill/>
          <a:ln/>
        </p:spPr>
        <p:txBody>
          <a:bodyPr wrap="square" rtlCol="0" anchor="ctr"/>
          <a:lstStyle/>
          <a:p>
            <a:pPr marL="0" indent="0">
              <a:buNone/>
            </a:pPr>
            <a:r>
              <a:rPr lang="en-US" sz="1600" b="1" dirty="0">
                <a:solidFill>
                  <a:srgbClr val="B9C8D6"/>
                </a:solidFill>
                <a:latin typeface="Calibri" pitchFamily="34" charset="0"/>
                <a:ea typeface="Calibri" pitchFamily="34" charset="-122"/>
                <a:cs typeface="Calibri" pitchFamily="34" charset="-120"/>
              </a:rPr>
              <a:t>03</a:t>
            </a:r>
            <a:endParaRPr lang="en-US" sz="1600" dirty="0"/>
          </a:p>
        </p:txBody>
      </p:sp>
      <p:sp>
        <p:nvSpPr>
          <p:cNvPr id="14" name="Text 12"/>
          <p:cNvSpPr/>
          <p:nvPr/>
        </p:nvSpPr>
        <p:spPr>
          <a:xfrm>
            <a:off x="6419088" y="2084832"/>
            <a:ext cx="2322576" cy="548640"/>
          </a:xfrm>
          <a:prstGeom prst="rect">
            <a:avLst/>
          </a:prstGeom>
          <a:noFill/>
          <a:ln/>
        </p:spPr>
        <p:txBody>
          <a:bodyPr wrap="square" rtlCol="0" anchor="ctr"/>
          <a:lstStyle/>
          <a:p>
            <a:pPr marL="0" indent="0">
              <a:buNone/>
            </a:pPr>
            <a:r>
              <a:rPr lang="en-US" sz="2800" b="1" dirty="0">
                <a:solidFill>
                  <a:srgbClr val="0B5E8C"/>
                </a:solidFill>
                <a:latin typeface="Cambria" pitchFamily="34" charset="0"/>
                <a:ea typeface="Cambria" pitchFamily="34" charset="-122"/>
                <a:cs typeface="Cambria" pitchFamily="34" charset="-120"/>
              </a:rPr>
              <a:t>908K</a:t>
            </a:r>
            <a:endParaRPr lang="en-US" sz="2800" dirty="0"/>
          </a:p>
        </p:txBody>
      </p:sp>
      <p:sp>
        <p:nvSpPr>
          <p:cNvPr id="15" name="Text 13"/>
          <p:cNvSpPr/>
          <p:nvPr/>
        </p:nvSpPr>
        <p:spPr>
          <a:xfrm>
            <a:off x="6419088" y="2670048"/>
            <a:ext cx="2322576" cy="685800"/>
          </a:xfrm>
          <a:prstGeom prst="rect">
            <a:avLst/>
          </a:prstGeom>
          <a:noFill/>
          <a:ln/>
        </p:spPr>
        <p:txBody>
          <a:bodyPr wrap="square" rtlCol="0" anchor="ctr"/>
          <a:lstStyle/>
          <a:p>
            <a:pPr marL="0" indent="0">
              <a:lnSpc>
                <a:spcPct val="115000"/>
              </a:lnSpc>
              <a:buNone/>
            </a:pPr>
            <a:r>
              <a:rPr lang="en-US" sz="1600" dirty="0">
                <a:solidFill>
                  <a:srgbClr val="5B6B79"/>
                </a:solidFill>
                <a:latin typeface="Calibri" pitchFamily="34" charset="0"/>
                <a:ea typeface="Calibri" pitchFamily="34" charset="-122"/>
                <a:cs typeface="Calibri" pitchFamily="34" charset="-120"/>
              </a:rPr>
              <a:t>Jabalpur — highest displayed FHTC provision</a:t>
            </a:r>
            <a:endParaRPr lang="en-US" sz="1600" dirty="0"/>
          </a:p>
        </p:txBody>
      </p:sp>
      <p:sp>
        <p:nvSpPr>
          <p:cNvPr id="16" name="Shape 14"/>
          <p:cNvSpPr/>
          <p:nvPr/>
        </p:nvSpPr>
        <p:spPr>
          <a:xfrm>
            <a:off x="9089136" y="1645920"/>
            <a:ext cx="2615184" cy="1783080"/>
          </a:xfrm>
          <a:prstGeom prst="roundRect">
            <a:avLst>
              <a:gd name="adj" fmla="val 4615"/>
            </a:avLst>
          </a:prstGeom>
          <a:solidFill>
            <a:srgbClr val="FFFFFF"/>
          </a:solidFill>
          <a:ln w="12700">
            <a:solidFill>
              <a:srgbClr val="D9E3EC"/>
            </a:solidFill>
            <a:prstDash val="solid"/>
          </a:ln>
          <a:effectLst>
            <a:outerShdw blurRad="76200" dist="38100" dir="5400000" algn="bl" rotWithShape="0">
              <a:srgbClr val="1B2A4A">
                <a:alpha val="10000"/>
              </a:srgbClr>
            </a:outerShdw>
          </a:effectLst>
        </p:spPr>
      </p:sp>
      <p:sp>
        <p:nvSpPr>
          <p:cNvPr id="17" name="Text 15"/>
          <p:cNvSpPr/>
          <p:nvPr/>
        </p:nvSpPr>
        <p:spPr>
          <a:xfrm>
            <a:off x="9235440" y="1737360"/>
            <a:ext cx="914400" cy="365760"/>
          </a:xfrm>
          <a:prstGeom prst="rect">
            <a:avLst/>
          </a:prstGeom>
          <a:noFill/>
          <a:ln/>
        </p:spPr>
        <p:txBody>
          <a:bodyPr wrap="square" rtlCol="0" anchor="ctr"/>
          <a:lstStyle/>
          <a:p>
            <a:pPr marL="0" indent="0">
              <a:buNone/>
            </a:pPr>
            <a:r>
              <a:rPr lang="en-US" sz="1600" b="1" dirty="0">
                <a:solidFill>
                  <a:srgbClr val="B9C8D6"/>
                </a:solidFill>
                <a:latin typeface="Calibri" pitchFamily="34" charset="0"/>
                <a:ea typeface="Calibri" pitchFamily="34" charset="-122"/>
                <a:cs typeface="Calibri" pitchFamily="34" charset="-120"/>
              </a:rPr>
              <a:t>04</a:t>
            </a:r>
            <a:endParaRPr lang="en-US" sz="1600" dirty="0"/>
          </a:p>
        </p:txBody>
      </p:sp>
      <p:sp>
        <p:nvSpPr>
          <p:cNvPr id="18" name="Text 16"/>
          <p:cNvSpPr/>
          <p:nvPr/>
        </p:nvSpPr>
        <p:spPr>
          <a:xfrm>
            <a:off x="9235440" y="2084832"/>
            <a:ext cx="2322576" cy="548640"/>
          </a:xfrm>
          <a:prstGeom prst="rect">
            <a:avLst/>
          </a:prstGeom>
          <a:noFill/>
          <a:ln/>
        </p:spPr>
        <p:txBody>
          <a:bodyPr wrap="square" rtlCol="0" anchor="ctr"/>
          <a:lstStyle/>
          <a:p>
            <a:pPr marL="0" indent="0">
              <a:buNone/>
            </a:pPr>
            <a:r>
              <a:rPr lang="en-US" sz="2800" b="1" dirty="0">
                <a:solidFill>
                  <a:srgbClr val="0B5E8C"/>
                </a:solidFill>
                <a:latin typeface="Cambria" pitchFamily="34" charset="0"/>
                <a:ea typeface="Cambria" pitchFamily="34" charset="-122"/>
                <a:cs typeface="Cambria" pitchFamily="34" charset="-120"/>
              </a:rPr>
              <a:t>68.1%</a:t>
            </a:r>
            <a:endParaRPr lang="en-US" sz="2800" dirty="0"/>
          </a:p>
        </p:txBody>
      </p:sp>
      <p:sp>
        <p:nvSpPr>
          <p:cNvPr id="19" name="Text 17"/>
          <p:cNvSpPr/>
          <p:nvPr/>
        </p:nvSpPr>
        <p:spPr>
          <a:xfrm>
            <a:off x="9235440" y="2670048"/>
            <a:ext cx="2322576" cy="685800"/>
          </a:xfrm>
          <a:prstGeom prst="rect">
            <a:avLst/>
          </a:prstGeom>
          <a:noFill/>
          <a:ln/>
        </p:spPr>
        <p:txBody>
          <a:bodyPr wrap="square" rtlCol="0" anchor="ctr"/>
          <a:lstStyle/>
          <a:p>
            <a:pPr marL="0" indent="0">
              <a:lnSpc>
                <a:spcPct val="115000"/>
              </a:lnSpc>
              <a:buNone/>
            </a:pPr>
            <a:r>
              <a:rPr lang="en-US" sz="1600" dirty="0">
                <a:solidFill>
                  <a:srgbClr val="5B6B79"/>
                </a:solidFill>
                <a:latin typeface="Calibri" pitchFamily="34" charset="0"/>
                <a:ea typeface="Calibri" pitchFamily="34" charset="-122"/>
                <a:cs typeface="Calibri" pitchFamily="34" charset="-120"/>
              </a:rPr>
              <a:t>Indore — highest average coverage</a:t>
            </a:r>
            <a:endParaRPr lang="en-US" sz="1600" dirty="0"/>
          </a:p>
        </p:txBody>
      </p:sp>
      <p:sp>
        <p:nvSpPr>
          <p:cNvPr id="20" name="Shape 18"/>
          <p:cNvSpPr/>
          <p:nvPr/>
        </p:nvSpPr>
        <p:spPr>
          <a:xfrm>
            <a:off x="640080" y="3630168"/>
            <a:ext cx="2615184" cy="1783080"/>
          </a:xfrm>
          <a:prstGeom prst="roundRect">
            <a:avLst>
              <a:gd name="adj" fmla="val 4615"/>
            </a:avLst>
          </a:prstGeom>
          <a:solidFill>
            <a:srgbClr val="FFFFFF"/>
          </a:solidFill>
          <a:ln w="12700">
            <a:solidFill>
              <a:srgbClr val="D9E3EC"/>
            </a:solidFill>
            <a:prstDash val="solid"/>
          </a:ln>
          <a:effectLst>
            <a:outerShdw blurRad="76200" dist="38100" dir="5400000" algn="bl" rotWithShape="0">
              <a:srgbClr val="1B2A4A">
                <a:alpha val="10000"/>
              </a:srgbClr>
            </a:outerShdw>
          </a:effectLst>
        </p:spPr>
      </p:sp>
      <p:sp>
        <p:nvSpPr>
          <p:cNvPr id="21" name="Text 19"/>
          <p:cNvSpPr/>
          <p:nvPr/>
        </p:nvSpPr>
        <p:spPr>
          <a:xfrm>
            <a:off x="786384" y="3721608"/>
            <a:ext cx="914400" cy="365760"/>
          </a:xfrm>
          <a:prstGeom prst="rect">
            <a:avLst/>
          </a:prstGeom>
          <a:noFill/>
          <a:ln/>
        </p:spPr>
        <p:txBody>
          <a:bodyPr wrap="square" rtlCol="0" anchor="ctr"/>
          <a:lstStyle/>
          <a:p>
            <a:pPr marL="0" indent="0">
              <a:buNone/>
            </a:pPr>
            <a:r>
              <a:rPr lang="en-US" sz="1600" b="1" dirty="0">
                <a:solidFill>
                  <a:srgbClr val="B9C8D6"/>
                </a:solidFill>
                <a:latin typeface="Calibri" pitchFamily="34" charset="0"/>
                <a:ea typeface="Calibri" pitchFamily="34" charset="-122"/>
                <a:cs typeface="Calibri" pitchFamily="34" charset="-120"/>
              </a:rPr>
              <a:t>05</a:t>
            </a:r>
            <a:endParaRPr lang="en-US" sz="1100" dirty="0"/>
          </a:p>
        </p:txBody>
      </p:sp>
      <p:sp>
        <p:nvSpPr>
          <p:cNvPr id="22" name="Text 20"/>
          <p:cNvSpPr/>
          <p:nvPr/>
        </p:nvSpPr>
        <p:spPr>
          <a:xfrm>
            <a:off x="786384" y="4069080"/>
            <a:ext cx="2322576" cy="548640"/>
          </a:xfrm>
          <a:prstGeom prst="rect">
            <a:avLst/>
          </a:prstGeom>
          <a:noFill/>
          <a:ln/>
        </p:spPr>
        <p:txBody>
          <a:bodyPr wrap="square" rtlCol="0" anchor="ctr"/>
          <a:lstStyle/>
          <a:p>
            <a:pPr marL="0" indent="0">
              <a:buNone/>
            </a:pPr>
            <a:r>
              <a:rPr lang="en-US" sz="2800" b="1" dirty="0">
                <a:solidFill>
                  <a:srgbClr val="0B5E8C"/>
                </a:solidFill>
                <a:latin typeface="Cambria" pitchFamily="34" charset="0"/>
                <a:ea typeface="Cambria" pitchFamily="34" charset="-122"/>
                <a:cs typeface="Cambria" pitchFamily="34" charset="-120"/>
              </a:rPr>
              <a:t>2.183M</a:t>
            </a:r>
            <a:endParaRPr lang="en-US" sz="2400" dirty="0"/>
          </a:p>
        </p:txBody>
      </p:sp>
      <p:sp>
        <p:nvSpPr>
          <p:cNvPr id="23" name="Text 21"/>
          <p:cNvSpPr/>
          <p:nvPr/>
        </p:nvSpPr>
        <p:spPr>
          <a:xfrm>
            <a:off x="786384" y="4654296"/>
            <a:ext cx="2322576" cy="685800"/>
          </a:xfrm>
          <a:prstGeom prst="rect">
            <a:avLst/>
          </a:prstGeom>
          <a:noFill/>
          <a:ln/>
        </p:spPr>
        <p:txBody>
          <a:bodyPr wrap="square" rtlCol="0" anchor="ctr"/>
          <a:lstStyle/>
          <a:p>
            <a:pPr marL="0" indent="0">
              <a:lnSpc>
                <a:spcPct val="115000"/>
              </a:lnSpc>
              <a:buNone/>
            </a:pPr>
            <a:r>
              <a:rPr lang="en-US" sz="1600" dirty="0">
                <a:solidFill>
                  <a:srgbClr val="5B6B79"/>
                </a:solidFill>
                <a:latin typeface="Calibri" pitchFamily="34" charset="0"/>
                <a:ea typeface="Calibri" pitchFamily="34" charset="-122"/>
                <a:cs typeface="Calibri" pitchFamily="34" charset="-120"/>
              </a:rPr>
              <a:t>2025 — highest displayed FHTC provision</a:t>
            </a:r>
            <a:endParaRPr lang="en-US" sz="1600" dirty="0"/>
          </a:p>
        </p:txBody>
      </p:sp>
      <p:sp>
        <p:nvSpPr>
          <p:cNvPr id="24" name="Shape 22"/>
          <p:cNvSpPr/>
          <p:nvPr/>
        </p:nvSpPr>
        <p:spPr>
          <a:xfrm>
            <a:off x="3456432" y="3630168"/>
            <a:ext cx="2615184" cy="1783080"/>
          </a:xfrm>
          <a:prstGeom prst="roundRect">
            <a:avLst>
              <a:gd name="adj" fmla="val 4615"/>
            </a:avLst>
          </a:prstGeom>
          <a:solidFill>
            <a:srgbClr val="FFFFFF"/>
          </a:solidFill>
          <a:ln w="12700">
            <a:solidFill>
              <a:srgbClr val="D9E3EC"/>
            </a:solidFill>
            <a:prstDash val="solid"/>
          </a:ln>
          <a:effectLst>
            <a:outerShdw blurRad="76200" dist="38100" dir="5400000" algn="bl" rotWithShape="0">
              <a:srgbClr val="1B2A4A">
                <a:alpha val="10000"/>
              </a:srgbClr>
            </a:outerShdw>
          </a:effectLst>
        </p:spPr>
      </p:sp>
      <p:sp>
        <p:nvSpPr>
          <p:cNvPr id="25" name="Text 23"/>
          <p:cNvSpPr/>
          <p:nvPr/>
        </p:nvSpPr>
        <p:spPr>
          <a:xfrm>
            <a:off x="3602736" y="3721608"/>
            <a:ext cx="914400" cy="365760"/>
          </a:xfrm>
          <a:prstGeom prst="rect">
            <a:avLst/>
          </a:prstGeom>
          <a:noFill/>
          <a:ln/>
        </p:spPr>
        <p:txBody>
          <a:bodyPr wrap="square" rtlCol="0" anchor="ctr"/>
          <a:lstStyle/>
          <a:p>
            <a:pPr marL="0" indent="0">
              <a:buNone/>
            </a:pPr>
            <a:r>
              <a:rPr lang="en-US" sz="1600" b="1" dirty="0">
                <a:solidFill>
                  <a:srgbClr val="B9C8D6"/>
                </a:solidFill>
                <a:latin typeface="Calibri" pitchFamily="34" charset="0"/>
                <a:ea typeface="Calibri" pitchFamily="34" charset="-122"/>
                <a:cs typeface="Calibri" pitchFamily="34" charset="-120"/>
              </a:rPr>
              <a:t>06</a:t>
            </a:r>
            <a:endParaRPr lang="en-US" sz="1600" dirty="0"/>
          </a:p>
        </p:txBody>
      </p:sp>
      <p:sp>
        <p:nvSpPr>
          <p:cNvPr id="26" name="Text 24"/>
          <p:cNvSpPr/>
          <p:nvPr/>
        </p:nvSpPr>
        <p:spPr>
          <a:xfrm>
            <a:off x="3602736" y="4069080"/>
            <a:ext cx="2322576" cy="548640"/>
          </a:xfrm>
          <a:prstGeom prst="rect">
            <a:avLst/>
          </a:prstGeom>
          <a:noFill/>
          <a:ln/>
        </p:spPr>
        <p:txBody>
          <a:bodyPr wrap="square" rtlCol="0" anchor="ctr"/>
          <a:lstStyle/>
          <a:p>
            <a:pPr marL="0" indent="0">
              <a:buNone/>
            </a:pPr>
            <a:r>
              <a:rPr lang="en-US" sz="2800" b="1" dirty="0">
                <a:solidFill>
                  <a:srgbClr val="0B5E8C"/>
                </a:solidFill>
                <a:latin typeface="Cambria" pitchFamily="34" charset="0"/>
                <a:ea typeface="Cambria" pitchFamily="34" charset="-122"/>
                <a:cs typeface="Cambria" pitchFamily="34" charset="-120"/>
              </a:rPr>
              <a:t>40–43%</a:t>
            </a:r>
            <a:endParaRPr lang="en-US" sz="2800" dirty="0"/>
          </a:p>
        </p:txBody>
      </p:sp>
      <p:sp>
        <p:nvSpPr>
          <p:cNvPr id="27" name="Text 25"/>
          <p:cNvSpPr/>
          <p:nvPr/>
        </p:nvSpPr>
        <p:spPr>
          <a:xfrm>
            <a:off x="3602736" y="4654296"/>
            <a:ext cx="2322576" cy="685800"/>
          </a:xfrm>
          <a:prstGeom prst="rect">
            <a:avLst/>
          </a:prstGeom>
          <a:noFill/>
          <a:ln/>
        </p:spPr>
        <p:txBody>
          <a:bodyPr wrap="square" rtlCol="0" anchor="ctr"/>
          <a:lstStyle/>
          <a:p>
            <a:pPr marL="0" indent="0">
              <a:lnSpc>
                <a:spcPct val="115000"/>
              </a:lnSpc>
              <a:buNone/>
            </a:pPr>
            <a:r>
              <a:rPr lang="en-US" sz="1600" dirty="0">
                <a:solidFill>
                  <a:srgbClr val="5B6B79"/>
                </a:solidFill>
                <a:latin typeface="Calibri" pitchFamily="34" charset="0"/>
                <a:ea typeface="Calibri" pitchFamily="34" charset="-122"/>
                <a:cs typeface="Calibri" pitchFamily="34" charset="-120"/>
              </a:rPr>
              <a:t>Several districts remain in this coverage range</a:t>
            </a:r>
            <a:endParaRPr lang="en-US" sz="1600" dirty="0"/>
          </a:p>
        </p:txBody>
      </p:sp>
      <p:sp>
        <p:nvSpPr>
          <p:cNvPr id="28" name="Shape 26"/>
          <p:cNvSpPr/>
          <p:nvPr/>
        </p:nvSpPr>
        <p:spPr>
          <a:xfrm>
            <a:off x="6272784" y="3630168"/>
            <a:ext cx="2615184" cy="1783080"/>
          </a:xfrm>
          <a:prstGeom prst="roundRect">
            <a:avLst>
              <a:gd name="adj" fmla="val 4615"/>
            </a:avLst>
          </a:prstGeom>
          <a:solidFill>
            <a:srgbClr val="FFFFFF"/>
          </a:solidFill>
          <a:ln w="12700">
            <a:solidFill>
              <a:srgbClr val="D9E3EC"/>
            </a:solidFill>
            <a:prstDash val="solid"/>
          </a:ln>
          <a:effectLst>
            <a:outerShdw blurRad="76200" dist="38100" dir="5400000" algn="bl" rotWithShape="0">
              <a:srgbClr val="1B2A4A">
                <a:alpha val="10000"/>
              </a:srgbClr>
            </a:outerShdw>
          </a:effectLst>
        </p:spPr>
      </p:sp>
      <p:sp>
        <p:nvSpPr>
          <p:cNvPr id="29" name="Text 27"/>
          <p:cNvSpPr/>
          <p:nvPr/>
        </p:nvSpPr>
        <p:spPr>
          <a:xfrm>
            <a:off x="6419088" y="3721608"/>
            <a:ext cx="914400" cy="365760"/>
          </a:xfrm>
          <a:prstGeom prst="rect">
            <a:avLst/>
          </a:prstGeom>
          <a:noFill/>
          <a:ln/>
        </p:spPr>
        <p:txBody>
          <a:bodyPr wrap="square" rtlCol="0" anchor="ctr"/>
          <a:lstStyle/>
          <a:p>
            <a:pPr marL="0" indent="0">
              <a:buNone/>
            </a:pPr>
            <a:r>
              <a:rPr lang="en-US" sz="1600" b="1" dirty="0">
                <a:solidFill>
                  <a:srgbClr val="B9C8D6"/>
                </a:solidFill>
                <a:latin typeface="Calibri" pitchFamily="34" charset="0"/>
                <a:ea typeface="Calibri" pitchFamily="34" charset="-122"/>
                <a:cs typeface="Calibri" pitchFamily="34" charset="-120"/>
              </a:rPr>
              <a:t>07</a:t>
            </a:r>
            <a:endParaRPr lang="en-US" sz="1600" dirty="0"/>
          </a:p>
        </p:txBody>
      </p:sp>
      <p:sp>
        <p:nvSpPr>
          <p:cNvPr id="30" name="Text 28"/>
          <p:cNvSpPr/>
          <p:nvPr/>
        </p:nvSpPr>
        <p:spPr>
          <a:xfrm>
            <a:off x="6419088" y="4069080"/>
            <a:ext cx="2322576" cy="548640"/>
          </a:xfrm>
          <a:prstGeom prst="rect">
            <a:avLst/>
          </a:prstGeom>
          <a:noFill/>
          <a:ln/>
        </p:spPr>
        <p:txBody>
          <a:bodyPr wrap="square" rtlCol="0" anchor="ctr"/>
          <a:lstStyle/>
          <a:p>
            <a:pPr marL="0" indent="0">
              <a:buNone/>
            </a:pPr>
            <a:r>
              <a:rPr lang="en-US" sz="2800" b="1" dirty="0">
                <a:solidFill>
                  <a:srgbClr val="0B5E8C"/>
                </a:solidFill>
                <a:latin typeface="Cambria" pitchFamily="34" charset="0"/>
                <a:ea typeface="Cambria" pitchFamily="34" charset="-122"/>
                <a:cs typeface="Cambria" pitchFamily="34" charset="-120"/>
              </a:rPr>
              <a:t>≈50/50</a:t>
            </a:r>
            <a:endParaRPr lang="en-US" sz="2800" dirty="0"/>
          </a:p>
        </p:txBody>
      </p:sp>
      <p:sp>
        <p:nvSpPr>
          <p:cNvPr id="31" name="Text 29"/>
          <p:cNvSpPr/>
          <p:nvPr/>
        </p:nvSpPr>
        <p:spPr>
          <a:xfrm>
            <a:off x="6419088" y="4654296"/>
            <a:ext cx="2322576" cy="685800"/>
          </a:xfrm>
          <a:prstGeom prst="rect">
            <a:avLst/>
          </a:prstGeom>
          <a:noFill/>
          <a:ln/>
        </p:spPr>
        <p:txBody>
          <a:bodyPr wrap="square" rtlCol="0" anchor="ctr"/>
          <a:lstStyle/>
          <a:p>
            <a:pPr marL="0" indent="0">
              <a:lnSpc>
                <a:spcPct val="115000"/>
              </a:lnSpc>
              <a:buNone/>
            </a:pPr>
            <a:r>
              <a:rPr lang="en-US" sz="1600" dirty="0">
                <a:solidFill>
                  <a:srgbClr val="5B6B79"/>
                </a:solidFill>
                <a:latin typeface="Calibri" pitchFamily="34" charset="0"/>
                <a:ea typeface="Calibri" pitchFamily="34" charset="-122"/>
                <a:cs typeface="Calibri" pitchFamily="34" charset="-120"/>
              </a:rPr>
              <a:t>Groundwater and surface water nearly evenly split</a:t>
            </a:r>
            <a:endParaRPr lang="en-US" sz="1600" dirty="0"/>
          </a:p>
        </p:txBody>
      </p:sp>
      <p:sp>
        <p:nvSpPr>
          <p:cNvPr id="32" name="Text 30"/>
          <p:cNvSpPr/>
          <p:nvPr/>
        </p:nvSpPr>
        <p:spPr>
          <a:xfrm>
            <a:off x="11368735" y="6400800"/>
            <a:ext cx="548640" cy="274320"/>
          </a:xfrm>
          <a:prstGeom prst="rect">
            <a:avLst/>
          </a:prstGeom>
          <a:noFill/>
          <a:ln/>
        </p:spPr>
        <p:txBody>
          <a:bodyPr wrap="square" rtlCol="0" anchor="ctr"/>
          <a:lstStyle/>
          <a:p>
            <a:pPr marL="0" indent="0" algn="r">
              <a:buNone/>
            </a:pPr>
            <a:r>
              <a:rPr lang="en-US" sz="1000" b="1" dirty="0">
                <a:solidFill>
                  <a:schemeClr val="bg1"/>
                </a:solidFill>
                <a:latin typeface="Calibri" pitchFamily="34" charset="0"/>
                <a:ea typeface="Calibri" pitchFamily="34" charset="-122"/>
                <a:cs typeface="Calibri" pitchFamily="34" charset="-120"/>
              </a:rPr>
              <a:t>17</a:t>
            </a:r>
            <a:endParaRPr lang="en-US" sz="1000" b="1" dirty="0">
              <a:solidFill>
                <a:schemeClr val="bg1"/>
              </a:solidFill>
            </a:endParaRPr>
          </a:p>
        </p:txBody>
      </p:sp>
      <p:sp>
        <p:nvSpPr>
          <p:cNvPr id="33" name="Text 31"/>
          <p:cNvSpPr/>
          <p:nvPr/>
        </p:nvSpPr>
        <p:spPr>
          <a:xfrm>
            <a:off x="8899855" y="6400800"/>
            <a:ext cx="2560320" cy="274320"/>
          </a:xfrm>
          <a:prstGeom prst="rect">
            <a:avLst/>
          </a:prstGeom>
          <a:noFill/>
          <a:ln/>
        </p:spPr>
        <p:txBody>
          <a:bodyPr wrap="square" rtlCol="0" anchor="ctr"/>
          <a:lstStyle/>
          <a:p>
            <a:pPr marL="0" indent="0" algn="r">
              <a:buNone/>
            </a:pPr>
            <a:r>
              <a:rPr lang="en-US" sz="900" b="1" kern="0" spc="150" dirty="0">
                <a:solidFill>
                  <a:schemeClr val="bg1"/>
                </a:solidFill>
                <a:latin typeface="Calibri" pitchFamily="34" charset="0"/>
                <a:ea typeface="Calibri" pitchFamily="34" charset="-122"/>
                <a:cs typeface="Calibri" pitchFamily="34" charset="-120"/>
              </a:rPr>
              <a:t>EXECUTIVE SUMMARY</a:t>
            </a:r>
            <a:endParaRPr lang="en-US" sz="900" b="1"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411480"/>
            <a:ext cx="8229600" cy="320040"/>
          </a:xfrm>
          <a:prstGeom prst="rect">
            <a:avLst/>
          </a:prstGeom>
          <a:noFill/>
          <a:ln/>
        </p:spPr>
        <p:txBody>
          <a:bodyPr wrap="square" rtlCol="0" anchor="ctr"/>
          <a:lstStyle/>
          <a:p>
            <a:pPr marL="0" indent="0">
              <a:buNone/>
            </a:pPr>
            <a:r>
              <a:rPr lang="en-US" sz="2000" b="1" kern="0" spc="200" dirty="0">
                <a:solidFill>
                  <a:srgbClr val="E8763C"/>
                </a:solidFill>
                <a:latin typeface="Calibri" pitchFamily="34" charset="0"/>
                <a:ea typeface="Calibri" pitchFamily="34" charset="-122"/>
                <a:cs typeface="Calibri" pitchFamily="34" charset="-120"/>
              </a:rPr>
              <a:t>INSIGHT → ACTION</a:t>
            </a:r>
            <a:endParaRPr lang="en-US" sz="2000" dirty="0"/>
          </a:p>
        </p:txBody>
      </p:sp>
      <p:sp>
        <p:nvSpPr>
          <p:cNvPr id="3" name="Text 1"/>
          <p:cNvSpPr/>
          <p:nvPr/>
        </p:nvSpPr>
        <p:spPr>
          <a:xfrm>
            <a:off x="640080" y="713232"/>
            <a:ext cx="10607040" cy="822960"/>
          </a:xfrm>
          <a:prstGeom prst="rect">
            <a:avLst/>
          </a:prstGeom>
          <a:noFill/>
          <a:ln/>
        </p:spPr>
        <p:txBody>
          <a:bodyPr wrap="square" rtlCol="0" anchor="ctr"/>
          <a:lstStyle/>
          <a:p>
            <a:pPr marL="0" indent="0">
              <a:buNone/>
            </a:pPr>
            <a:r>
              <a:rPr lang="en-US" sz="3600" b="1" u="sng" dirty="0">
                <a:solidFill>
                  <a:srgbClr val="1B2A4A"/>
                </a:solidFill>
                <a:latin typeface="Cambria" pitchFamily="34" charset="0"/>
                <a:ea typeface="Cambria" pitchFamily="34" charset="-122"/>
                <a:cs typeface="Cambria" pitchFamily="34" charset="-120"/>
              </a:rPr>
              <a:t>Data-Driven Recommendations</a:t>
            </a:r>
            <a:endParaRPr lang="en-US" sz="3600" u="sng" dirty="0"/>
          </a:p>
        </p:txBody>
      </p:sp>
      <p:sp>
        <p:nvSpPr>
          <p:cNvPr id="4" name="Shape 2"/>
          <p:cNvSpPr/>
          <p:nvPr/>
        </p:nvSpPr>
        <p:spPr>
          <a:xfrm>
            <a:off x="640080" y="1645920"/>
            <a:ext cx="5400000" cy="1368000"/>
          </a:xfrm>
          <a:prstGeom prst="roundRect">
            <a:avLst>
              <a:gd name="adj" fmla="val 5634"/>
            </a:avLst>
          </a:prstGeom>
          <a:solidFill>
            <a:srgbClr val="FFFFFF"/>
          </a:solidFill>
          <a:ln w="12700">
            <a:solidFill>
              <a:srgbClr val="D9E3EC"/>
            </a:solidFill>
            <a:prstDash val="solid"/>
          </a:ln>
          <a:effectLst>
            <a:outerShdw blurRad="76200" dist="38100" dir="5400000" algn="bl" rotWithShape="0">
              <a:srgbClr val="1B2A4A">
                <a:alpha val="10000"/>
              </a:srgbClr>
            </a:outerShdw>
          </a:effectLst>
        </p:spPr>
      </p:sp>
      <p:sp>
        <p:nvSpPr>
          <p:cNvPr id="5" name="Text 3"/>
          <p:cNvSpPr/>
          <p:nvPr/>
        </p:nvSpPr>
        <p:spPr>
          <a:xfrm>
            <a:off x="804672" y="1773936"/>
            <a:ext cx="822960" cy="548640"/>
          </a:xfrm>
          <a:prstGeom prst="rect">
            <a:avLst/>
          </a:prstGeom>
          <a:noFill/>
          <a:ln/>
        </p:spPr>
        <p:txBody>
          <a:bodyPr wrap="square" rtlCol="0" anchor="ctr"/>
          <a:lstStyle/>
          <a:p>
            <a:pPr marL="0" indent="0">
              <a:buNone/>
            </a:pPr>
            <a:r>
              <a:rPr lang="en-US" sz="2000" b="1" dirty="0">
                <a:solidFill>
                  <a:schemeClr val="bg2">
                    <a:lumMod val="60000"/>
                    <a:lumOff val="40000"/>
                  </a:schemeClr>
                </a:solidFill>
                <a:latin typeface="Cambria" pitchFamily="34" charset="0"/>
                <a:ea typeface="Cambria" pitchFamily="34" charset="-122"/>
                <a:cs typeface="Cambria" pitchFamily="34" charset="-120"/>
              </a:rPr>
              <a:t>01</a:t>
            </a:r>
            <a:endParaRPr lang="en-US" sz="2000" dirty="0">
              <a:solidFill>
                <a:schemeClr val="bg2">
                  <a:lumMod val="60000"/>
                  <a:lumOff val="40000"/>
                </a:schemeClr>
              </a:solidFill>
            </a:endParaRPr>
          </a:p>
        </p:txBody>
      </p:sp>
      <p:sp>
        <p:nvSpPr>
          <p:cNvPr id="6" name="Shape 4"/>
          <p:cNvSpPr/>
          <p:nvPr/>
        </p:nvSpPr>
        <p:spPr>
          <a:xfrm>
            <a:off x="5276088" y="1783080"/>
            <a:ext cx="457200" cy="457200"/>
          </a:xfrm>
          <a:prstGeom prst="ellipse">
            <a:avLst/>
          </a:prstGeom>
          <a:solidFill>
            <a:srgbClr val="EAF2F8"/>
          </a:solidFill>
          <a:ln/>
        </p:spPr>
      </p:sp>
      <p:pic>
        <p:nvPicPr>
          <p:cNvPr id="7" name="Image 0" descr="icons/bullseye_0B5E8C.png"/>
          <p:cNvPicPr>
            <a:picLocks noChangeAspect="1"/>
          </p:cNvPicPr>
          <p:nvPr/>
        </p:nvPicPr>
        <p:blipFill>
          <a:blip r:embed="rId3"/>
          <a:stretch>
            <a:fillRect/>
          </a:stretch>
        </p:blipFill>
        <p:spPr>
          <a:xfrm>
            <a:off x="5385816" y="1892808"/>
            <a:ext cx="237744" cy="237744"/>
          </a:xfrm>
          <a:prstGeom prst="rect">
            <a:avLst/>
          </a:prstGeom>
        </p:spPr>
      </p:pic>
      <p:sp>
        <p:nvSpPr>
          <p:cNvPr id="8" name="Text 5"/>
          <p:cNvSpPr/>
          <p:nvPr/>
        </p:nvSpPr>
        <p:spPr>
          <a:xfrm>
            <a:off x="804672" y="2240280"/>
            <a:ext cx="4389120" cy="320040"/>
          </a:xfrm>
          <a:prstGeom prst="rect">
            <a:avLst/>
          </a:prstGeom>
          <a:noFill/>
          <a:ln/>
        </p:spPr>
        <p:txBody>
          <a:bodyPr wrap="square"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Prioritize Lower-Coverage Districts</a:t>
            </a:r>
            <a:endParaRPr lang="en-US" sz="1600" dirty="0"/>
          </a:p>
        </p:txBody>
      </p:sp>
      <p:sp>
        <p:nvSpPr>
          <p:cNvPr id="9" name="Text 6"/>
          <p:cNvSpPr/>
          <p:nvPr/>
        </p:nvSpPr>
        <p:spPr>
          <a:xfrm>
            <a:off x="804672" y="2542032"/>
            <a:ext cx="4910328" cy="365760"/>
          </a:xfrm>
          <a:prstGeom prst="rect">
            <a:avLst/>
          </a:prstGeom>
          <a:noFill/>
          <a:ln/>
        </p:spPr>
        <p:txBody>
          <a:bodyPr wrap="square" rtlCol="0" anchor="ctr"/>
          <a:lstStyle/>
          <a:p>
            <a:pPr marL="0" indent="0">
              <a:lnSpc>
                <a:spcPct val="110000"/>
              </a:lnSpc>
              <a:buNone/>
            </a:pPr>
            <a:r>
              <a:rPr lang="en-US" sz="1200" dirty="0">
                <a:solidFill>
                  <a:srgbClr val="5B6B79"/>
                </a:solidFill>
                <a:latin typeface="Calibri" pitchFamily="34" charset="0"/>
                <a:ea typeface="Calibri" pitchFamily="34" charset="-122"/>
                <a:cs typeface="Calibri" pitchFamily="34" charset="-120"/>
              </a:rPr>
              <a:t>Focus monitoring and intervention on districts with comparatively lower coverage.</a:t>
            </a:r>
            <a:endParaRPr lang="en-US" sz="1200" dirty="0"/>
          </a:p>
        </p:txBody>
      </p:sp>
      <p:sp>
        <p:nvSpPr>
          <p:cNvPr id="10" name="Shape 7"/>
          <p:cNvSpPr/>
          <p:nvPr/>
        </p:nvSpPr>
        <p:spPr>
          <a:xfrm>
            <a:off x="6291072" y="1645920"/>
            <a:ext cx="5400000" cy="1368000"/>
          </a:xfrm>
          <a:prstGeom prst="roundRect">
            <a:avLst>
              <a:gd name="adj" fmla="val 5634"/>
            </a:avLst>
          </a:prstGeom>
          <a:solidFill>
            <a:srgbClr val="FFFFFF"/>
          </a:solidFill>
          <a:ln w="12700">
            <a:solidFill>
              <a:srgbClr val="D9E3EC"/>
            </a:solidFill>
            <a:prstDash val="solid"/>
          </a:ln>
          <a:effectLst>
            <a:outerShdw blurRad="76200" dist="38100" dir="5400000" algn="bl" rotWithShape="0">
              <a:srgbClr val="1B2A4A">
                <a:alpha val="10000"/>
              </a:srgbClr>
            </a:outerShdw>
          </a:effectLst>
        </p:spPr>
      </p:sp>
      <p:sp>
        <p:nvSpPr>
          <p:cNvPr id="11" name="Text 8"/>
          <p:cNvSpPr/>
          <p:nvPr/>
        </p:nvSpPr>
        <p:spPr>
          <a:xfrm>
            <a:off x="6455664" y="1773936"/>
            <a:ext cx="822960" cy="548640"/>
          </a:xfrm>
          <a:prstGeom prst="rect">
            <a:avLst/>
          </a:prstGeom>
          <a:noFill/>
          <a:ln/>
        </p:spPr>
        <p:txBody>
          <a:bodyPr wrap="square" rtlCol="0" anchor="ctr"/>
          <a:lstStyle/>
          <a:p>
            <a:pPr marL="0" indent="0">
              <a:buNone/>
            </a:pPr>
            <a:r>
              <a:rPr lang="en-US" sz="2200" b="1" dirty="0">
                <a:solidFill>
                  <a:schemeClr val="bg2">
                    <a:lumMod val="60000"/>
                    <a:lumOff val="40000"/>
                  </a:schemeClr>
                </a:solidFill>
                <a:latin typeface="Cambria" pitchFamily="34" charset="0"/>
                <a:ea typeface="Cambria" pitchFamily="34" charset="-122"/>
                <a:cs typeface="Cambria" pitchFamily="34" charset="-120"/>
              </a:rPr>
              <a:t>02</a:t>
            </a:r>
            <a:endParaRPr lang="en-US" sz="2200" dirty="0">
              <a:solidFill>
                <a:schemeClr val="bg2">
                  <a:lumMod val="60000"/>
                  <a:lumOff val="40000"/>
                </a:schemeClr>
              </a:solidFill>
            </a:endParaRPr>
          </a:p>
        </p:txBody>
      </p:sp>
      <p:sp>
        <p:nvSpPr>
          <p:cNvPr id="12" name="Shape 9"/>
          <p:cNvSpPr/>
          <p:nvPr/>
        </p:nvSpPr>
        <p:spPr>
          <a:xfrm>
            <a:off x="10927080" y="1783080"/>
            <a:ext cx="457200" cy="457200"/>
          </a:xfrm>
          <a:prstGeom prst="ellipse">
            <a:avLst/>
          </a:prstGeom>
          <a:solidFill>
            <a:srgbClr val="EAF2F8"/>
          </a:solidFill>
          <a:ln/>
        </p:spPr>
      </p:sp>
      <p:pic>
        <p:nvPicPr>
          <p:cNvPr id="13" name="Image 1" descr="icons/magnifyingGlassChart_0B5E8C.png"/>
          <p:cNvPicPr>
            <a:picLocks noChangeAspect="1"/>
          </p:cNvPicPr>
          <p:nvPr/>
        </p:nvPicPr>
        <p:blipFill>
          <a:blip r:embed="rId4"/>
          <a:stretch>
            <a:fillRect/>
          </a:stretch>
        </p:blipFill>
        <p:spPr>
          <a:xfrm>
            <a:off x="11036808" y="1892808"/>
            <a:ext cx="237744" cy="237744"/>
          </a:xfrm>
          <a:prstGeom prst="rect">
            <a:avLst/>
          </a:prstGeom>
        </p:spPr>
      </p:pic>
      <p:sp>
        <p:nvSpPr>
          <p:cNvPr id="14" name="Text 10"/>
          <p:cNvSpPr/>
          <p:nvPr/>
        </p:nvSpPr>
        <p:spPr>
          <a:xfrm>
            <a:off x="6455664" y="2240280"/>
            <a:ext cx="4389120" cy="320040"/>
          </a:xfrm>
          <a:prstGeom prst="rect">
            <a:avLst/>
          </a:prstGeom>
          <a:noFill/>
          <a:ln/>
        </p:spPr>
        <p:txBody>
          <a:bodyPr wrap="square"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Monitor Regional Performance Gaps</a:t>
            </a:r>
            <a:endParaRPr lang="en-US" sz="1600" dirty="0"/>
          </a:p>
        </p:txBody>
      </p:sp>
      <p:sp>
        <p:nvSpPr>
          <p:cNvPr id="15" name="Text 11"/>
          <p:cNvSpPr/>
          <p:nvPr/>
        </p:nvSpPr>
        <p:spPr>
          <a:xfrm>
            <a:off x="6455664" y="2542032"/>
            <a:ext cx="4910328" cy="365760"/>
          </a:xfrm>
          <a:prstGeom prst="rect">
            <a:avLst/>
          </a:prstGeom>
          <a:noFill/>
          <a:ln/>
        </p:spPr>
        <p:txBody>
          <a:bodyPr wrap="square" rtlCol="0" anchor="ctr"/>
          <a:lstStyle/>
          <a:p>
            <a:pPr marL="0" indent="0">
              <a:lnSpc>
                <a:spcPct val="110000"/>
              </a:lnSpc>
              <a:buNone/>
            </a:pPr>
            <a:r>
              <a:rPr lang="en-US" sz="1200" dirty="0">
                <a:solidFill>
                  <a:srgbClr val="5B6B79"/>
                </a:solidFill>
                <a:latin typeface="Calibri" pitchFamily="34" charset="0"/>
                <a:ea typeface="Calibri" pitchFamily="34" charset="-122"/>
                <a:cs typeface="Calibri" pitchFamily="34" charset="-120"/>
              </a:rPr>
              <a:t>Investigate differences in implementation performance across districts.</a:t>
            </a:r>
            <a:endParaRPr lang="en-US" sz="1200" dirty="0"/>
          </a:p>
        </p:txBody>
      </p:sp>
      <p:sp>
        <p:nvSpPr>
          <p:cNvPr id="16" name="Shape 12"/>
          <p:cNvSpPr/>
          <p:nvPr/>
        </p:nvSpPr>
        <p:spPr>
          <a:xfrm>
            <a:off x="640080" y="3163824"/>
            <a:ext cx="5400000" cy="1368000"/>
          </a:xfrm>
          <a:prstGeom prst="roundRect">
            <a:avLst>
              <a:gd name="adj" fmla="val 5634"/>
            </a:avLst>
          </a:prstGeom>
          <a:solidFill>
            <a:srgbClr val="FFFFFF"/>
          </a:solidFill>
          <a:ln w="12700">
            <a:solidFill>
              <a:srgbClr val="D9E3EC"/>
            </a:solidFill>
            <a:prstDash val="solid"/>
          </a:ln>
          <a:effectLst>
            <a:outerShdw blurRad="76200" dist="38100" dir="5400000" algn="bl" rotWithShape="0">
              <a:srgbClr val="1B2A4A">
                <a:alpha val="10000"/>
              </a:srgbClr>
            </a:outerShdw>
          </a:effectLst>
        </p:spPr>
      </p:sp>
      <p:sp>
        <p:nvSpPr>
          <p:cNvPr id="17" name="Text 13"/>
          <p:cNvSpPr/>
          <p:nvPr/>
        </p:nvSpPr>
        <p:spPr>
          <a:xfrm>
            <a:off x="804672" y="3291840"/>
            <a:ext cx="822960" cy="548640"/>
          </a:xfrm>
          <a:prstGeom prst="rect">
            <a:avLst/>
          </a:prstGeom>
          <a:noFill/>
          <a:ln/>
        </p:spPr>
        <p:txBody>
          <a:bodyPr wrap="square" rtlCol="0" anchor="ctr"/>
          <a:lstStyle/>
          <a:p>
            <a:pPr marL="0" indent="0">
              <a:buNone/>
            </a:pPr>
            <a:r>
              <a:rPr lang="en-US" sz="2200" b="1" dirty="0">
                <a:solidFill>
                  <a:schemeClr val="bg2">
                    <a:lumMod val="60000"/>
                    <a:lumOff val="40000"/>
                  </a:schemeClr>
                </a:solidFill>
                <a:latin typeface="Cambria" pitchFamily="34" charset="0"/>
                <a:ea typeface="Cambria" pitchFamily="34" charset="-122"/>
                <a:cs typeface="Cambria" pitchFamily="34" charset="-120"/>
              </a:rPr>
              <a:t>03</a:t>
            </a:r>
            <a:endParaRPr lang="en-US" sz="2200" dirty="0">
              <a:solidFill>
                <a:schemeClr val="bg2">
                  <a:lumMod val="60000"/>
                  <a:lumOff val="40000"/>
                </a:schemeClr>
              </a:solidFill>
            </a:endParaRPr>
          </a:p>
        </p:txBody>
      </p:sp>
      <p:sp>
        <p:nvSpPr>
          <p:cNvPr id="18" name="Shape 14"/>
          <p:cNvSpPr/>
          <p:nvPr/>
        </p:nvSpPr>
        <p:spPr>
          <a:xfrm>
            <a:off x="5276088" y="3300984"/>
            <a:ext cx="457200" cy="457200"/>
          </a:xfrm>
          <a:prstGeom prst="ellipse">
            <a:avLst/>
          </a:prstGeom>
          <a:solidFill>
            <a:srgbClr val="EAF2F8"/>
          </a:solidFill>
          <a:ln/>
        </p:spPr>
      </p:sp>
      <p:pic>
        <p:nvPicPr>
          <p:cNvPr id="19" name="Image 2" descr="icons/award_0B5E8C.png"/>
          <p:cNvPicPr>
            <a:picLocks noChangeAspect="1"/>
          </p:cNvPicPr>
          <p:nvPr/>
        </p:nvPicPr>
        <p:blipFill>
          <a:blip r:embed="rId5"/>
          <a:stretch>
            <a:fillRect/>
          </a:stretch>
        </p:blipFill>
        <p:spPr>
          <a:xfrm>
            <a:off x="5385816" y="3410712"/>
            <a:ext cx="237744" cy="237744"/>
          </a:xfrm>
          <a:prstGeom prst="rect">
            <a:avLst/>
          </a:prstGeom>
        </p:spPr>
      </p:pic>
      <p:sp>
        <p:nvSpPr>
          <p:cNvPr id="20" name="Text 15"/>
          <p:cNvSpPr/>
          <p:nvPr/>
        </p:nvSpPr>
        <p:spPr>
          <a:xfrm>
            <a:off x="804672" y="3758184"/>
            <a:ext cx="4389120" cy="320040"/>
          </a:xfrm>
          <a:prstGeom prst="rect">
            <a:avLst/>
          </a:prstGeom>
          <a:noFill/>
          <a:ln/>
        </p:spPr>
        <p:txBody>
          <a:bodyPr wrap="square"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Learn from High-Performing Districts</a:t>
            </a:r>
            <a:endParaRPr lang="en-US" sz="1600" dirty="0"/>
          </a:p>
        </p:txBody>
      </p:sp>
      <p:sp>
        <p:nvSpPr>
          <p:cNvPr id="21" name="Text 16"/>
          <p:cNvSpPr/>
          <p:nvPr/>
        </p:nvSpPr>
        <p:spPr>
          <a:xfrm>
            <a:off x="804672" y="4059936"/>
            <a:ext cx="4910328" cy="365760"/>
          </a:xfrm>
          <a:prstGeom prst="rect">
            <a:avLst/>
          </a:prstGeom>
          <a:noFill/>
          <a:ln/>
        </p:spPr>
        <p:txBody>
          <a:bodyPr wrap="square" rtlCol="0" anchor="ctr"/>
          <a:lstStyle/>
          <a:p>
            <a:pPr marL="0" indent="0">
              <a:lnSpc>
                <a:spcPct val="110000"/>
              </a:lnSpc>
              <a:buNone/>
            </a:pPr>
            <a:r>
              <a:rPr lang="en-US" sz="1200" dirty="0">
                <a:solidFill>
                  <a:srgbClr val="5B6B79"/>
                </a:solidFill>
                <a:latin typeface="Calibri" pitchFamily="34" charset="0"/>
                <a:ea typeface="Calibri" pitchFamily="34" charset="-122"/>
                <a:cs typeface="Calibri" pitchFamily="34" charset="-120"/>
              </a:rPr>
              <a:t>Study high-performing districts and identify practices that may be adapted elsewhere.</a:t>
            </a:r>
            <a:endParaRPr lang="en-US" sz="1200" dirty="0"/>
          </a:p>
        </p:txBody>
      </p:sp>
      <p:sp>
        <p:nvSpPr>
          <p:cNvPr id="22" name="Shape 17"/>
          <p:cNvSpPr/>
          <p:nvPr/>
        </p:nvSpPr>
        <p:spPr>
          <a:xfrm>
            <a:off x="6291072" y="3163824"/>
            <a:ext cx="5400000" cy="1368000"/>
          </a:xfrm>
          <a:prstGeom prst="roundRect">
            <a:avLst>
              <a:gd name="adj" fmla="val 5634"/>
            </a:avLst>
          </a:prstGeom>
          <a:solidFill>
            <a:srgbClr val="FFFFFF"/>
          </a:solidFill>
          <a:ln w="12700">
            <a:solidFill>
              <a:srgbClr val="D9E3EC"/>
            </a:solidFill>
            <a:prstDash val="solid"/>
          </a:ln>
          <a:effectLst>
            <a:outerShdw blurRad="76200" dist="38100" dir="5400000" algn="bl" rotWithShape="0">
              <a:srgbClr val="1B2A4A">
                <a:alpha val="10000"/>
              </a:srgbClr>
            </a:outerShdw>
          </a:effectLst>
        </p:spPr>
      </p:sp>
      <p:sp>
        <p:nvSpPr>
          <p:cNvPr id="23" name="Text 18"/>
          <p:cNvSpPr/>
          <p:nvPr/>
        </p:nvSpPr>
        <p:spPr>
          <a:xfrm>
            <a:off x="6455664" y="3291840"/>
            <a:ext cx="822960" cy="548640"/>
          </a:xfrm>
          <a:prstGeom prst="rect">
            <a:avLst/>
          </a:prstGeom>
          <a:noFill/>
          <a:ln/>
        </p:spPr>
        <p:txBody>
          <a:bodyPr wrap="square" rtlCol="0" anchor="ctr"/>
          <a:lstStyle/>
          <a:p>
            <a:pPr marL="0" indent="0">
              <a:buNone/>
            </a:pPr>
            <a:r>
              <a:rPr lang="en-US" sz="2200" b="1" dirty="0">
                <a:solidFill>
                  <a:schemeClr val="bg2">
                    <a:lumMod val="60000"/>
                    <a:lumOff val="40000"/>
                  </a:schemeClr>
                </a:solidFill>
                <a:latin typeface="Cambria" pitchFamily="34" charset="0"/>
                <a:ea typeface="Cambria" pitchFamily="34" charset="-122"/>
                <a:cs typeface="Cambria" pitchFamily="34" charset="-120"/>
              </a:rPr>
              <a:t>04</a:t>
            </a:r>
            <a:endParaRPr lang="en-US" sz="2200" dirty="0">
              <a:solidFill>
                <a:schemeClr val="bg2">
                  <a:lumMod val="60000"/>
                  <a:lumOff val="40000"/>
                </a:schemeClr>
              </a:solidFill>
            </a:endParaRPr>
          </a:p>
        </p:txBody>
      </p:sp>
      <p:sp>
        <p:nvSpPr>
          <p:cNvPr id="24" name="Shape 19"/>
          <p:cNvSpPr/>
          <p:nvPr/>
        </p:nvSpPr>
        <p:spPr>
          <a:xfrm>
            <a:off x="10927080" y="3300984"/>
            <a:ext cx="457200" cy="457200"/>
          </a:xfrm>
          <a:prstGeom prst="ellipse">
            <a:avLst/>
          </a:prstGeom>
          <a:solidFill>
            <a:srgbClr val="EAF2F8"/>
          </a:solidFill>
          <a:ln/>
        </p:spPr>
      </p:sp>
      <p:pic>
        <p:nvPicPr>
          <p:cNvPr id="25" name="Image 3" descr="icons/chartPie_0B5E8C.png"/>
          <p:cNvPicPr>
            <a:picLocks noChangeAspect="1"/>
          </p:cNvPicPr>
          <p:nvPr/>
        </p:nvPicPr>
        <p:blipFill>
          <a:blip r:embed="rId6"/>
          <a:stretch>
            <a:fillRect/>
          </a:stretch>
        </p:blipFill>
        <p:spPr>
          <a:xfrm>
            <a:off x="11036808" y="3410712"/>
            <a:ext cx="237744" cy="237744"/>
          </a:xfrm>
          <a:prstGeom prst="rect">
            <a:avLst/>
          </a:prstGeom>
        </p:spPr>
      </p:pic>
      <p:sp>
        <p:nvSpPr>
          <p:cNvPr id="26" name="Text 20"/>
          <p:cNvSpPr/>
          <p:nvPr/>
        </p:nvSpPr>
        <p:spPr>
          <a:xfrm>
            <a:off x="6455664" y="3758184"/>
            <a:ext cx="4389120" cy="320040"/>
          </a:xfrm>
          <a:prstGeom prst="rect">
            <a:avLst/>
          </a:prstGeom>
          <a:noFill/>
          <a:ln/>
        </p:spPr>
        <p:txBody>
          <a:bodyPr wrap="square"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Monitor Water-Source Mix</a:t>
            </a:r>
            <a:endParaRPr lang="en-US" sz="1600" dirty="0"/>
          </a:p>
        </p:txBody>
      </p:sp>
      <p:sp>
        <p:nvSpPr>
          <p:cNvPr id="27" name="Text 21"/>
          <p:cNvSpPr/>
          <p:nvPr/>
        </p:nvSpPr>
        <p:spPr>
          <a:xfrm>
            <a:off x="6455664" y="4059936"/>
            <a:ext cx="4910328" cy="365760"/>
          </a:xfrm>
          <a:prstGeom prst="rect">
            <a:avLst/>
          </a:prstGeom>
          <a:noFill/>
          <a:ln/>
        </p:spPr>
        <p:txBody>
          <a:bodyPr wrap="square" rtlCol="0" anchor="ctr"/>
          <a:lstStyle/>
          <a:p>
            <a:pPr marL="0" indent="0">
              <a:lnSpc>
                <a:spcPct val="110000"/>
              </a:lnSpc>
              <a:buNone/>
            </a:pPr>
            <a:r>
              <a:rPr lang="en-US" sz="1200" dirty="0">
                <a:solidFill>
                  <a:srgbClr val="5B6B79"/>
                </a:solidFill>
                <a:latin typeface="Calibri" pitchFamily="34" charset="0"/>
                <a:ea typeface="Calibri" pitchFamily="34" charset="-122"/>
                <a:cs typeface="Calibri" pitchFamily="34" charset="-120"/>
              </a:rPr>
              <a:t>Track groundwater and surface-water utilization as part of implementation monitoring.</a:t>
            </a:r>
            <a:endParaRPr lang="en-US" sz="1200" dirty="0"/>
          </a:p>
        </p:txBody>
      </p:sp>
      <p:sp>
        <p:nvSpPr>
          <p:cNvPr id="28" name="Shape 22"/>
          <p:cNvSpPr/>
          <p:nvPr/>
        </p:nvSpPr>
        <p:spPr>
          <a:xfrm>
            <a:off x="640080" y="4681728"/>
            <a:ext cx="5400000" cy="1368000"/>
          </a:xfrm>
          <a:prstGeom prst="roundRect">
            <a:avLst>
              <a:gd name="adj" fmla="val 5634"/>
            </a:avLst>
          </a:prstGeom>
          <a:solidFill>
            <a:srgbClr val="FFFFFF"/>
          </a:solidFill>
          <a:ln w="12700">
            <a:solidFill>
              <a:srgbClr val="D9E3EC"/>
            </a:solidFill>
            <a:prstDash val="solid"/>
          </a:ln>
          <a:effectLst>
            <a:outerShdw blurRad="76200" dist="38100" dir="5400000" algn="bl" rotWithShape="0">
              <a:srgbClr val="1B2A4A">
                <a:alpha val="10000"/>
              </a:srgbClr>
            </a:outerShdw>
          </a:effectLst>
        </p:spPr>
      </p:sp>
      <p:sp>
        <p:nvSpPr>
          <p:cNvPr id="29" name="Text 23"/>
          <p:cNvSpPr/>
          <p:nvPr/>
        </p:nvSpPr>
        <p:spPr>
          <a:xfrm>
            <a:off x="804672" y="4809744"/>
            <a:ext cx="822960" cy="548640"/>
          </a:xfrm>
          <a:prstGeom prst="rect">
            <a:avLst/>
          </a:prstGeom>
          <a:noFill/>
          <a:ln/>
        </p:spPr>
        <p:txBody>
          <a:bodyPr wrap="square" rtlCol="0" anchor="ctr"/>
          <a:lstStyle/>
          <a:p>
            <a:pPr marL="0" indent="0">
              <a:buNone/>
            </a:pPr>
            <a:r>
              <a:rPr lang="en-US" sz="2200" b="1" dirty="0">
                <a:solidFill>
                  <a:schemeClr val="bg2">
                    <a:lumMod val="60000"/>
                    <a:lumOff val="40000"/>
                  </a:schemeClr>
                </a:solidFill>
                <a:latin typeface="Cambria" pitchFamily="34" charset="0"/>
                <a:ea typeface="Cambria" pitchFamily="34" charset="-122"/>
                <a:cs typeface="Cambria" pitchFamily="34" charset="-120"/>
              </a:rPr>
              <a:t>05</a:t>
            </a:r>
            <a:endParaRPr lang="en-US" sz="2200" dirty="0">
              <a:solidFill>
                <a:schemeClr val="bg2">
                  <a:lumMod val="60000"/>
                  <a:lumOff val="40000"/>
                </a:schemeClr>
              </a:solidFill>
            </a:endParaRPr>
          </a:p>
        </p:txBody>
      </p:sp>
      <p:sp>
        <p:nvSpPr>
          <p:cNvPr id="30" name="Shape 24"/>
          <p:cNvSpPr/>
          <p:nvPr/>
        </p:nvSpPr>
        <p:spPr>
          <a:xfrm>
            <a:off x="5276088" y="4818888"/>
            <a:ext cx="457200" cy="457200"/>
          </a:xfrm>
          <a:prstGeom prst="ellipse">
            <a:avLst/>
          </a:prstGeom>
          <a:solidFill>
            <a:srgbClr val="EAF2F8"/>
          </a:solidFill>
          <a:ln/>
        </p:spPr>
      </p:sp>
      <p:pic>
        <p:nvPicPr>
          <p:cNvPr id="31" name="Image 4" descr="icons/chartLine_0B5E8C.png"/>
          <p:cNvPicPr>
            <a:picLocks noChangeAspect="1"/>
          </p:cNvPicPr>
          <p:nvPr/>
        </p:nvPicPr>
        <p:blipFill>
          <a:blip r:embed="rId7"/>
          <a:stretch>
            <a:fillRect/>
          </a:stretch>
        </p:blipFill>
        <p:spPr>
          <a:xfrm>
            <a:off x="5385816" y="4928616"/>
            <a:ext cx="237744" cy="237744"/>
          </a:xfrm>
          <a:prstGeom prst="rect">
            <a:avLst/>
          </a:prstGeom>
        </p:spPr>
      </p:pic>
      <p:sp>
        <p:nvSpPr>
          <p:cNvPr id="32" name="Text 25"/>
          <p:cNvSpPr/>
          <p:nvPr/>
        </p:nvSpPr>
        <p:spPr>
          <a:xfrm>
            <a:off x="804672" y="5276088"/>
            <a:ext cx="4389120" cy="320040"/>
          </a:xfrm>
          <a:prstGeom prst="rect">
            <a:avLst/>
          </a:prstGeom>
          <a:noFill/>
          <a:ln/>
        </p:spPr>
        <p:txBody>
          <a:bodyPr wrap="square"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Strengthen Trend Monitoring</a:t>
            </a:r>
            <a:endParaRPr lang="en-US" sz="1600" dirty="0"/>
          </a:p>
        </p:txBody>
      </p:sp>
      <p:sp>
        <p:nvSpPr>
          <p:cNvPr id="33" name="Text 26"/>
          <p:cNvSpPr/>
          <p:nvPr/>
        </p:nvSpPr>
        <p:spPr>
          <a:xfrm>
            <a:off x="804672" y="5577840"/>
            <a:ext cx="4910328" cy="365760"/>
          </a:xfrm>
          <a:prstGeom prst="rect">
            <a:avLst/>
          </a:prstGeom>
          <a:noFill/>
          <a:ln/>
        </p:spPr>
        <p:txBody>
          <a:bodyPr wrap="square" rtlCol="0" anchor="ctr"/>
          <a:lstStyle/>
          <a:p>
            <a:pPr marL="0" indent="0">
              <a:lnSpc>
                <a:spcPct val="110000"/>
              </a:lnSpc>
              <a:buNone/>
            </a:pPr>
            <a:r>
              <a:rPr lang="en-US" sz="1200" dirty="0">
                <a:solidFill>
                  <a:srgbClr val="5B6B79"/>
                </a:solidFill>
                <a:latin typeface="Calibri" pitchFamily="34" charset="0"/>
                <a:ea typeface="Calibri" pitchFamily="34" charset="-122"/>
                <a:cs typeface="Calibri" pitchFamily="34" charset="-120"/>
              </a:rPr>
              <a:t>Review monthly / yearly changes to identify fluctuations in implementation</a:t>
            </a:r>
            <a:r>
              <a:rPr lang="en-US" sz="960" dirty="0">
                <a:solidFill>
                  <a:srgbClr val="5B6B79"/>
                </a:solidFill>
                <a:latin typeface="Calibri" pitchFamily="34" charset="0"/>
                <a:ea typeface="Calibri" pitchFamily="34" charset="-122"/>
                <a:cs typeface="Calibri" pitchFamily="34" charset="-120"/>
              </a:rPr>
              <a:t>.</a:t>
            </a:r>
            <a:endParaRPr lang="en-US" sz="960" dirty="0"/>
          </a:p>
        </p:txBody>
      </p:sp>
      <p:sp>
        <p:nvSpPr>
          <p:cNvPr id="34" name="Shape 27"/>
          <p:cNvSpPr/>
          <p:nvPr/>
        </p:nvSpPr>
        <p:spPr>
          <a:xfrm>
            <a:off x="6291072" y="4681728"/>
            <a:ext cx="5400000" cy="1368000"/>
          </a:xfrm>
          <a:prstGeom prst="roundRect">
            <a:avLst>
              <a:gd name="adj" fmla="val 5634"/>
            </a:avLst>
          </a:prstGeom>
          <a:solidFill>
            <a:srgbClr val="FFFFFF"/>
          </a:solidFill>
          <a:ln w="12700">
            <a:solidFill>
              <a:srgbClr val="D9E3EC"/>
            </a:solidFill>
            <a:prstDash val="solid"/>
          </a:ln>
          <a:effectLst>
            <a:outerShdw blurRad="76200" dist="38100" dir="5400000" algn="bl" rotWithShape="0">
              <a:srgbClr val="1B2A4A">
                <a:alpha val="10000"/>
              </a:srgbClr>
            </a:outerShdw>
          </a:effectLst>
        </p:spPr>
      </p:sp>
      <p:sp>
        <p:nvSpPr>
          <p:cNvPr id="35" name="Text 28"/>
          <p:cNvSpPr/>
          <p:nvPr/>
        </p:nvSpPr>
        <p:spPr>
          <a:xfrm>
            <a:off x="6455664" y="4809744"/>
            <a:ext cx="822960" cy="548640"/>
          </a:xfrm>
          <a:prstGeom prst="rect">
            <a:avLst/>
          </a:prstGeom>
          <a:noFill/>
          <a:ln/>
        </p:spPr>
        <p:txBody>
          <a:bodyPr wrap="square" rtlCol="0" anchor="ctr"/>
          <a:lstStyle/>
          <a:p>
            <a:pPr marL="0" indent="0">
              <a:buNone/>
            </a:pPr>
            <a:r>
              <a:rPr lang="en-US" sz="2200" b="1" dirty="0">
                <a:solidFill>
                  <a:schemeClr val="bg2">
                    <a:lumMod val="60000"/>
                    <a:lumOff val="40000"/>
                  </a:schemeClr>
                </a:solidFill>
                <a:latin typeface="Cambria" pitchFamily="34" charset="0"/>
                <a:ea typeface="Cambria" pitchFamily="34" charset="-122"/>
                <a:cs typeface="Cambria" pitchFamily="34" charset="-120"/>
              </a:rPr>
              <a:t>06</a:t>
            </a:r>
            <a:endParaRPr lang="en-US" sz="2200" dirty="0">
              <a:solidFill>
                <a:schemeClr val="bg2">
                  <a:lumMod val="60000"/>
                  <a:lumOff val="40000"/>
                </a:schemeClr>
              </a:solidFill>
            </a:endParaRPr>
          </a:p>
        </p:txBody>
      </p:sp>
      <p:sp>
        <p:nvSpPr>
          <p:cNvPr id="36" name="Shape 29"/>
          <p:cNvSpPr/>
          <p:nvPr/>
        </p:nvSpPr>
        <p:spPr>
          <a:xfrm>
            <a:off x="10927080" y="4818888"/>
            <a:ext cx="457200" cy="457200"/>
          </a:xfrm>
          <a:prstGeom prst="ellipse">
            <a:avLst/>
          </a:prstGeom>
          <a:solidFill>
            <a:srgbClr val="EAF2F8"/>
          </a:solidFill>
          <a:ln/>
        </p:spPr>
      </p:sp>
      <p:pic>
        <p:nvPicPr>
          <p:cNvPr id="37" name="Image 5" descr="icons/calendar_0B5E8C.png"/>
          <p:cNvPicPr>
            <a:picLocks noChangeAspect="1"/>
          </p:cNvPicPr>
          <p:nvPr/>
        </p:nvPicPr>
        <p:blipFill>
          <a:blip r:embed="rId8"/>
          <a:stretch>
            <a:fillRect/>
          </a:stretch>
        </p:blipFill>
        <p:spPr>
          <a:xfrm>
            <a:off x="11036808" y="4928616"/>
            <a:ext cx="237744" cy="237744"/>
          </a:xfrm>
          <a:prstGeom prst="rect">
            <a:avLst/>
          </a:prstGeom>
        </p:spPr>
      </p:pic>
      <p:sp>
        <p:nvSpPr>
          <p:cNvPr id="38" name="Text 30"/>
          <p:cNvSpPr/>
          <p:nvPr/>
        </p:nvSpPr>
        <p:spPr>
          <a:xfrm>
            <a:off x="6455664" y="5276088"/>
            <a:ext cx="4389120" cy="320040"/>
          </a:xfrm>
          <a:prstGeom prst="rect">
            <a:avLst/>
          </a:prstGeom>
          <a:noFill/>
          <a:ln/>
        </p:spPr>
        <p:txBody>
          <a:bodyPr wrap="square"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Use Dashboard for Periodic Reviews</a:t>
            </a:r>
            <a:endParaRPr lang="en-US" sz="1600" dirty="0"/>
          </a:p>
        </p:txBody>
      </p:sp>
      <p:sp>
        <p:nvSpPr>
          <p:cNvPr id="39" name="Text 31"/>
          <p:cNvSpPr/>
          <p:nvPr/>
        </p:nvSpPr>
        <p:spPr>
          <a:xfrm>
            <a:off x="6455664" y="5577840"/>
            <a:ext cx="4910328" cy="365760"/>
          </a:xfrm>
          <a:prstGeom prst="rect">
            <a:avLst/>
          </a:prstGeom>
          <a:noFill/>
          <a:ln/>
        </p:spPr>
        <p:txBody>
          <a:bodyPr wrap="square" rtlCol="0" anchor="ctr"/>
          <a:lstStyle/>
          <a:p>
            <a:pPr marL="0" indent="0">
              <a:lnSpc>
                <a:spcPct val="110000"/>
              </a:lnSpc>
              <a:buNone/>
            </a:pPr>
            <a:r>
              <a:rPr lang="en-US" sz="1200" dirty="0">
                <a:solidFill>
                  <a:srgbClr val="5B6B79"/>
                </a:solidFill>
                <a:latin typeface="Calibri" pitchFamily="34" charset="0"/>
                <a:ea typeface="Calibri" pitchFamily="34" charset="-122"/>
                <a:cs typeface="Calibri" pitchFamily="34" charset="-120"/>
              </a:rPr>
              <a:t>Use the dashboard for recurring district-level performance monitoring and decision-making.</a:t>
            </a:r>
            <a:endParaRPr lang="en-US" sz="1200" dirty="0"/>
          </a:p>
        </p:txBody>
      </p:sp>
      <p:sp>
        <p:nvSpPr>
          <p:cNvPr id="40" name="Text 3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18</a:t>
            </a:r>
            <a:endParaRPr lang="en-US" sz="1000" dirty="0"/>
          </a:p>
        </p:txBody>
      </p:sp>
      <p:sp>
        <p:nvSpPr>
          <p:cNvPr id="41" name="Text 33"/>
          <p:cNvSpPr/>
          <p:nvPr/>
        </p:nvSpPr>
        <p:spPr>
          <a:xfrm>
            <a:off x="8899855" y="6400800"/>
            <a:ext cx="2560320" cy="274320"/>
          </a:xfrm>
          <a:prstGeom prst="rect">
            <a:avLst/>
          </a:prstGeom>
          <a:noFill/>
          <a:ln/>
        </p:spPr>
        <p:txBody>
          <a:bodyPr wrap="square" rtlCol="0" anchor="ctr"/>
          <a:lstStyle/>
          <a:p>
            <a:pPr marL="0" indent="0" algn="r">
              <a:buNone/>
            </a:pPr>
            <a:r>
              <a:rPr lang="en-US" sz="900" b="1" kern="0" spc="150" dirty="0">
                <a:solidFill>
                  <a:srgbClr val="9AAABE"/>
                </a:solidFill>
                <a:latin typeface="Calibri" pitchFamily="34" charset="0"/>
                <a:ea typeface="Calibri" pitchFamily="34" charset="-122"/>
                <a:cs typeface="Calibri" pitchFamily="34" charset="-120"/>
              </a:rPr>
              <a:t>RECOMMENDATIONS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8961120" y="-2286000"/>
            <a:ext cx="6400800" cy="6400800"/>
          </a:xfrm>
          <a:prstGeom prst="ellipse">
            <a:avLst/>
          </a:prstGeom>
          <a:solidFill>
            <a:srgbClr val="0B5E8C">
              <a:alpha val="25000"/>
            </a:srgbClr>
          </a:solidFill>
          <a:ln/>
        </p:spPr>
      </p:sp>
      <p:sp>
        <p:nvSpPr>
          <p:cNvPr id="3" name="Shape 1"/>
          <p:cNvSpPr/>
          <p:nvPr/>
        </p:nvSpPr>
        <p:spPr>
          <a:xfrm>
            <a:off x="-2377440" y="3931920"/>
            <a:ext cx="5029200" cy="5029200"/>
          </a:xfrm>
          <a:prstGeom prst="ellipse">
            <a:avLst/>
          </a:prstGeom>
          <a:solidFill>
            <a:srgbClr val="1C7293">
              <a:alpha val="22000"/>
            </a:srgbClr>
          </a:solidFill>
          <a:ln/>
        </p:spPr>
      </p:sp>
      <p:sp>
        <p:nvSpPr>
          <p:cNvPr id="4" name="Text 2"/>
          <p:cNvSpPr/>
          <p:nvPr/>
        </p:nvSpPr>
        <p:spPr>
          <a:xfrm>
            <a:off x="640080" y="411480"/>
            <a:ext cx="8229600" cy="320040"/>
          </a:xfrm>
          <a:prstGeom prst="rect">
            <a:avLst/>
          </a:prstGeom>
          <a:noFill/>
          <a:ln/>
        </p:spPr>
        <p:txBody>
          <a:bodyPr wrap="square" rtlCol="0" anchor="ctr"/>
          <a:lstStyle/>
          <a:p>
            <a:pPr marL="0" indent="0">
              <a:buNone/>
            </a:pPr>
            <a:r>
              <a:rPr lang="en-US" sz="2000" b="1" kern="0" spc="200" dirty="0">
                <a:solidFill>
                  <a:srgbClr val="E8763C"/>
                </a:solidFill>
                <a:latin typeface="Calibri" pitchFamily="34" charset="0"/>
                <a:ea typeface="Calibri" pitchFamily="34" charset="-122"/>
                <a:cs typeface="Calibri" pitchFamily="34" charset="-120"/>
              </a:rPr>
              <a:t>WRAPPING UP</a:t>
            </a:r>
            <a:endParaRPr lang="en-US" sz="2000" dirty="0"/>
          </a:p>
        </p:txBody>
      </p:sp>
      <p:sp>
        <p:nvSpPr>
          <p:cNvPr id="5" name="Text 3"/>
          <p:cNvSpPr/>
          <p:nvPr/>
        </p:nvSpPr>
        <p:spPr>
          <a:xfrm>
            <a:off x="640080" y="713232"/>
            <a:ext cx="7315200" cy="685800"/>
          </a:xfrm>
          <a:prstGeom prst="rect">
            <a:avLst/>
          </a:prstGeom>
          <a:noFill/>
          <a:ln/>
        </p:spPr>
        <p:txBody>
          <a:bodyPr wrap="square" rtlCol="0" anchor="ctr"/>
          <a:lstStyle/>
          <a:p>
            <a:pPr marL="0" indent="0">
              <a:buNone/>
            </a:pPr>
            <a:r>
              <a:rPr lang="en-US" sz="3600" b="1" u="sng" dirty="0">
                <a:solidFill>
                  <a:srgbClr val="FFFFFF"/>
                </a:solidFill>
                <a:latin typeface="Cambria" pitchFamily="34" charset="0"/>
                <a:ea typeface="Cambria" pitchFamily="34" charset="-122"/>
                <a:cs typeface="Cambria" pitchFamily="34" charset="-120"/>
              </a:rPr>
              <a:t>Conclusion</a:t>
            </a:r>
            <a:endParaRPr lang="en-US" sz="3600" u="sng" dirty="0"/>
          </a:p>
        </p:txBody>
      </p:sp>
      <p:sp>
        <p:nvSpPr>
          <p:cNvPr id="6" name="Text 4"/>
          <p:cNvSpPr/>
          <p:nvPr/>
        </p:nvSpPr>
        <p:spPr>
          <a:xfrm>
            <a:off x="640080" y="1463040"/>
            <a:ext cx="6583680" cy="1005840"/>
          </a:xfrm>
          <a:prstGeom prst="rect">
            <a:avLst/>
          </a:prstGeom>
          <a:noFill/>
          <a:ln/>
        </p:spPr>
        <p:txBody>
          <a:bodyPr wrap="square" rtlCol="0" anchor="ctr"/>
          <a:lstStyle/>
          <a:p>
            <a:pPr marL="0" indent="0">
              <a:lnSpc>
                <a:spcPct val="130000"/>
              </a:lnSpc>
              <a:buNone/>
            </a:pPr>
            <a:r>
              <a:rPr lang="en-US" dirty="0">
                <a:solidFill>
                  <a:srgbClr val="D7E6F0"/>
                </a:solidFill>
                <a:latin typeface="Calibri" pitchFamily="34" charset="0"/>
                <a:ea typeface="Calibri" pitchFamily="34" charset="-122"/>
                <a:cs typeface="Calibri" pitchFamily="34" charset="-120"/>
              </a:rPr>
              <a:t>The Jal Jeevan Mission dashboard transforms FHTC implementation data into a consolidated view of coverage, district performance, source distribution, and trends over time.</a:t>
            </a:r>
            <a:endParaRPr lang="en-US" dirty="0"/>
          </a:p>
        </p:txBody>
      </p:sp>
      <p:sp>
        <p:nvSpPr>
          <p:cNvPr id="7" name="Shape 5"/>
          <p:cNvSpPr/>
          <p:nvPr/>
        </p:nvSpPr>
        <p:spPr>
          <a:xfrm>
            <a:off x="640080" y="2679192"/>
            <a:ext cx="310896" cy="310896"/>
          </a:xfrm>
          <a:prstGeom prst="ellipse">
            <a:avLst/>
          </a:prstGeom>
          <a:solidFill>
            <a:srgbClr val="24365C"/>
          </a:solidFill>
          <a:ln/>
        </p:spPr>
      </p:sp>
      <p:pic>
        <p:nvPicPr>
          <p:cNvPr id="8" name="Image 0" descr="icons/checkCircle_E8763C.png"/>
          <p:cNvPicPr>
            <a:picLocks noChangeAspect="1"/>
          </p:cNvPicPr>
          <p:nvPr/>
        </p:nvPicPr>
        <p:blipFill>
          <a:blip r:embed="rId3"/>
          <a:stretch>
            <a:fillRect/>
          </a:stretch>
        </p:blipFill>
        <p:spPr>
          <a:xfrm>
            <a:off x="713232" y="2734056"/>
            <a:ext cx="201168" cy="201168"/>
          </a:xfrm>
          <a:prstGeom prst="rect">
            <a:avLst/>
          </a:prstGeom>
        </p:spPr>
      </p:pic>
      <p:sp>
        <p:nvSpPr>
          <p:cNvPr id="9" name="Text 6"/>
          <p:cNvSpPr/>
          <p:nvPr/>
        </p:nvSpPr>
        <p:spPr>
          <a:xfrm>
            <a:off x="1097280" y="2578608"/>
            <a:ext cx="6217920" cy="365760"/>
          </a:xfrm>
          <a:prstGeom prst="rect">
            <a:avLst/>
          </a:prstGeom>
          <a:noFill/>
          <a:ln/>
        </p:spPr>
        <p:txBody>
          <a:bodyPr wrap="square" rtlCol="0" anchor="ctr"/>
          <a:lstStyle/>
          <a:p>
            <a:pPr marL="0" indent="0">
              <a:lnSpc>
                <a:spcPct val="150000"/>
              </a:lnSpc>
              <a:buNone/>
            </a:pPr>
            <a:r>
              <a:rPr lang="en-US" sz="2000" dirty="0">
                <a:solidFill>
                  <a:srgbClr val="FFFFFF"/>
                </a:solidFill>
                <a:latin typeface="Calibri" pitchFamily="34" charset="0"/>
                <a:ea typeface="Calibri" pitchFamily="34" charset="-122"/>
                <a:cs typeface="Calibri" pitchFamily="34" charset="-120"/>
              </a:rPr>
              <a:t>Overall progress monitoring</a:t>
            </a:r>
            <a:endParaRPr lang="en-US" sz="2000" dirty="0"/>
          </a:p>
        </p:txBody>
      </p:sp>
      <p:sp>
        <p:nvSpPr>
          <p:cNvPr id="10" name="Shape 7"/>
          <p:cNvSpPr/>
          <p:nvPr/>
        </p:nvSpPr>
        <p:spPr>
          <a:xfrm>
            <a:off x="640080" y="3131820"/>
            <a:ext cx="310896" cy="310896"/>
          </a:xfrm>
          <a:prstGeom prst="ellipse">
            <a:avLst/>
          </a:prstGeom>
          <a:solidFill>
            <a:srgbClr val="24365C"/>
          </a:solidFill>
          <a:ln/>
        </p:spPr>
      </p:sp>
      <p:pic>
        <p:nvPicPr>
          <p:cNvPr id="11" name="Image 1" descr="icons/checkCircle_E8763C.png"/>
          <p:cNvPicPr>
            <a:picLocks noChangeAspect="1"/>
          </p:cNvPicPr>
          <p:nvPr/>
        </p:nvPicPr>
        <p:blipFill>
          <a:blip r:embed="rId3"/>
          <a:stretch>
            <a:fillRect/>
          </a:stretch>
        </p:blipFill>
        <p:spPr>
          <a:xfrm>
            <a:off x="691306" y="3203694"/>
            <a:ext cx="201168" cy="201168"/>
          </a:xfrm>
          <a:prstGeom prst="rect">
            <a:avLst/>
          </a:prstGeom>
        </p:spPr>
      </p:pic>
      <p:sp>
        <p:nvSpPr>
          <p:cNvPr id="12" name="Text 8"/>
          <p:cNvSpPr/>
          <p:nvPr/>
        </p:nvSpPr>
        <p:spPr>
          <a:xfrm>
            <a:off x="1097280" y="3035808"/>
            <a:ext cx="6217920" cy="365760"/>
          </a:xfrm>
          <a:prstGeom prst="rect">
            <a:avLst/>
          </a:prstGeom>
          <a:noFill/>
          <a:ln/>
        </p:spPr>
        <p:txBody>
          <a:bodyPr wrap="square" rtlCol="0" anchor="ctr"/>
          <a:lstStyle/>
          <a:p>
            <a:pPr marL="0" indent="0">
              <a:lnSpc>
                <a:spcPct val="150000"/>
              </a:lnSpc>
              <a:buNone/>
            </a:pPr>
            <a:r>
              <a:rPr lang="en-US" sz="2000" dirty="0">
                <a:solidFill>
                  <a:srgbClr val="FFFFFF"/>
                </a:solidFill>
                <a:latin typeface="Calibri" pitchFamily="34" charset="0"/>
                <a:ea typeface="Calibri" pitchFamily="34" charset="-122"/>
                <a:cs typeface="Calibri" pitchFamily="34" charset="-120"/>
              </a:rPr>
              <a:t>District comparison</a:t>
            </a:r>
            <a:endParaRPr lang="en-US" sz="2000" dirty="0"/>
          </a:p>
        </p:txBody>
      </p:sp>
      <p:sp>
        <p:nvSpPr>
          <p:cNvPr id="13" name="Shape 9"/>
          <p:cNvSpPr/>
          <p:nvPr/>
        </p:nvSpPr>
        <p:spPr>
          <a:xfrm>
            <a:off x="640080" y="3583071"/>
            <a:ext cx="310896" cy="310896"/>
          </a:xfrm>
          <a:prstGeom prst="ellipse">
            <a:avLst/>
          </a:prstGeom>
          <a:solidFill>
            <a:srgbClr val="24365C"/>
          </a:solidFill>
          <a:ln/>
        </p:spPr>
      </p:sp>
      <p:pic>
        <p:nvPicPr>
          <p:cNvPr id="14" name="Image 2" descr="icons/checkCircle_E8763C.png"/>
          <p:cNvPicPr>
            <a:picLocks noChangeAspect="1"/>
          </p:cNvPicPr>
          <p:nvPr/>
        </p:nvPicPr>
        <p:blipFill>
          <a:blip r:embed="rId3"/>
          <a:stretch>
            <a:fillRect/>
          </a:stretch>
        </p:blipFill>
        <p:spPr>
          <a:xfrm>
            <a:off x="684817" y="3630168"/>
            <a:ext cx="201168" cy="201168"/>
          </a:xfrm>
          <a:prstGeom prst="rect">
            <a:avLst/>
          </a:prstGeom>
        </p:spPr>
      </p:pic>
      <p:sp>
        <p:nvSpPr>
          <p:cNvPr id="15" name="Text 10"/>
          <p:cNvSpPr/>
          <p:nvPr/>
        </p:nvSpPr>
        <p:spPr>
          <a:xfrm>
            <a:off x="1097280" y="3493008"/>
            <a:ext cx="6217920" cy="365760"/>
          </a:xfrm>
          <a:prstGeom prst="rect">
            <a:avLst/>
          </a:prstGeom>
          <a:noFill/>
          <a:ln/>
        </p:spPr>
        <p:txBody>
          <a:bodyPr wrap="square" rtlCol="0" anchor="ctr"/>
          <a:lstStyle/>
          <a:p>
            <a:pPr marL="0" indent="0">
              <a:lnSpc>
                <a:spcPct val="150000"/>
              </a:lnSpc>
              <a:buNone/>
            </a:pPr>
            <a:r>
              <a:rPr lang="en-US" sz="2000" dirty="0">
                <a:solidFill>
                  <a:srgbClr val="FFFFFF"/>
                </a:solidFill>
                <a:latin typeface="Calibri" pitchFamily="34" charset="0"/>
                <a:ea typeface="Calibri" pitchFamily="34" charset="-122"/>
                <a:cs typeface="Calibri" pitchFamily="34" charset="-120"/>
              </a:rPr>
              <a:t>Coverage performance analysis</a:t>
            </a:r>
            <a:endParaRPr lang="en-US" sz="2000" dirty="0"/>
          </a:p>
        </p:txBody>
      </p:sp>
      <p:sp>
        <p:nvSpPr>
          <p:cNvPr id="16" name="Shape 11"/>
          <p:cNvSpPr/>
          <p:nvPr/>
        </p:nvSpPr>
        <p:spPr>
          <a:xfrm>
            <a:off x="640080" y="4015003"/>
            <a:ext cx="310896" cy="310896"/>
          </a:xfrm>
          <a:prstGeom prst="ellipse">
            <a:avLst/>
          </a:prstGeom>
          <a:solidFill>
            <a:srgbClr val="24365C"/>
          </a:solidFill>
          <a:ln/>
        </p:spPr>
      </p:sp>
      <p:pic>
        <p:nvPicPr>
          <p:cNvPr id="17" name="Image 3" descr="icons/checkCircle_E8763C.png"/>
          <p:cNvPicPr>
            <a:picLocks noChangeAspect="1"/>
          </p:cNvPicPr>
          <p:nvPr/>
        </p:nvPicPr>
        <p:blipFill>
          <a:blip r:embed="rId3"/>
          <a:stretch>
            <a:fillRect/>
          </a:stretch>
        </p:blipFill>
        <p:spPr>
          <a:xfrm>
            <a:off x="691699" y="4067212"/>
            <a:ext cx="201168" cy="201168"/>
          </a:xfrm>
          <a:prstGeom prst="rect">
            <a:avLst/>
          </a:prstGeom>
        </p:spPr>
      </p:pic>
      <p:sp>
        <p:nvSpPr>
          <p:cNvPr id="18" name="Text 12"/>
          <p:cNvSpPr/>
          <p:nvPr/>
        </p:nvSpPr>
        <p:spPr>
          <a:xfrm>
            <a:off x="1097280" y="3950208"/>
            <a:ext cx="6217920" cy="365760"/>
          </a:xfrm>
          <a:prstGeom prst="rect">
            <a:avLst/>
          </a:prstGeom>
          <a:noFill/>
          <a:ln/>
        </p:spPr>
        <p:txBody>
          <a:bodyPr wrap="square" rtlCol="0" anchor="ctr"/>
          <a:lstStyle/>
          <a:p>
            <a:pPr marL="0" indent="0">
              <a:lnSpc>
                <a:spcPct val="150000"/>
              </a:lnSpc>
              <a:buNone/>
            </a:pPr>
            <a:r>
              <a:rPr lang="en-US" sz="2000" dirty="0">
                <a:solidFill>
                  <a:srgbClr val="FFFFFF"/>
                </a:solidFill>
                <a:latin typeface="Calibri" pitchFamily="34" charset="0"/>
                <a:ea typeface="Calibri" pitchFamily="34" charset="-122"/>
                <a:cs typeface="Calibri" pitchFamily="34" charset="-120"/>
              </a:rPr>
              <a:t>Trend analysis</a:t>
            </a:r>
            <a:endParaRPr lang="en-US" sz="2000" dirty="0"/>
          </a:p>
        </p:txBody>
      </p:sp>
      <p:sp>
        <p:nvSpPr>
          <p:cNvPr id="19" name="Shape 13"/>
          <p:cNvSpPr/>
          <p:nvPr/>
        </p:nvSpPr>
        <p:spPr>
          <a:xfrm>
            <a:off x="640080" y="4493342"/>
            <a:ext cx="310896" cy="310896"/>
          </a:xfrm>
          <a:prstGeom prst="ellipse">
            <a:avLst/>
          </a:prstGeom>
          <a:solidFill>
            <a:srgbClr val="24365C"/>
          </a:solidFill>
          <a:ln/>
        </p:spPr>
      </p:sp>
      <p:pic>
        <p:nvPicPr>
          <p:cNvPr id="20" name="Image 4" descr="icons/checkCircle_E8763C.png"/>
          <p:cNvPicPr>
            <a:picLocks noChangeAspect="1"/>
          </p:cNvPicPr>
          <p:nvPr/>
        </p:nvPicPr>
        <p:blipFill>
          <a:blip r:embed="rId3"/>
          <a:stretch>
            <a:fillRect/>
          </a:stretch>
        </p:blipFill>
        <p:spPr>
          <a:xfrm>
            <a:off x="692388" y="4552974"/>
            <a:ext cx="201168" cy="201168"/>
          </a:xfrm>
          <a:prstGeom prst="rect">
            <a:avLst/>
          </a:prstGeom>
        </p:spPr>
      </p:pic>
      <p:sp>
        <p:nvSpPr>
          <p:cNvPr id="21" name="Text 14"/>
          <p:cNvSpPr/>
          <p:nvPr/>
        </p:nvSpPr>
        <p:spPr>
          <a:xfrm>
            <a:off x="1097280" y="4407408"/>
            <a:ext cx="6217920" cy="365760"/>
          </a:xfrm>
          <a:prstGeom prst="rect">
            <a:avLst/>
          </a:prstGeom>
          <a:noFill/>
          <a:ln/>
        </p:spPr>
        <p:txBody>
          <a:bodyPr wrap="square" rtlCol="0" anchor="ctr"/>
          <a:lstStyle/>
          <a:p>
            <a:pPr marL="0" indent="0">
              <a:lnSpc>
                <a:spcPct val="150000"/>
              </a:lnSpc>
              <a:buNone/>
            </a:pPr>
            <a:r>
              <a:rPr lang="en-US" sz="2000" dirty="0">
                <a:solidFill>
                  <a:srgbClr val="FFFFFF"/>
                </a:solidFill>
                <a:latin typeface="Calibri" pitchFamily="34" charset="0"/>
                <a:ea typeface="Calibri" pitchFamily="34" charset="-122"/>
                <a:cs typeface="Calibri" pitchFamily="34" charset="-120"/>
              </a:rPr>
              <a:t>Source distribution monitoring</a:t>
            </a:r>
            <a:endParaRPr lang="en-US" sz="2000" dirty="0"/>
          </a:p>
        </p:txBody>
      </p:sp>
      <p:sp>
        <p:nvSpPr>
          <p:cNvPr id="22" name="Shape 15"/>
          <p:cNvSpPr/>
          <p:nvPr/>
        </p:nvSpPr>
        <p:spPr>
          <a:xfrm>
            <a:off x="640080" y="4920947"/>
            <a:ext cx="310896" cy="310896"/>
          </a:xfrm>
          <a:prstGeom prst="ellipse">
            <a:avLst/>
          </a:prstGeom>
          <a:solidFill>
            <a:srgbClr val="24365C"/>
          </a:solidFill>
          <a:ln/>
        </p:spPr>
      </p:sp>
      <p:pic>
        <p:nvPicPr>
          <p:cNvPr id="23" name="Image 5" descr="icons/checkCircle_E8763C.png"/>
          <p:cNvPicPr>
            <a:picLocks noChangeAspect="1"/>
          </p:cNvPicPr>
          <p:nvPr/>
        </p:nvPicPr>
        <p:blipFill>
          <a:blip r:embed="rId3"/>
          <a:stretch>
            <a:fillRect/>
          </a:stretch>
        </p:blipFill>
        <p:spPr>
          <a:xfrm>
            <a:off x="684817" y="4971681"/>
            <a:ext cx="201168" cy="201168"/>
          </a:xfrm>
          <a:prstGeom prst="rect">
            <a:avLst/>
          </a:prstGeom>
        </p:spPr>
      </p:pic>
      <p:sp>
        <p:nvSpPr>
          <p:cNvPr id="24" name="Text 16"/>
          <p:cNvSpPr/>
          <p:nvPr/>
        </p:nvSpPr>
        <p:spPr>
          <a:xfrm>
            <a:off x="1097280" y="4864608"/>
            <a:ext cx="6217920" cy="365760"/>
          </a:xfrm>
          <a:prstGeom prst="rect">
            <a:avLst/>
          </a:prstGeom>
          <a:noFill/>
          <a:ln/>
        </p:spPr>
        <p:txBody>
          <a:bodyPr wrap="square" rtlCol="0" anchor="ctr"/>
          <a:lstStyle/>
          <a:p>
            <a:pPr marL="0" indent="0">
              <a:lnSpc>
                <a:spcPct val="150000"/>
              </a:lnSpc>
              <a:buNone/>
            </a:pPr>
            <a:r>
              <a:rPr lang="en-US" sz="2000" dirty="0">
                <a:solidFill>
                  <a:srgbClr val="FFFFFF"/>
                </a:solidFill>
                <a:latin typeface="Calibri" pitchFamily="34" charset="0"/>
                <a:ea typeface="Calibri" pitchFamily="34" charset="-122"/>
                <a:cs typeface="Calibri" pitchFamily="34" charset="-120"/>
              </a:rPr>
              <a:t>Data-driven prioritization</a:t>
            </a:r>
            <a:endParaRPr lang="en-US" sz="2000" dirty="0"/>
          </a:p>
        </p:txBody>
      </p:sp>
      <p:sp>
        <p:nvSpPr>
          <p:cNvPr id="25" name="Shape 17"/>
          <p:cNvSpPr/>
          <p:nvPr/>
        </p:nvSpPr>
        <p:spPr>
          <a:xfrm>
            <a:off x="7498080" y="1463040"/>
            <a:ext cx="4069080" cy="4160520"/>
          </a:xfrm>
          <a:prstGeom prst="roundRect">
            <a:avLst>
              <a:gd name="adj" fmla="val 2247"/>
            </a:avLst>
          </a:prstGeom>
          <a:solidFill>
            <a:srgbClr val="132241"/>
          </a:solidFill>
          <a:ln w="15875">
            <a:solidFill>
              <a:srgbClr val="2E4670"/>
            </a:solidFill>
            <a:prstDash val="solid"/>
          </a:ln>
        </p:spPr>
      </p:sp>
      <p:pic>
        <p:nvPicPr>
          <p:cNvPr id="26" name="Image 6" descr="icons/waterLadder_E8763C.png"/>
          <p:cNvPicPr>
            <a:picLocks noChangeAspect="1"/>
          </p:cNvPicPr>
          <p:nvPr/>
        </p:nvPicPr>
        <p:blipFill>
          <a:blip r:embed="rId4"/>
          <a:stretch>
            <a:fillRect/>
          </a:stretch>
        </p:blipFill>
        <p:spPr>
          <a:xfrm>
            <a:off x="7818120" y="1783080"/>
            <a:ext cx="502920" cy="502920"/>
          </a:xfrm>
          <a:prstGeom prst="rect">
            <a:avLst/>
          </a:prstGeom>
        </p:spPr>
      </p:pic>
      <p:sp>
        <p:nvSpPr>
          <p:cNvPr id="27" name="Text 18"/>
          <p:cNvSpPr/>
          <p:nvPr/>
        </p:nvSpPr>
        <p:spPr>
          <a:xfrm>
            <a:off x="7818120" y="2468880"/>
            <a:ext cx="3429000" cy="2651760"/>
          </a:xfrm>
          <a:prstGeom prst="rect">
            <a:avLst/>
          </a:prstGeom>
          <a:noFill/>
          <a:ln/>
        </p:spPr>
        <p:txBody>
          <a:bodyPr wrap="square" rtlCol="0" anchor="ctr"/>
          <a:lstStyle/>
          <a:p>
            <a:pPr marL="0" indent="0">
              <a:lnSpc>
                <a:spcPct val="135000"/>
              </a:lnSpc>
              <a:buNone/>
            </a:pPr>
            <a:r>
              <a:rPr lang="en-US" sz="2800" b="1" i="1" dirty="0">
                <a:solidFill>
                  <a:srgbClr val="FFFFFF"/>
                </a:solidFill>
                <a:latin typeface="Cambria" pitchFamily="34" charset="0"/>
                <a:ea typeface="Cambria" pitchFamily="34" charset="-122"/>
                <a:cs typeface="Cambria" pitchFamily="34" charset="-120"/>
              </a:rPr>
              <a:t>From Raw Data → Analysis → Dashboard → Insights → Action</a:t>
            </a:r>
            <a:endParaRPr lang="en-US" sz="2800" dirty="0"/>
          </a:p>
        </p:txBody>
      </p:sp>
      <p:sp>
        <p:nvSpPr>
          <p:cNvPr id="28" name="Text 19"/>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B9BB4"/>
                </a:solidFill>
                <a:latin typeface="Calibri" pitchFamily="34" charset="0"/>
                <a:ea typeface="Calibri" pitchFamily="34" charset="-122"/>
                <a:cs typeface="Calibri" pitchFamily="34" charset="-120"/>
              </a:rPr>
              <a:t>19</a:t>
            </a:r>
            <a:endParaRPr lang="en-US" sz="1000" dirty="0"/>
          </a:p>
        </p:txBody>
      </p:sp>
      <p:sp>
        <p:nvSpPr>
          <p:cNvPr id="29" name="Text 20"/>
          <p:cNvSpPr/>
          <p:nvPr/>
        </p:nvSpPr>
        <p:spPr>
          <a:xfrm>
            <a:off x="8899855" y="6400800"/>
            <a:ext cx="2560320" cy="274320"/>
          </a:xfrm>
          <a:prstGeom prst="rect">
            <a:avLst/>
          </a:prstGeom>
          <a:noFill/>
          <a:ln/>
        </p:spPr>
        <p:txBody>
          <a:bodyPr wrap="square" rtlCol="0" anchor="ctr"/>
          <a:lstStyle/>
          <a:p>
            <a:pPr marL="0" indent="0" algn="r">
              <a:buNone/>
            </a:pPr>
            <a:r>
              <a:rPr lang="en-US" sz="900" b="1" kern="0" spc="150" dirty="0">
                <a:solidFill>
                  <a:srgbClr val="6C82A8"/>
                </a:solidFill>
                <a:latin typeface="Calibri" pitchFamily="34" charset="0"/>
                <a:ea typeface="Calibri" pitchFamily="34" charset="-122"/>
                <a:cs typeface="Calibri" pitchFamily="34" charset="-120"/>
              </a:rPr>
              <a:t>CONCLUSION</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40080" y="411480"/>
            <a:ext cx="8229600" cy="320040"/>
          </a:xfrm>
          <a:prstGeom prst="rect">
            <a:avLst/>
          </a:prstGeom>
          <a:noFill/>
          <a:ln/>
        </p:spPr>
        <p:txBody>
          <a:bodyPr wrap="square" rtlCol="0" anchor="ctr"/>
          <a:lstStyle/>
          <a:p>
            <a:pPr marL="0" indent="0">
              <a:buNone/>
            </a:pPr>
            <a:r>
              <a:rPr lang="en-US" sz="2000" b="1" kern="0" spc="200" dirty="0">
                <a:solidFill>
                  <a:srgbClr val="E8763C"/>
                </a:solidFill>
                <a:latin typeface="Calibri" pitchFamily="34" charset="0"/>
                <a:ea typeface="Calibri" pitchFamily="34" charset="-122"/>
                <a:cs typeface="Calibri" pitchFamily="34" charset="-120"/>
              </a:rPr>
              <a:t>CAPABILITIES</a:t>
            </a:r>
            <a:endParaRPr lang="en-US" sz="2000" dirty="0"/>
          </a:p>
        </p:txBody>
      </p:sp>
      <p:sp>
        <p:nvSpPr>
          <p:cNvPr id="3" name="Text 1"/>
          <p:cNvSpPr/>
          <p:nvPr/>
        </p:nvSpPr>
        <p:spPr>
          <a:xfrm>
            <a:off x="640080" y="713232"/>
            <a:ext cx="10607040" cy="822960"/>
          </a:xfrm>
          <a:prstGeom prst="rect">
            <a:avLst/>
          </a:prstGeom>
          <a:noFill/>
          <a:ln/>
        </p:spPr>
        <p:txBody>
          <a:bodyPr wrap="square" rtlCol="0" anchor="ctr"/>
          <a:lstStyle/>
          <a:p>
            <a:pPr marL="0" indent="0">
              <a:buNone/>
            </a:pPr>
            <a:r>
              <a:rPr lang="en-US" sz="3600" b="1" u="sng" dirty="0">
                <a:solidFill>
                  <a:srgbClr val="1B2A4A"/>
                </a:solidFill>
                <a:latin typeface="Cambria" pitchFamily="34" charset="0"/>
                <a:ea typeface="Cambria" pitchFamily="34" charset="-122"/>
                <a:cs typeface="Cambria" pitchFamily="34" charset="-120"/>
              </a:rPr>
              <a:t>Skills Demonstrated</a:t>
            </a:r>
            <a:endParaRPr lang="en-US" sz="3600" u="sng" dirty="0"/>
          </a:p>
        </p:txBody>
      </p:sp>
      <p:sp>
        <p:nvSpPr>
          <p:cNvPr id="4" name="Shape 2"/>
          <p:cNvSpPr/>
          <p:nvPr/>
        </p:nvSpPr>
        <p:spPr>
          <a:xfrm>
            <a:off x="640080" y="1645920"/>
            <a:ext cx="2535174" cy="3337560"/>
          </a:xfrm>
          <a:prstGeom prst="roundRect">
            <a:avLst>
              <a:gd name="adj" fmla="val 3246"/>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5" name="Shape 3"/>
          <p:cNvSpPr/>
          <p:nvPr/>
        </p:nvSpPr>
        <p:spPr>
          <a:xfrm>
            <a:off x="822960" y="1828800"/>
            <a:ext cx="475488" cy="475488"/>
          </a:xfrm>
          <a:prstGeom prst="ellipse">
            <a:avLst/>
          </a:prstGeom>
          <a:solidFill>
            <a:srgbClr val="EAF2F8"/>
          </a:solidFill>
          <a:ln/>
        </p:spPr>
      </p:sp>
      <p:pic>
        <p:nvPicPr>
          <p:cNvPr id="6" name="Image 0" descr="icons/magnifyingGlassChart_0B5E8C.png"/>
          <p:cNvPicPr>
            <a:picLocks noChangeAspect="1"/>
          </p:cNvPicPr>
          <p:nvPr/>
        </p:nvPicPr>
        <p:blipFill>
          <a:blip r:embed="rId3"/>
          <a:stretch>
            <a:fillRect/>
          </a:stretch>
        </p:blipFill>
        <p:spPr>
          <a:xfrm>
            <a:off x="932688" y="1938528"/>
            <a:ext cx="256032" cy="256032"/>
          </a:xfrm>
          <a:prstGeom prst="rect">
            <a:avLst/>
          </a:prstGeom>
        </p:spPr>
      </p:pic>
      <p:sp>
        <p:nvSpPr>
          <p:cNvPr id="7" name="Text 4"/>
          <p:cNvSpPr/>
          <p:nvPr/>
        </p:nvSpPr>
        <p:spPr>
          <a:xfrm>
            <a:off x="822960" y="2423160"/>
            <a:ext cx="2169414" cy="457200"/>
          </a:xfrm>
          <a:prstGeom prst="rect">
            <a:avLst/>
          </a:prstGeom>
          <a:noFill/>
          <a:ln/>
        </p:spPr>
        <p:txBody>
          <a:bodyPr wrap="square" rtlCol="0" anchor="ctr"/>
          <a:lstStyle/>
          <a:p>
            <a:pPr marL="0" indent="0">
              <a:buNone/>
            </a:pPr>
            <a:r>
              <a:rPr lang="en-US" b="1" dirty="0">
                <a:solidFill>
                  <a:srgbClr val="1B2A4A"/>
                </a:solidFill>
                <a:latin typeface="Cambria" pitchFamily="34" charset="0"/>
                <a:ea typeface="Cambria" pitchFamily="34" charset="-122"/>
                <a:cs typeface="Cambria" pitchFamily="34" charset="-120"/>
              </a:rPr>
              <a:t>Data Analytics</a:t>
            </a:r>
            <a:endParaRPr lang="en-US" dirty="0"/>
          </a:p>
        </p:txBody>
      </p:sp>
      <p:sp>
        <p:nvSpPr>
          <p:cNvPr id="8" name="Shape 5"/>
          <p:cNvSpPr/>
          <p:nvPr/>
        </p:nvSpPr>
        <p:spPr>
          <a:xfrm>
            <a:off x="841248" y="3017520"/>
            <a:ext cx="64008" cy="64008"/>
          </a:xfrm>
          <a:prstGeom prst="ellipse">
            <a:avLst/>
          </a:prstGeom>
          <a:solidFill>
            <a:srgbClr val="E8763C"/>
          </a:solidFill>
          <a:ln/>
        </p:spPr>
      </p:sp>
      <p:sp>
        <p:nvSpPr>
          <p:cNvPr id="9" name="Text 6"/>
          <p:cNvSpPr/>
          <p:nvPr/>
        </p:nvSpPr>
        <p:spPr>
          <a:xfrm>
            <a:off x="1005840" y="2889504"/>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Data Cleaning</a:t>
            </a:r>
            <a:endParaRPr lang="en-US" sz="1200" dirty="0"/>
          </a:p>
        </p:txBody>
      </p:sp>
      <p:sp>
        <p:nvSpPr>
          <p:cNvPr id="10" name="Shape 7"/>
          <p:cNvSpPr/>
          <p:nvPr/>
        </p:nvSpPr>
        <p:spPr>
          <a:xfrm>
            <a:off x="841248" y="3401568"/>
            <a:ext cx="64008" cy="64008"/>
          </a:xfrm>
          <a:prstGeom prst="ellipse">
            <a:avLst/>
          </a:prstGeom>
          <a:solidFill>
            <a:srgbClr val="E8763C"/>
          </a:solidFill>
          <a:ln/>
        </p:spPr>
      </p:sp>
      <p:sp>
        <p:nvSpPr>
          <p:cNvPr id="11" name="Text 8"/>
          <p:cNvSpPr/>
          <p:nvPr/>
        </p:nvSpPr>
        <p:spPr>
          <a:xfrm>
            <a:off x="1005840" y="3273552"/>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Exploratory Data Analysis</a:t>
            </a:r>
            <a:endParaRPr lang="en-US" sz="1200" dirty="0"/>
          </a:p>
        </p:txBody>
      </p:sp>
      <p:sp>
        <p:nvSpPr>
          <p:cNvPr id="12" name="Shape 9"/>
          <p:cNvSpPr/>
          <p:nvPr/>
        </p:nvSpPr>
        <p:spPr>
          <a:xfrm>
            <a:off x="841248" y="3785616"/>
            <a:ext cx="64008" cy="64008"/>
          </a:xfrm>
          <a:prstGeom prst="ellipse">
            <a:avLst/>
          </a:prstGeom>
          <a:solidFill>
            <a:srgbClr val="E8763C"/>
          </a:solidFill>
          <a:ln/>
        </p:spPr>
      </p:sp>
      <p:sp>
        <p:nvSpPr>
          <p:cNvPr id="13" name="Text 10"/>
          <p:cNvSpPr/>
          <p:nvPr/>
        </p:nvSpPr>
        <p:spPr>
          <a:xfrm>
            <a:off x="1005840" y="3657600"/>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KPI Analysis</a:t>
            </a:r>
            <a:endParaRPr lang="en-US" sz="1200" dirty="0"/>
          </a:p>
        </p:txBody>
      </p:sp>
      <p:sp>
        <p:nvSpPr>
          <p:cNvPr id="14" name="Shape 11"/>
          <p:cNvSpPr/>
          <p:nvPr/>
        </p:nvSpPr>
        <p:spPr>
          <a:xfrm>
            <a:off x="841248" y="4169664"/>
            <a:ext cx="64008" cy="64008"/>
          </a:xfrm>
          <a:prstGeom prst="ellipse">
            <a:avLst/>
          </a:prstGeom>
          <a:solidFill>
            <a:srgbClr val="E8763C"/>
          </a:solidFill>
          <a:ln/>
        </p:spPr>
      </p:sp>
      <p:sp>
        <p:nvSpPr>
          <p:cNvPr id="15" name="Text 12"/>
          <p:cNvSpPr/>
          <p:nvPr/>
        </p:nvSpPr>
        <p:spPr>
          <a:xfrm>
            <a:off x="1005840" y="4041648"/>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Trend Analysis</a:t>
            </a:r>
            <a:endParaRPr lang="en-US" sz="1200" dirty="0"/>
          </a:p>
        </p:txBody>
      </p:sp>
      <p:sp>
        <p:nvSpPr>
          <p:cNvPr id="16" name="Shape 13"/>
          <p:cNvSpPr/>
          <p:nvPr/>
        </p:nvSpPr>
        <p:spPr>
          <a:xfrm>
            <a:off x="841248" y="4553712"/>
            <a:ext cx="64008" cy="64008"/>
          </a:xfrm>
          <a:prstGeom prst="ellipse">
            <a:avLst/>
          </a:prstGeom>
          <a:solidFill>
            <a:srgbClr val="E8763C"/>
          </a:solidFill>
          <a:ln/>
        </p:spPr>
      </p:sp>
      <p:sp>
        <p:nvSpPr>
          <p:cNvPr id="17" name="Text 14"/>
          <p:cNvSpPr/>
          <p:nvPr/>
        </p:nvSpPr>
        <p:spPr>
          <a:xfrm>
            <a:off x="1005840" y="4425696"/>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Comparative Analysis</a:t>
            </a:r>
            <a:endParaRPr lang="en-US" sz="1200" dirty="0"/>
          </a:p>
        </p:txBody>
      </p:sp>
      <p:sp>
        <p:nvSpPr>
          <p:cNvPr id="18" name="Shape 15"/>
          <p:cNvSpPr/>
          <p:nvPr/>
        </p:nvSpPr>
        <p:spPr>
          <a:xfrm>
            <a:off x="3431286" y="1645920"/>
            <a:ext cx="2535174" cy="3337560"/>
          </a:xfrm>
          <a:prstGeom prst="roundRect">
            <a:avLst>
              <a:gd name="adj" fmla="val 3246"/>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19" name="Shape 16"/>
          <p:cNvSpPr/>
          <p:nvPr/>
        </p:nvSpPr>
        <p:spPr>
          <a:xfrm>
            <a:off x="3614166" y="1828800"/>
            <a:ext cx="475488" cy="475488"/>
          </a:xfrm>
          <a:prstGeom prst="ellipse">
            <a:avLst/>
          </a:prstGeom>
          <a:solidFill>
            <a:srgbClr val="EAF2F8"/>
          </a:solidFill>
          <a:ln/>
        </p:spPr>
      </p:sp>
      <p:pic>
        <p:nvPicPr>
          <p:cNvPr id="20" name="Image 1" descr="icons/toolbox_0B5E8C.png"/>
          <p:cNvPicPr>
            <a:picLocks noChangeAspect="1"/>
          </p:cNvPicPr>
          <p:nvPr/>
        </p:nvPicPr>
        <p:blipFill>
          <a:blip r:embed="rId4"/>
          <a:stretch>
            <a:fillRect/>
          </a:stretch>
        </p:blipFill>
        <p:spPr>
          <a:xfrm>
            <a:off x="3723894" y="1938528"/>
            <a:ext cx="256032" cy="256032"/>
          </a:xfrm>
          <a:prstGeom prst="rect">
            <a:avLst/>
          </a:prstGeom>
        </p:spPr>
      </p:pic>
      <p:sp>
        <p:nvSpPr>
          <p:cNvPr id="21" name="Text 17"/>
          <p:cNvSpPr/>
          <p:nvPr/>
        </p:nvSpPr>
        <p:spPr>
          <a:xfrm>
            <a:off x="3614166" y="2423160"/>
            <a:ext cx="2169414" cy="457200"/>
          </a:xfrm>
          <a:prstGeom prst="rect">
            <a:avLst/>
          </a:prstGeom>
          <a:noFill/>
          <a:ln/>
        </p:spPr>
        <p:txBody>
          <a:bodyPr wrap="square" rtlCol="0" anchor="ctr"/>
          <a:lstStyle/>
          <a:p>
            <a:pPr marL="0" indent="0">
              <a:buNone/>
            </a:pPr>
            <a:r>
              <a:rPr lang="en-US" b="1" dirty="0">
                <a:solidFill>
                  <a:srgbClr val="1B2A4A"/>
                </a:solidFill>
                <a:latin typeface="Cambria" pitchFamily="34" charset="0"/>
                <a:ea typeface="Cambria" pitchFamily="34" charset="-122"/>
                <a:cs typeface="Cambria" pitchFamily="34" charset="-120"/>
              </a:rPr>
              <a:t>Excel</a:t>
            </a:r>
            <a:endParaRPr lang="en-US" dirty="0"/>
          </a:p>
        </p:txBody>
      </p:sp>
      <p:sp>
        <p:nvSpPr>
          <p:cNvPr id="22" name="Shape 18"/>
          <p:cNvSpPr/>
          <p:nvPr/>
        </p:nvSpPr>
        <p:spPr>
          <a:xfrm>
            <a:off x="3632454" y="3017520"/>
            <a:ext cx="64008" cy="64008"/>
          </a:xfrm>
          <a:prstGeom prst="ellipse">
            <a:avLst/>
          </a:prstGeom>
          <a:solidFill>
            <a:srgbClr val="E8763C"/>
          </a:solidFill>
          <a:ln/>
        </p:spPr>
      </p:sp>
      <p:sp>
        <p:nvSpPr>
          <p:cNvPr id="23" name="Text 19"/>
          <p:cNvSpPr/>
          <p:nvPr/>
        </p:nvSpPr>
        <p:spPr>
          <a:xfrm>
            <a:off x="3797046" y="2889504"/>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Pivot Tables</a:t>
            </a:r>
            <a:endParaRPr lang="en-US" sz="1200" dirty="0"/>
          </a:p>
        </p:txBody>
      </p:sp>
      <p:sp>
        <p:nvSpPr>
          <p:cNvPr id="24" name="Shape 20"/>
          <p:cNvSpPr/>
          <p:nvPr/>
        </p:nvSpPr>
        <p:spPr>
          <a:xfrm>
            <a:off x="3632454" y="3401568"/>
            <a:ext cx="64008" cy="64008"/>
          </a:xfrm>
          <a:prstGeom prst="ellipse">
            <a:avLst/>
          </a:prstGeom>
          <a:solidFill>
            <a:srgbClr val="E8763C"/>
          </a:solidFill>
          <a:ln/>
        </p:spPr>
      </p:sp>
      <p:sp>
        <p:nvSpPr>
          <p:cNvPr id="25" name="Text 21"/>
          <p:cNvSpPr/>
          <p:nvPr/>
        </p:nvSpPr>
        <p:spPr>
          <a:xfrm>
            <a:off x="3797046" y="3273552"/>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Pivot Charts</a:t>
            </a:r>
            <a:endParaRPr lang="en-US" sz="1200" dirty="0"/>
          </a:p>
        </p:txBody>
      </p:sp>
      <p:sp>
        <p:nvSpPr>
          <p:cNvPr id="26" name="Shape 22"/>
          <p:cNvSpPr/>
          <p:nvPr/>
        </p:nvSpPr>
        <p:spPr>
          <a:xfrm>
            <a:off x="3632454" y="3785616"/>
            <a:ext cx="64008" cy="64008"/>
          </a:xfrm>
          <a:prstGeom prst="ellipse">
            <a:avLst/>
          </a:prstGeom>
          <a:solidFill>
            <a:srgbClr val="E8763C"/>
          </a:solidFill>
          <a:ln/>
        </p:spPr>
      </p:sp>
      <p:sp>
        <p:nvSpPr>
          <p:cNvPr id="27" name="Text 23"/>
          <p:cNvSpPr/>
          <p:nvPr/>
        </p:nvSpPr>
        <p:spPr>
          <a:xfrm>
            <a:off x="3797046" y="3657600"/>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Slicers</a:t>
            </a:r>
            <a:endParaRPr lang="en-US" sz="1200" dirty="0"/>
          </a:p>
        </p:txBody>
      </p:sp>
      <p:sp>
        <p:nvSpPr>
          <p:cNvPr id="28" name="Shape 24"/>
          <p:cNvSpPr/>
          <p:nvPr/>
        </p:nvSpPr>
        <p:spPr>
          <a:xfrm>
            <a:off x="3632454" y="4169664"/>
            <a:ext cx="64008" cy="64008"/>
          </a:xfrm>
          <a:prstGeom prst="ellipse">
            <a:avLst/>
          </a:prstGeom>
          <a:solidFill>
            <a:srgbClr val="E8763C"/>
          </a:solidFill>
          <a:ln/>
        </p:spPr>
      </p:sp>
      <p:sp>
        <p:nvSpPr>
          <p:cNvPr id="29" name="Text 25"/>
          <p:cNvSpPr/>
          <p:nvPr/>
        </p:nvSpPr>
        <p:spPr>
          <a:xfrm>
            <a:off x="3797046" y="4041648"/>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Calculations</a:t>
            </a:r>
            <a:endParaRPr lang="en-US" sz="1200" dirty="0"/>
          </a:p>
        </p:txBody>
      </p:sp>
      <p:sp>
        <p:nvSpPr>
          <p:cNvPr id="30" name="Shape 26"/>
          <p:cNvSpPr/>
          <p:nvPr/>
        </p:nvSpPr>
        <p:spPr>
          <a:xfrm>
            <a:off x="3632454" y="4553712"/>
            <a:ext cx="64008" cy="64008"/>
          </a:xfrm>
          <a:prstGeom prst="ellipse">
            <a:avLst/>
          </a:prstGeom>
          <a:solidFill>
            <a:srgbClr val="E8763C"/>
          </a:solidFill>
          <a:ln/>
        </p:spPr>
      </p:sp>
      <p:sp>
        <p:nvSpPr>
          <p:cNvPr id="31" name="Text 27"/>
          <p:cNvSpPr/>
          <p:nvPr/>
        </p:nvSpPr>
        <p:spPr>
          <a:xfrm>
            <a:off x="3797046" y="4425696"/>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Dashboard Development</a:t>
            </a:r>
            <a:endParaRPr lang="en-US" sz="1200" dirty="0"/>
          </a:p>
        </p:txBody>
      </p:sp>
      <p:sp>
        <p:nvSpPr>
          <p:cNvPr id="32" name="Shape 28"/>
          <p:cNvSpPr/>
          <p:nvPr/>
        </p:nvSpPr>
        <p:spPr>
          <a:xfrm>
            <a:off x="6222492" y="1645920"/>
            <a:ext cx="2535174" cy="3337560"/>
          </a:xfrm>
          <a:prstGeom prst="roundRect">
            <a:avLst>
              <a:gd name="adj" fmla="val 3246"/>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33" name="Shape 29"/>
          <p:cNvSpPr/>
          <p:nvPr/>
        </p:nvSpPr>
        <p:spPr>
          <a:xfrm>
            <a:off x="6405372" y="1828800"/>
            <a:ext cx="475488" cy="475488"/>
          </a:xfrm>
          <a:prstGeom prst="ellipse">
            <a:avLst/>
          </a:prstGeom>
          <a:solidFill>
            <a:srgbClr val="EAF2F8"/>
          </a:solidFill>
          <a:ln/>
        </p:spPr>
      </p:sp>
      <p:pic>
        <p:nvPicPr>
          <p:cNvPr id="34" name="Image 2" descr="icons/chartPie_0B5E8C.png"/>
          <p:cNvPicPr>
            <a:picLocks noChangeAspect="1"/>
          </p:cNvPicPr>
          <p:nvPr/>
        </p:nvPicPr>
        <p:blipFill>
          <a:blip r:embed="rId5"/>
          <a:stretch>
            <a:fillRect/>
          </a:stretch>
        </p:blipFill>
        <p:spPr>
          <a:xfrm>
            <a:off x="6515100" y="1938528"/>
            <a:ext cx="256032" cy="256032"/>
          </a:xfrm>
          <a:prstGeom prst="rect">
            <a:avLst/>
          </a:prstGeom>
        </p:spPr>
      </p:pic>
      <p:sp>
        <p:nvSpPr>
          <p:cNvPr id="35" name="Text 30"/>
          <p:cNvSpPr/>
          <p:nvPr/>
        </p:nvSpPr>
        <p:spPr>
          <a:xfrm>
            <a:off x="6405371" y="2423160"/>
            <a:ext cx="2535173" cy="457200"/>
          </a:xfrm>
          <a:prstGeom prst="rect">
            <a:avLst/>
          </a:prstGeom>
          <a:noFill/>
          <a:ln/>
        </p:spPr>
        <p:txBody>
          <a:bodyPr wrap="square" rtlCol="0" anchor="ctr"/>
          <a:lstStyle/>
          <a:p>
            <a:pPr marL="0" indent="0">
              <a:buNone/>
            </a:pPr>
            <a:r>
              <a:rPr lang="en-US" b="1" dirty="0">
                <a:solidFill>
                  <a:srgbClr val="1B2A4A"/>
                </a:solidFill>
                <a:latin typeface="Cambria" pitchFamily="34" charset="0"/>
                <a:ea typeface="Cambria" pitchFamily="34" charset="-122"/>
                <a:cs typeface="Cambria" pitchFamily="34" charset="-120"/>
              </a:rPr>
              <a:t>Business Intelligence</a:t>
            </a:r>
            <a:endParaRPr lang="en-US" dirty="0"/>
          </a:p>
        </p:txBody>
      </p:sp>
      <p:sp>
        <p:nvSpPr>
          <p:cNvPr id="36" name="Shape 31"/>
          <p:cNvSpPr/>
          <p:nvPr/>
        </p:nvSpPr>
        <p:spPr>
          <a:xfrm>
            <a:off x="6423660" y="3017520"/>
            <a:ext cx="64008" cy="64008"/>
          </a:xfrm>
          <a:prstGeom prst="ellipse">
            <a:avLst/>
          </a:prstGeom>
          <a:solidFill>
            <a:srgbClr val="E8763C"/>
          </a:solidFill>
          <a:ln/>
        </p:spPr>
      </p:sp>
      <p:sp>
        <p:nvSpPr>
          <p:cNvPr id="37" name="Text 32"/>
          <p:cNvSpPr/>
          <p:nvPr/>
        </p:nvSpPr>
        <p:spPr>
          <a:xfrm>
            <a:off x="6588252" y="2889504"/>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Data Visualization</a:t>
            </a:r>
            <a:endParaRPr lang="en-US" sz="1200" dirty="0"/>
          </a:p>
        </p:txBody>
      </p:sp>
      <p:sp>
        <p:nvSpPr>
          <p:cNvPr id="38" name="Shape 33"/>
          <p:cNvSpPr/>
          <p:nvPr/>
        </p:nvSpPr>
        <p:spPr>
          <a:xfrm>
            <a:off x="6423660" y="3401568"/>
            <a:ext cx="64008" cy="64008"/>
          </a:xfrm>
          <a:prstGeom prst="ellipse">
            <a:avLst/>
          </a:prstGeom>
          <a:solidFill>
            <a:srgbClr val="E8763C"/>
          </a:solidFill>
          <a:ln/>
        </p:spPr>
      </p:sp>
      <p:sp>
        <p:nvSpPr>
          <p:cNvPr id="39" name="Text 34"/>
          <p:cNvSpPr/>
          <p:nvPr/>
        </p:nvSpPr>
        <p:spPr>
          <a:xfrm>
            <a:off x="6588252" y="3273552"/>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Insight Generation</a:t>
            </a:r>
            <a:endParaRPr lang="en-US" sz="1200" dirty="0"/>
          </a:p>
        </p:txBody>
      </p:sp>
      <p:sp>
        <p:nvSpPr>
          <p:cNvPr id="40" name="Shape 35"/>
          <p:cNvSpPr/>
          <p:nvPr/>
        </p:nvSpPr>
        <p:spPr>
          <a:xfrm>
            <a:off x="6423660" y="3785616"/>
            <a:ext cx="64008" cy="64008"/>
          </a:xfrm>
          <a:prstGeom prst="ellipse">
            <a:avLst/>
          </a:prstGeom>
          <a:solidFill>
            <a:srgbClr val="E8763C"/>
          </a:solidFill>
          <a:ln/>
        </p:spPr>
      </p:sp>
      <p:sp>
        <p:nvSpPr>
          <p:cNvPr id="41" name="Text 36"/>
          <p:cNvSpPr/>
          <p:nvPr/>
        </p:nvSpPr>
        <p:spPr>
          <a:xfrm>
            <a:off x="6588252" y="3657600"/>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Data Storytelling</a:t>
            </a:r>
            <a:endParaRPr lang="en-US" sz="1200" dirty="0"/>
          </a:p>
        </p:txBody>
      </p:sp>
      <p:sp>
        <p:nvSpPr>
          <p:cNvPr id="42" name="Shape 37"/>
          <p:cNvSpPr/>
          <p:nvPr/>
        </p:nvSpPr>
        <p:spPr>
          <a:xfrm>
            <a:off x="6423660" y="4169664"/>
            <a:ext cx="64008" cy="64008"/>
          </a:xfrm>
          <a:prstGeom prst="ellipse">
            <a:avLst/>
          </a:prstGeom>
          <a:solidFill>
            <a:srgbClr val="E8763C"/>
          </a:solidFill>
          <a:ln/>
        </p:spPr>
      </p:sp>
      <p:sp>
        <p:nvSpPr>
          <p:cNvPr id="43" name="Text 38"/>
          <p:cNvSpPr/>
          <p:nvPr/>
        </p:nvSpPr>
        <p:spPr>
          <a:xfrm>
            <a:off x="6588252" y="4041648"/>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Performance Monitoring</a:t>
            </a:r>
            <a:endParaRPr lang="en-US" sz="1200" dirty="0"/>
          </a:p>
        </p:txBody>
      </p:sp>
      <p:sp>
        <p:nvSpPr>
          <p:cNvPr id="44" name="Shape 39"/>
          <p:cNvSpPr/>
          <p:nvPr/>
        </p:nvSpPr>
        <p:spPr>
          <a:xfrm>
            <a:off x="6423660" y="4553712"/>
            <a:ext cx="64008" cy="64008"/>
          </a:xfrm>
          <a:prstGeom prst="ellipse">
            <a:avLst/>
          </a:prstGeom>
          <a:solidFill>
            <a:srgbClr val="E8763C"/>
          </a:solidFill>
          <a:ln/>
        </p:spPr>
      </p:sp>
      <p:sp>
        <p:nvSpPr>
          <p:cNvPr id="45" name="Text 40"/>
          <p:cNvSpPr/>
          <p:nvPr/>
        </p:nvSpPr>
        <p:spPr>
          <a:xfrm>
            <a:off x="6588252" y="4425696"/>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Recommendations</a:t>
            </a:r>
            <a:endParaRPr lang="en-US" sz="1200" dirty="0"/>
          </a:p>
        </p:txBody>
      </p:sp>
      <p:sp>
        <p:nvSpPr>
          <p:cNvPr id="46" name="Shape 41"/>
          <p:cNvSpPr/>
          <p:nvPr/>
        </p:nvSpPr>
        <p:spPr>
          <a:xfrm>
            <a:off x="9013698" y="1645920"/>
            <a:ext cx="2535174" cy="3337560"/>
          </a:xfrm>
          <a:prstGeom prst="roundRect">
            <a:avLst>
              <a:gd name="adj" fmla="val 3246"/>
            </a:avLst>
          </a:prstGeom>
          <a:solidFill>
            <a:srgbClr val="FFFFFF"/>
          </a:solidFill>
          <a:ln w="12700">
            <a:solidFill>
              <a:srgbClr val="D9E3EC"/>
            </a:solidFill>
            <a:prstDash val="solid"/>
          </a:ln>
          <a:effectLst>
            <a:outerShdw blurRad="88900" dist="38100" dir="5400000" algn="bl" rotWithShape="0">
              <a:srgbClr val="1B2A4A">
                <a:alpha val="10000"/>
              </a:srgbClr>
            </a:outerShdw>
          </a:effectLst>
        </p:spPr>
      </p:sp>
      <p:sp>
        <p:nvSpPr>
          <p:cNvPr id="47" name="Shape 42"/>
          <p:cNvSpPr/>
          <p:nvPr/>
        </p:nvSpPr>
        <p:spPr>
          <a:xfrm>
            <a:off x="9196578" y="1828800"/>
            <a:ext cx="475488" cy="475488"/>
          </a:xfrm>
          <a:prstGeom prst="ellipse">
            <a:avLst/>
          </a:prstGeom>
          <a:solidFill>
            <a:srgbClr val="EAF2F8"/>
          </a:solidFill>
          <a:ln/>
        </p:spPr>
      </p:sp>
      <p:pic>
        <p:nvPicPr>
          <p:cNvPr id="48" name="Image 3" descr="icons/globe_0B5E8C.png"/>
          <p:cNvPicPr>
            <a:picLocks noChangeAspect="1"/>
          </p:cNvPicPr>
          <p:nvPr/>
        </p:nvPicPr>
        <p:blipFill>
          <a:blip r:embed="rId6"/>
          <a:stretch>
            <a:fillRect/>
          </a:stretch>
        </p:blipFill>
        <p:spPr>
          <a:xfrm>
            <a:off x="9306306" y="1938528"/>
            <a:ext cx="256032" cy="256032"/>
          </a:xfrm>
          <a:prstGeom prst="rect">
            <a:avLst/>
          </a:prstGeom>
        </p:spPr>
      </p:pic>
      <p:sp>
        <p:nvSpPr>
          <p:cNvPr id="49" name="Text 43"/>
          <p:cNvSpPr/>
          <p:nvPr/>
        </p:nvSpPr>
        <p:spPr>
          <a:xfrm>
            <a:off x="9196578" y="2423160"/>
            <a:ext cx="2169414" cy="457200"/>
          </a:xfrm>
          <a:prstGeom prst="rect">
            <a:avLst/>
          </a:prstGeom>
          <a:noFill/>
          <a:ln/>
        </p:spPr>
        <p:txBody>
          <a:bodyPr wrap="square" rtlCol="0" anchor="ctr"/>
          <a:lstStyle/>
          <a:p>
            <a:pPr marL="0" indent="0">
              <a:buNone/>
            </a:pPr>
            <a:r>
              <a:rPr lang="en-US" b="1" dirty="0">
                <a:solidFill>
                  <a:srgbClr val="1B2A4A"/>
                </a:solidFill>
                <a:latin typeface="Cambria" pitchFamily="34" charset="0"/>
                <a:ea typeface="Cambria" pitchFamily="34" charset="-122"/>
                <a:cs typeface="Cambria" pitchFamily="34" charset="-120"/>
              </a:rPr>
              <a:t>Domain</a:t>
            </a:r>
            <a:endParaRPr lang="en-US" dirty="0"/>
          </a:p>
        </p:txBody>
      </p:sp>
      <p:sp>
        <p:nvSpPr>
          <p:cNvPr id="50" name="Shape 44"/>
          <p:cNvSpPr/>
          <p:nvPr/>
        </p:nvSpPr>
        <p:spPr>
          <a:xfrm>
            <a:off x="9214866" y="3017520"/>
            <a:ext cx="64008" cy="64008"/>
          </a:xfrm>
          <a:prstGeom prst="ellipse">
            <a:avLst/>
          </a:prstGeom>
          <a:solidFill>
            <a:srgbClr val="E8763C"/>
          </a:solidFill>
          <a:ln/>
        </p:spPr>
      </p:sp>
      <p:sp>
        <p:nvSpPr>
          <p:cNvPr id="51" name="Text 45"/>
          <p:cNvSpPr/>
          <p:nvPr/>
        </p:nvSpPr>
        <p:spPr>
          <a:xfrm>
            <a:off x="9379458" y="2889504"/>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Government Analytics</a:t>
            </a:r>
            <a:endParaRPr lang="en-US" sz="1200" dirty="0"/>
          </a:p>
        </p:txBody>
      </p:sp>
      <p:sp>
        <p:nvSpPr>
          <p:cNvPr id="52" name="Shape 46"/>
          <p:cNvSpPr/>
          <p:nvPr/>
        </p:nvSpPr>
        <p:spPr>
          <a:xfrm>
            <a:off x="9214866" y="3401568"/>
            <a:ext cx="64008" cy="64008"/>
          </a:xfrm>
          <a:prstGeom prst="ellipse">
            <a:avLst/>
          </a:prstGeom>
          <a:solidFill>
            <a:srgbClr val="E8763C"/>
          </a:solidFill>
          <a:ln/>
        </p:spPr>
      </p:sp>
      <p:sp>
        <p:nvSpPr>
          <p:cNvPr id="53" name="Text 47"/>
          <p:cNvSpPr/>
          <p:nvPr/>
        </p:nvSpPr>
        <p:spPr>
          <a:xfrm>
            <a:off x="9379458" y="3273552"/>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Public Infrastructure</a:t>
            </a:r>
            <a:endParaRPr lang="en-US" sz="1200" dirty="0"/>
          </a:p>
        </p:txBody>
      </p:sp>
      <p:sp>
        <p:nvSpPr>
          <p:cNvPr id="54" name="Shape 48"/>
          <p:cNvSpPr/>
          <p:nvPr/>
        </p:nvSpPr>
        <p:spPr>
          <a:xfrm>
            <a:off x="9214866" y="3785616"/>
            <a:ext cx="64008" cy="64008"/>
          </a:xfrm>
          <a:prstGeom prst="ellipse">
            <a:avLst/>
          </a:prstGeom>
          <a:solidFill>
            <a:srgbClr val="E8763C"/>
          </a:solidFill>
          <a:ln/>
        </p:spPr>
      </p:sp>
      <p:sp>
        <p:nvSpPr>
          <p:cNvPr id="55" name="Text 49"/>
          <p:cNvSpPr/>
          <p:nvPr/>
        </p:nvSpPr>
        <p:spPr>
          <a:xfrm>
            <a:off x="9379458" y="3657600"/>
            <a:ext cx="1986534" cy="36576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Water &amp; Rural Development</a:t>
            </a:r>
            <a:endParaRPr lang="en-US" sz="1200" dirty="0"/>
          </a:p>
        </p:txBody>
      </p:sp>
      <p:sp>
        <p:nvSpPr>
          <p:cNvPr id="56" name="Shape 50"/>
          <p:cNvSpPr/>
          <p:nvPr/>
        </p:nvSpPr>
        <p:spPr>
          <a:xfrm>
            <a:off x="640080" y="5257800"/>
            <a:ext cx="10908792" cy="868680"/>
          </a:xfrm>
          <a:prstGeom prst="roundRect">
            <a:avLst>
              <a:gd name="adj" fmla="val 10526"/>
            </a:avLst>
          </a:prstGeom>
          <a:solidFill>
            <a:srgbClr val="1B2A4A"/>
          </a:solidFill>
          <a:ln/>
        </p:spPr>
      </p:sp>
      <p:sp>
        <p:nvSpPr>
          <p:cNvPr id="57" name="Text 51"/>
          <p:cNvSpPr/>
          <p:nvPr/>
        </p:nvSpPr>
        <p:spPr>
          <a:xfrm>
            <a:off x="822960" y="5257800"/>
            <a:ext cx="10543032" cy="868680"/>
          </a:xfrm>
          <a:prstGeom prst="rect">
            <a:avLst/>
          </a:prstGeom>
          <a:noFill/>
          <a:ln/>
        </p:spPr>
        <p:txBody>
          <a:bodyPr wrap="square" rtlCol="0" anchor="ctr"/>
          <a:lstStyle/>
          <a:p>
            <a:pPr marL="0" indent="0" algn="ctr">
              <a:buNone/>
            </a:pPr>
            <a:r>
              <a:rPr lang="en-US" sz="2800" b="1" i="1" dirty="0">
                <a:solidFill>
                  <a:srgbClr val="FFFFFF"/>
                </a:solidFill>
                <a:latin typeface="Cambria" pitchFamily="34" charset="0"/>
                <a:ea typeface="Cambria" pitchFamily="34" charset="-122"/>
                <a:cs typeface="Cambria" pitchFamily="34" charset="-120"/>
              </a:rPr>
              <a:t>Turning Data into Decisions.</a:t>
            </a:r>
            <a:endParaRPr lang="en-US" sz="2800" dirty="0"/>
          </a:p>
        </p:txBody>
      </p:sp>
      <p:sp>
        <p:nvSpPr>
          <p:cNvPr id="58" name="Text 5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20</a:t>
            </a:r>
            <a:endParaRPr lang="en-US" sz="1000" dirty="0"/>
          </a:p>
        </p:txBody>
      </p:sp>
      <p:sp>
        <p:nvSpPr>
          <p:cNvPr id="59" name="Text 53"/>
          <p:cNvSpPr/>
          <p:nvPr/>
        </p:nvSpPr>
        <p:spPr>
          <a:xfrm>
            <a:off x="8899855" y="6400800"/>
            <a:ext cx="2560320" cy="274320"/>
          </a:xfrm>
          <a:prstGeom prst="rect">
            <a:avLst/>
          </a:prstGeom>
          <a:noFill/>
          <a:ln/>
        </p:spPr>
        <p:txBody>
          <a:bodyPr wrap="square" rtlCol="0" anchor="ctr"/>
          <a:lstStyle/>
          <a:p>
            <a:pPr marL="0" indent="0" algn="r">
              <a:buNone/>
            </a:pPr>
            <a:r>
              <a:rPr lang="en-US" sz="900" b="1" kern="0" spc="150" dirty="0">
                <a:solidFill>
                  <a:srgbClr val="9AAABE"/>
                </a:solidFill>
                <a:latin typeface="Calibri" pitchFamily="34" charset="0"/>
                <a:ea typeface="Calibri" pitchFamily="34" charset="-122"/>
                <a:cs typeface="Calibri" pitchFamily="34" charset="-120"/>
              </a:rPr>
              <a:t>SKILLS</a:t>
            </a:r>
            <a:endParaRPr lang="en-US" sz="900" dirty="0"/>
          </a:p>
        </p:txBody>
      </p:sp>
    </p:spTree>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164</TotalTime>
  <Words>1519</Words>
  <Application>Microsoft Office PowerPoint</Application>
  <PresentationFormat>Widescreen</PresentationFormat>
  <Paragraphs>390</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Calibri</vt:lpstr>
      <vt:lpstr>Cambria</vt:lpstr>
      <vt:lpstr>Century Gothic</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cp:lastModifiedBy>
  <cp:revision>30</cp:revision>
  <dcterms:created xsi:type="dcterms:W3CDTF">2026-08-11T09:28:02Z</dcterms:created>
  <dcterms:modified xsi:type="dcterms:W3CDTF">2026-08-19T07:43:23Z</dcterms:modified>
</cp:coreProperties>
</file>